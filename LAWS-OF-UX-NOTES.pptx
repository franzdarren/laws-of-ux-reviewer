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media/image1.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8.tmp" ContentType="image/png"/>
  <Override PartName="/ppt/media/image3.svg" ContentType="image/svg+xml"/>
  <Override PartName="/ppt/media/image33.tmp" ContentType="image/png"/>
  <Override PartName="/ppt/media/image36.tmp" ContentType="image/png"/>
  <Override PartName="/ppt/media/image4.svg" ContentType="image/svg+xml"/>
  <Override PartName="/ppt/media/image48.tmp" ContentType="image/png"/>
  <Override PartName="/ppt/media/image50.tmp" ContentType="image/png"/>
  <Override PartName="/ppt/media/image53.tmp" ContentType="image/png"/>
  <Override PartName="/ppt/media/image56.tmp" ContentType="image/png"/>
  <Override PartName="/ppt/media/image57.tmp" ContentType="image/png"/>
  <Override PartName="/ppt/media/image59.tmp" ContentType="image/png"/>
  <Override PartName="/ppt/media/image6.tmp" ContentType="image/png"/>
  <Override PartName="/ppt/media/image61.tmp" ContentType="image/png"/>
  <Override PartName="/ppt/media/image65.tmp" ContentType="image/png"/>
  <Override PartName="/ppt/media/image68.tmp" ContentType="image/png"/>
  <Override PartName="/ppt/media/image69.tmp" ContentType="image/png"/>
  <Override PartName="/ppt/media/image72.tmp" ContentType="image/png"/>
  <Override PartName="/ppt/media/image74.tmp" ContentType="image/png"/>
  <Override PartName="/ppt/media/image76.tmp" ContentType="image/png"/>
  <Override PartName="/ppt/media/image78.tmp" ContentType="image/png"/>
  <Override PartName="/ppt/media/image80.tmp" ContentType="image/png"/>
  <Override PartName="/ppt/media/image81.tmp" ContentType="image/png"/>
  <Override PartName="/ppt/media/image82.tmp" ContentType="image/png"/>
  <Override PartName="/ppt/media/image83.tmp" ContentType="image/png"/>
  <Override PartName="/ppt/media/image84.tmp" ContentType="image/png"/>
  <Override PartName="/ppt/media/image85.tmp" ContentType="image/png"/>
  <Override PartName="/ppt/media/image86.tmp" ContentType="image/png"/>
  <Override PartName="/ppt/media/image87.tmp" ContentType="image/png"/>
  <Override PartName="/ppt/media/image89.tmp" ContentType="image/png"/>
  <Override PartName="/ppt/media/image9.tmp" ContentType="image/png"/>
  <Override PartName="/ppt/media/image91.tmp" ContentType="image/png"/>
  <Override PartName="/ppt/media/image92.tmp" ContentType="image/pn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03"/>
  </p:notesMasterIdLst>
  <p:sldIdLst>
    <p:sldId id="328" r:id="rId2"/>
    <p:sldId id="329" r:id="rId3"/>
    <p:sldId id="330" r:id="rId4"/>
    <p:sldId id="331" r:id="rId5"/>
    <p:sldId id="332" r:id="rId6"/>
    <p:sldId id="261" r:id="rId7"/>
    <p:sldId id="262" r:id="rId8"/>
    <p:sldId id="263" r:id="rId9"/>
    <p:sldId id="264" r:id="rId10"/>
    <p:sldId id="265" r:id="rId11"/>
    <p:sldId id="346" r:id="rId12"/>
    <p:sldId id="266" r:id="rId13"/>
    <p:sldId id="267" r:id="rId14"/>
    <p:sldId id="268" r:id="rId15"/>
    <p:sldId id="256" r:id="rId16"/>
    <p:sldId id="270" r:id="rId17"/>
    <p:sldId id="324" r:id="rId18"/>
    <p:sldId id="334" r:id="rId19"/>
    <p:sldId id="335" r:id="rId20"/>
    <p:sldId id="336" r:id="rId21"/>
    <p:sldId id="275" r:id="rId22"/>
    <p:sldId id="257" r:id="rId23"/>
    <p:sldId id="258" r:id="rId24"/>
    <p:sldId id="326" r:id="rId25"/>
    <p:sldId id="327" r:id="rId26"/>
    <p:sldId id="259" r:id="rId27"/>
    <p:sldId id="310" r:id="rId28"/>
    <p:sldId id="311" r:id="rId29"/>
    <p:sldId id="312" r:id="rId30"/>
    <p:sldId id="260" r:id="rId31"/>
    <p:sldId id="340" r:id="rId32"/>
    <p:sldId id="341" r:id="rId33"/>
    <p:sldId id="306" r:id="rId34"/>
    <p:sldId id="342" r:id="rId35"/>
    <p:sldId id="345" r:id="rId36"/>
    <p:sldId id="343" r:id="rId37"/>
    <p:sldId id="276" r:id="rId38"/>
    <p:sldId id="369" r:id="rId39"/>
    <p:sldId id="368" r:id="rId40"/>
    <p:sldId id="349" r:id="rId41"/>
    <p:sldId id="348" r:id="rId42"/>
    <p:sldId id="277" r:id="rId43"/>
    <p:sldId id="351" r:id="rId44"/>
    <p:sldId id="350" r:id="rId45"/>
    <p:sldId id="278" r:id="rId46"/>
    <p:sldId id="352" r:id="rId47"/>
    <p:sldId id="353" r:id="rId48"/>
    <p:sldId id="355" r:id="rId49"/>
    <p:sldId id="356" r:id="rId50"/>
    <p:sldId id="372" r:id="rId108"/>
    <p:sldId id="308" r:id="rId51"/>
    <p:sldId id="357" r:id="rId52"/>
    <p:sldId id="338" r:id="rId53"/>
    <p:sldId id="373" r:id="rId109"/>
    <p:sldId id="339" r:id="rId55"/>
    <p:sldId id="280" r:id="rId56"/>
    <p:sldId id="358" r:id="rId57"/>
    <p:sldId id="281" r:id="rId58"/>
    <p:sldId id="359" r:id="rId59"/>
    <p:sldId id="374" r:id="rId110"/>
    <p:sldId id="282" r:id="rId60"/>
    <p:sldId id="347" r:id="rId61"/>
    <p:sldId id="269" r:id="rId62"/>
    <p:sldId id="361" r:id="rId63"/>
    <p:sldId id="375" r:id="rId111"/>
    <p:sldId id="283" r:id="rId64"/>
    <p:sldId id="376" r:id="rId112"/>
    <p:sldId id="362" r:id="rId66"/>
    <p:sldId id="284" r:id="rId67"/>
    <p:sldId id="377" r:id="rId113"/>
    <p:sldId id="285" r:id="rId68"/>
    <p:sldId id="378" r:id="rId114"/>
    <p:sldId id="286" r:id="rId69"/>
    <p:sldId id="365" r:id="rId70"/>
    <p:sldId id="364" r:id="rId71"/>
    <p:sldId id="363" r:id="rId72"/>
    <p:sldId id="287" r:id="rId73"/>
    <p:sldId id="366" r:id="rId74"/>
    <p:sldId id="367" r:id="rId75"/>
    <p:sldId id="379" r:id="rId115"/>
    <p:sldId id="288" r:id="rId76"/>
    <p:sldId id="289" r:id="rId77"/>
    <p:sldId id="290" r:id="rId78"/>
    <p:sldId id="380" r:id="rId116"/>
    <p:sldId id="291" r:id="rId79"/>
    <p:sldId id="292" r:id="rId80"/>
    <p:sldId id="293" r:id="rId81"/>
    <p:sldId id="294" r:id="rId82"/>
    <p:sldId id="295" r:id="rId83"/>
    <p:sldId id="296" r:id="rId84"/>
    <p:sldId id="298" r:id="rId85"/>
    <p:sldId id="299" r:id="rId86"/>
    <p:sldId id="300" r:id="rId87"/>
    <p:sldId id="381" r:id="rId117"/>
    <p:sldId id="301" r:id="rId88"/>
    <p:sldId id="382" r:id="rId118"/>
    <p:sldId id="302" r:id="rId89"/>
    <p:sldId id="303" r:id="rId90"/>
    <p:sldId id="316" r:id="rId91"/>
    <p:sldId id="318" r:id="rId92"/>
    <p:sldId id="317" r:id="rId93"/>
    <p:sldId id="319" r:id="rId94"/>
    <p:sldId id="320" r:id="rId95"/>
    <p:sldId id="321" r:id="rId96"/>
    <p:sldId id="322" r:id="rId97"/>
    <p:sldId id="323" r:id="rId98"/>
    <p:sldId id="271" r:id="rId99"/>
    <p:sldId id="272" r:id="rId100"/>
    <p:sldId id="273" r:id="rId101"/>
    <p:sldId id="274" r:id="rId10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E6F5"/>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8" autoAdjust="0"/>
    <p:restoredTop sz="91503" autoAdjust="0"/>
  </p:normalViewPr>
  <p:slideViewPr>
    <p:cSldViewPr snapToGrid="0" snapToObjects="1">
      <p:cViewPr varScale="1">
        <p:scale>
          <a:sx n="79" d="100"/>
          <a:sy n="79" d="100"/>
        </p:scale>
        <p:origin x="634"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53.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6.xml"/><Relationship Id="rId66" Type="http://schemas.openxmlformats.org/officeDocument/2006/relationships/slide" Target="slides/slide68.xml"/><Relationship Id="rId67" Type="http://schemas.openxmlformats.org/officeDocument/2006/relationships/slide" Target="slides/slide69.xml"/><Relationship Id="rId68" Type="http://schemas.openxmlformats.org/officeDocument/2006/relationships/slide" Target="slides/slide71.xml"/><Relationship Id="rId69" Type="http://schemas.openxmlformats.org/officeDocument/2006/relationships/slide" Target="slides/slide73.xml"/><Relationship Id="rId70" Type="http://schemas.openxmlformats.org/officeDocument/2006/relationships/slide" Target="slides/slide74.xml"/><Relationship Id="rId71" Type="http://schemas.openxmlformats.org/officeDocument/2006/relationships/slide" Target="slides/slide75.xml"/><Relationship Id="rId72" Type="http://schemas.openxmlformats.org/officeDocument/2006/relationships/slide" Target="slides/slide76.xml"/><Relationship Id="rId73" Type="http://schemas.openxmlformats.org/officeDocument/2006/relationships/slide" Target="slides/slide77.xml"/><Relationship Id="rId74" Type="http://schemas.openxmlformats.org/officeDocument/2006/relationships/slide" Target="slides/slide78.xml"/><Relationship Id="rId75" Type="http://schemas.openxmlformats.org/officeDocument/2006/relationships/slide" Target="slides/slide79.xml"/><Relationship Id="rId76" Type="http://schemas.openxmlformats.org/officeDocument/2006/relationships/slide" Target="slides/slide81.xml"/><Relationship Id="rId77" Type="http://schemas.openxmlformats.org/officeDocument/2006/relationships/slide" Target="slides/slide82.xml"/><Relationship Id="rId78" Type="http://schemas.openxmlformats.org/officeDocument/2006/relationships/slide" Target="slides/slide83.xml"/><Relationship Id="rId79" Type="http://schemas.openxmlformats.org/officeDocument/2006/relationships/slide" Target="slides/slide85.xml"/><Relationship Id="rId80" Type="http://schemas.openxmlformats.org/officeDocument/2006/relationships/slide" Target="slides/slide86.xml"/><Relationship Id="rId81" Type="http://schemas.openxmlformats.org/officeDocument/2006/relationships/slide" Target="slides/slide87.xml"/><Relationship Id="rId82" Type="http://schemas.openxmlformats.org/officeDocument/2006/relationships/slide" Target="slides/slide88.xml"/><Relationship Id="rId83" Type="http://schemas.openxmlformats.org/officeDocument/2006/relationships/slide" Target="slides/slide89.xml"/><Relationship Id="rId84" Type="http://schemas.openxmlformats.org/officeDocument/2006/relationships/slide" Target="slides/slide90.xml"/><Relationship Id="rId85" Type="http://schemas.openxmlformats.org/officeDocument/2006/relationships/slide" Target="slides/slide91.xml"/><Relationship Id="rId86" Type="http://schemas.openxmlformats.org/officeDocument/2006/relationships/slide" Target="slides/slide92.xml"/><Relationship Id="rId87" Type="http://schemas.openxmlformats.org/officeDocument/2006/relationships/slide" Target="slides/slide93.xml"/><Relationship Id="rId88" Type="http://schemas.openxmlformats.org/officeDocument/2006/relationships/slide" Target="slides/slide95.xml"/><Relationship Id="rId89" Type="http://schemas.openxmlformats.org/officeDocument/2006/relationships/slide" Target="slides/slide97.xml"/><Relationship Id="rId90" Type="http://schemas.openxmlformats.org/officeDocument/2006/relationships/slide" Target="slides/slide98.xml"/><Relationship Id="rId91" Type="http://schemas.openxmlformats.org/officeDocument/2006/relationships/slide" Target="slides/slide99.xml"/><Relationship Id="rId92" Type="http://schemas.openxmlformats.org/officeDocument/2006/relationships/slide" Target="slides/slide100.xml"/><Relationship Id="rId93" Type="http://schemas.openxmlformats.org/officeDocument/2006/relationships/slide" Target="slides/slide101.xml"/><Relationship Id="rId94" Type="http://schemas.openxmlformats.org/officeDocument/2006/relationships/slide" Target="slides/slide102.xml"/><Relationship Id="rId95" Type="http://schemas.openxmlformats.org/officeDocument/2006/relationships/slide" Target="slides/slide103.xml"/><Relationship Id="rId96" Type="http://schemas.openxmlformats.org/officeDocument/2006/relationships/slide" Target="slides/slide104.xml"/><Relationship Id="rId97" Type="http://schemas.openxmlformats.org/officeDocument/2006/relationships/slide" Target="slides/slide105.xml"/><Relationship Id="rId98" Type="http://schemas.openxmlformats.org/officeDocument/2006/relationships/slide" Target="slides/slide106.xml"/><Relationship Id="rId99" Type="http://schemas.openxmlformats.org/officeDocument/2006/relationships/slide" Target="slides/slide107.xml"/><Relationship Id="rId100" Type="http://schemas.openxmlformats.org/officeDocument/2006/relationships/slide" Target="slides/slide108.xml"/><Relationship Id="rId101" Type="http://schemas.openxmlformats.org/officeDocument/2006/relationships/slide" Target="slides/slide109.xml"/><Relationship Id="rId102" Type="http://schemas.openxmlformats.org/officeDocument/2006/relationships/slide" Target="slides/slide110.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 Id="rId108" Type="http://schemas.openxmlformats.org/officeDocument/2006/relationships/slide" Target="slides/slide50.xml"/><Relationship Id="rId109" Type="http://schemas.openxmlformats.org/officeDocument/2006/relationships/slide" Target="slides/slide54.xml"/><Relationship Id="rId110" Type="http://schemas.openxmlformats.org/officeDocument/2006/relationships/slide" Target="slides/slide60.xml"/><Relationship Id="rId111" Type="http://schemas.openxmlformats.org/officeDocument/2006/relationships/slide" Target="slides/slide65.xml"/><Relationship Id="rId112" Type="http://schemas.openxmlformats.org/officeDocument/2006/relationships/slide" Target="slides/slide67.xml"/><Relationship Id="rId113" Type="http://schemas.openxmlformats.org/officeDocument/2006/relationships/slide" Target="slides/slide70.xml"/><Relationship Id="rId114" Type="http://schemas.openxmlformats.org/officeDocument/2006/relationships/slide" Target="slides/slide72.xml"/><Relationship Id="rId115" Type="http://schemas.openxmlformats.org/officeDocument/2006/relationships/slide" Target="slides/slide80.xml"/><Relationship Id="rId116" Type="http://schemas.openxmlformats.org/officeDocument/2006/relationships/slide" Target="slides/slide84.xml"/><Relationship Id="rId117" Type="http://schemas.openxmlformats.org/officeDocument/2006/relationships/slide" Target="slides/slide94.xml"/><Relationship Id="rId118" Type="http://schemas.openxmlformats.org/officeDocument/2006/relationships/slide" Target="slides/slide96.xml"/></Relationships>
</file>

<file path=ppt/diagrams/_rels/data1.xml.rels><?xml version='1.0' encoding='UTF-8' standalone='yes'?>
<Relationships xmlns="http://schemas.openxmlformats.org/package/2006/relationships"><Relationship Id="rId1" Type="http://schemas.openxmlformats.org/officeDocument/2006/relationships/image" Target="../media/image1.svg"/><Relationship Id="rId2" Type="http://schemas.openxmlformats.org/officeDocument/2006/relationships/image" Target="../media/image2.svg"/><Relationship Id="rId3" Type="http://schemas.openxmlformats.org/officeDocument/2006/relationships/image" Target="../media/image3.sv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1" Type="http://schemas.openxmlformats.org/officeDocument/2006/relationships/image" Target="../media/image1.svg"/><Relationship Id="rId2" Type="http://schemas.openxmlformats.org/officeDocument/2006/relationships/image" Target="../media/image18.svg"/><Relationship Id="rId3" Type="http://schemas.openxmlformats.org/officeDocument/2006/relationships/image" Target="../media/image4.svg"/></Relationships>
</file>

<file path=ppt/diagrams/_rels/data3.xml.rels><?xml version='1.0' encoding='UTF-8' standalone='yes'?>
<Relationships xmlns="http://schemas.openxmlformats.org/package/2006/relationships"><Relationship Id="rId1" Type="http://schemas.openxmlformats.org/officeDocument/2006/relationships/image" Target="../media/image19.svg"/><Relationship Id="rId2"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1" Type="http://schemas.openxmlformats.org/officeDocument/2006/relationships/image" Target="../media/image1.svg"/><Relationship Id="rId2" Type="http://schemas.openxmlformats.org/officeDocument/2006/relationships/image" Target="../media/image2.svg"/><Relationship Id="rId3" Type="http://schemas.openxmlformats.org/officeDocument/2006/relationships/image" Target="../media/image3.sv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1" Type="http://schemas.openxmlformats.org/officeDocument/2006/relationships/image" Target="../media/image1.svg"/><Relationship Id="rId2" Type="http://schemas.openxmlformats.org/officeDocument/2006/relationships/image" Target="../media/image18.svg"/><Relationship Id="rId3" Type="http://schemas.openxmlformats.org/officeDocument/2006/relationships/image" Target="../media/image4.svg"/></Relationships>
</file>

<file path=ppt/diagrams/_rels/drawing3.xml.rels><?xml version='1.0' encoding='UTF-8' standalone='yes'?>
<Relationships xmlns="http://schemas.openxmlformats.org/package/2006/relationships"><Relationship Id="rId1" Type="http://schemas.openxmlformats.org/officeDocument/2006/relationships/image" Target="../media/image19.svg"/><Relationship Id="rId2"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0D07D0-62FB-4147-98E6-158752E0E7AD}" type="doc">
      <dgm:prSet loTypeId="urn:microsoft.com/office/officeart/2018/2/layout/IconVerticalSolidList" loCatId="icon" qsTypeId="urn:microsoft.com/office/officeart/2005/8/quickstyle/simple1" qsCatId="simple" csTypeId="urn:microsoft.com/office/officeart/2005/8/colors/accent0_3" csCatId="mainScheme" phldr="1"/>
      <dgm:spPr/>
      <dgm:t>
        <a:bodyPr/>
        <a:lstStyle/>
        <a:p>
          <a:endParaRPr lang="en-US"/>
        </a:p>
      </dgm:t>
    </dgm:pt>
    <dgm:pt modelId="{FBA0F2C9-ED63-4837-A81D-1C63BE4D0EDF}">
      <dgm:prSet custT="1"/>
      <dgm:spPr/>
      <dgm:t>
        <a:bodyPr/>
        <a:lstStyle/>
        <a:p>
          <a:pPr>
            <a:lnSpc>
              <a:spcPct val="100000"/>
            </a:lnSpc>
          </a:pPr>
          <a:r>
            <a:rPr lang="en-US" sz="2200" b="0" i="0" kern="1200" baseline="0">
              <a:latin typeface="Century Gothic"/>
              <a:ea typeface="+mn-ea"/>
              <a:cs typeface="+mn-cs"/>
            </a:rPr>
            <a:t>Explain what human factors means in computing</a:t>
          </a:r>
          <a:endParaRPr lang="en-US" sz="2200" b="0" i="0" kern="1200" baseline="0" dirty="0">
            <a:latin typeface="Century Gothic"/>
            <a:ea typeface="+mn-ea"/>
            <a:cs typeface="+mn-cs"/>
          </a:endParaRPr>
        </a:p>
      </dgm:t>
    </dgm:pt>
    <dgm:pt modelId="{8AEAAD1D-6F13-465F-8B2D-37E08458F16D}" type="parTrans" cxnId="{A85CF036-0397-4241-BF1C-855701EF2CFB}">
      <dgm:prSet/>
      <dgm:spPr/>
      <dgm:t>
        <a:bodyPr/>
        <a:lstStyle/>
        <a:p>
          <a:endParaRPr lang="en-US"/>
        </a:p>
      </dgm:t>
    </dgm:pt>
    <dgm:pt modelId="{564524FF-525B-468A-81D4-3B60BB6FE072}" type="sibTrans" cxnId="{A85CF036-0397-4241-BF1C-855701EF2CFB}">
      <dgm:prSet/>
      <dgm:spPr/>
      <dgm:t>
        <a:bodyPr/>
        <a:lstStyle/>
        <a:p>
          <a:endParaRPr lang="en-US"/>
        </a:p>
      </dgm:t>
    </dgm:pt>
    <dgm:pt modelId="{6312FDC5-27B8-4C38-9CF7-FA540A365039}">
      <dgm:prSet custT="1"/>
      <dgm:spPr/>
      <dgm:t>
        <a:bodyPr/>
        <a:lstStyle/>
        <a:p>
          <a:pPr>
            <a:lnSpc>
              <a:spcPct val="100000"/>
            </a:lnSpc>
          </a:pPr>
          <a:r>
            <a:rPr lang="en-US" sz="2200" b="0" i="0" kern="1200" baseline="0" dirty="0">
              <a:latin typeface="Century Gothic"/>
              <a:ea typeface="+mn-ea"/>
              <a:cs typeface="+mn-cs"/>
            </a:rPr>
            <a:t>Describe how cognitive processes affect interaction with systems</a:t>
          </a:r>
        </a:p>
      </dgm:t>
    </dgm:pt>
    <dgm:pt modelId="{2919CF63-4B8A-49C4-9657-2A58A3E6D059}" type="parTrans" cxnId="{9C911211-FE02-4CA4-972D-64ED5C907B9E}">
      <dgm:prSet/>
      <dgm:spPr/>
      <dgm:t>
        <a:bodyPr/>
        <a:lstStyle/>
        <a:p>
          <a:endParaRPr lang="en-US"/>
        </a:p>
      </dgm:t>
    </dgm:pt>
    <dgm:pt modelId="{D286B39C-8BF3-4784-AF2E-2D8ECF199B8C}" type="sibTrans" cxnId="{9C911211-FE02-4CA4-972D-64ED5C907B9E}">
      <dgm:prSet/>
      <dgm:spPr/>
      <dgm:t>
        <a:bodyPr/>
        <a:lstStyle/>
        <a:p>
          <a:endParaRPr lang="en-US"/>
        </a:p>
      </dgm:t>
    </dgm:pt>
    <dgm:pt modelId="{A0BD4B5C-B80A-41ED-9251-1663D0AA2A83}">
      <dgm:prSet/>
      <dgm:spPr/>
      <dgm:t>
        <a:bodyPr/>
        <a:lstStyle/>
        <a:p>
          <a:pPr>
            <a:lnSpc>
              <a:spcPct val="100000"/>
            </a:lnSpc>
          </a:pPr>
          <a:r>
            <a:rPr lang="en-US" b="0" i="0" baseline="0" dirty="0">
              <a:latin typeface="Century Gothic" panose="020B0502020202020204" pitchFamily="34" charset="0"/>
            </a:rPr>
            <a:t>Identify </a:t>
          </a:r>
          <a:r>
            <a:rPr lang="en-US" b="1" i="0" baseline="0" dirty="0">
              <a:latin typeface="Century Gothic" panose="020B0502020202020204" pitchFamily="34" charset="0"/>
            </a:rPr>
            <a:t>design problems caused by cognitive overload</a:t>
          </a:r>
          <a:endParaRPr lang="en-US" dirty="0">
            <a:latin typeface="Century Gothic" panose="020B0502020202020204" pitchFamily="34" charset="0"/>
          </a:endParaRPr>
        </a:p>
      </dgm:t>
    </dgm:pt>
    <dgm:pt modelId="{4917004A-1111-452F-825D-A7C747D3172E}" type="parTrans" cxnId="{46F757FC-E2F6-4D60-AC6B-41CC00E73A32}">
      <dgm:prSet/>
      <dgm:spPr/>
      <dgm:t>
        <a:bodyPr/>
        <a:lstStyle/>
        <a:p>
          <a:endParaRPr lang="en-US"/>
        </a:p>
      </dgm:t>
    </dgm:pt>
    <dgm:pt modelId="{DEF5BBE6-F268-4BCE-AEEF-BF1C07B15E2A}" type="sibTrans" cxnId="{46F757FC-E2F6-4D60-AC6B-41CC00E73A32}">
      <dgm:prSet/>
      <dgm:spPr/>
      <dgm:t>
        <a:bodyPr/>
        <a:lstStyle/>
        <a:p>
          <a:endParaRPr lang="en-US"/>
        </a:p>
      </dgm:t>
    </dgm:pt>
    <dgm:pt modelId="{D458A974-0B98-4131-B8DE-D6949EDDE3DB}">
      <dgm:prSet custT="1"/>
      <dgm:spPr/>
      <dgm:t>
        <a:bodyPr/>
        <a:lstStyle/>
        <a:p>
          <a:pPr>
            <a:lnSpc>
              <a:spcPct val="100000"/>
            </a:lnSpc>
          </a:pPr>
          <a:r>
            <a:rPr lang="en-US" sz="2200" b="0" i="0" kern="1200" baseline="0" dirty="0">
              <a:latin typeface="Century Gothic"/>
              <a:ea typeface="+mn-ea"/>
              <a:cs typeface="+mn-cs"/>
            </a:rPr>
            <a:t>Apply psychology-based principles to improve interface design</a:t>
          </a:r>
        </a:p>
      </dgm:t>
    </dgm:pt>
    <dgm:pt modelId="{BA42360A-0CAE-422A-8E9F-E058171EA86D}" type="parTrans" cxnId="{3EC056C4-E8F0-43F0-8AAB-6FC9E40D8202}">
      <dgm:prSet/>
      <dgm:spPr/>
      <dgm:t>
        <a:bodyPr/>
        <a:lstStyle/>
        <a:p>
          <a:endParaRPr lang="en-US"/>
        </a:p>
      </dgm:t>
    </dgm:pt>
    <dgm:pt modelId="{E931F05E-0CB2-400A-82DB-5108F19337D1}" type="sibTrans" cxnId="{3EC056C4-E8F0-43F0-8AAB-6FC9E40D8202}">
      <dgm:prSet/>
      <dgm:spPr/>
      <dgm:t>
        <a:bodyPr/>
        <a:lstStyle/>
        <a:p>
          <a:endParaRPr lang="en-US"/>
        </a:p>
      </dgm:t>
    </dgm:pt>
    <dgm:pt modelId="{A21DF003-53A5-4AE9-9CD8-0A2E90D006C6}" type="pres">
      <dgm:prSet presAssocID="{AA0D07D0-62FB-4147-98E6-158752E0E7AD}" presName="root" presStyleCnt="0">
        <dgm:presLayoutVars>
          <dgm:dir/>
          <dgm:resizeHandles val="exact"/>
        </dgm:presLayoutVars>
      </dgm:prSet>
      <dgm:spPr/>
    </dgm:pt>
    <dgm:pt modelId="{C026D9BA-0B75-4DCE-A7C3-E02F40F1D3CC}" type="pres">
      <dgm:prSet presAssocID="{FBA0F2C9-ED63-4837-A81D-1C63BE4D0EDF}" presName="compNode" presStyleCnt="0"/>
      <dgm:spPr/>
    </dgm:pt>
    <dgm:pt modelId="{E8977C3B-7A01-428F-A11F-DD8256CB3938}" type="pres">
      <dgm:prSet presAssocID="{FBA0F2C9-ED63-4837-A81D-1C63BE4D0EDF}" presName="bgRect" presStyleLbl="bgShp" presStyleIdx="0" presStyleCnt="4"/>
      <dgm:spPr>
        <a:solidFill>
          <a:schemeClr val="bg1">
            <a:lumMod val="85000"/>
          </a:schemeClr>
        </a:solidFill>
      </dgm:spPr>
    </dgm:pt>
    <dgm:pt modelId="{4DA79F86-E52B-4FEC-8C96-67EF97A1D2E2}" type="pres">
      <dgm:prSet presAssocID="{FBA0F2C9-ED63-4837-A81D-1C63BE4D0EDF}"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Lightbulb"/>
        </a:ext>
      </dgm:extLst>
    </dgm:pt>
    <dgm:pt modelId="{E6117677-7F7D-4C3D-80B9-6D9B9E4F117D}" type="pres">
      <dgm:prSet presAssocID="{FBA0F2C9-ED63-4837-A81D-1C63BE4D0EDF}" presName="spaceRect" presStyleCnt="0"/>
      <dgm:spPr/>
    </dgm:pt>
    <dgm:pt modelId="{D2F8833B-3DC7-49F3-8B84-16B9287638C0}" type="pres">
      <dgm:prSet presAssocID="{FBA0F2C9-ED63-4837-A81D-1C63BE4D0EDF}" presName="parTx" presStyleLbl="revTx" presStyleIdx="0" presStyleCnt="4">
        <dgm:presLayoutVars>
          <dgm:chMax val="0"/>
          <dgm:chPref val="0"/>
        </dgm:presLayoutVars>
      </dgm:prSet>
      <dgm:spPr/>
    </dgm:pt>
    <dgm:pt modelId="{FB1FA8DE-8C9D-40C6-820A-5631B5EB78B6}" type="pres">
      <dgm:prSet presAssocID="{564524FF-525B-468A-81D4-3B60BB6FE072}" presName="sibTrans" presStyleCnt="0"/>
      <dgm:spPr/>
    </dgm:pt>
    <dgm:pt modelId="{1915D65A-179C-484C-801D-2220D001CD7F}" type="pres">
      <dgm:prSet presAssocID="{6312FDC5-27B8-4C38-9CF7-FA540A365039}" presName="compNode" presStyleCnt="0"/>
      <dgm:spPr/>
    </dgm:pt>
    <dgm:pt modelId="{B64BB17C-EF57-4783-A561-2FDBDAE05E00}" type="pres">
      <dgm:prSet presAssocID="{6312FDC5-27B8-4C38-9CF7-FA540A365039}" presName="bgRect" presStyleLbl="bgShp" presStyleIdx="1" presStyleCnt="4"/>
      <dgm:spPr/>
    </dgm:pt>
    <dgm:pt modelId="{634C5EA8-EC03-4EF2-976B-EC4E15B2D20D}" type="pres">
      <dgm:prSet presAssocID="{6312FDC5-27B8-4C38-9CF7-FA540A365039}"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munications"/>
        </a:ext>
      </dgm:extLst>
    </dgm:pt>
    <dgm:pt modelId="{F77E6B6D-14D9-418B-85BC-BD491ABA2382}" type="pres">
      <dgm:prSet presAssocID="{6312FDC5-27B8-4C38-9CF7-FA540A365039}" presName="spaceRect" presStyleCnt="0"/>
      <dgm:spPr/>
    </dgm:pt>
    <dgm:pt modelId="{6629A5DF-EDC1-41EA-928E-7E225AE3C912}" type="pres">
      <dgm:prSet presAssocID="{6312FDC5-27B8-4C38-9CF7-FA540A365039}" presName="parTx" presStyleLbl="revTx" presStyleIdx="1" presStyleCnt="4">
        <dgm:presLayoutVars>
          <dgm:chMax val="0"/>
          <dgm:chPref val="0"/>
        </dgm:presLayoutVars>
      </dgm:prSet>
      <dgm:spPr/>
    </dgm:pt>
    <dgm:pt modelId="{634CF7F6-F123-4515-AC47-A674D1E73E0A}" type="pres">
      <dgm:prSet presAssocID="{D286B39C-8BF3-4784-AF2E-2D8ECF199B8C}" presName="sibTrans" presStyleCnt="0"/>
      <dgm:spPr/>
    </dgm:pt>
    <dgm:pt modelId="{1B7A88D7-4CFF-4C57-B1A2-05566A3DCA9E}" type="pres">
      <dgm:prSet presAssocID="{A0BD4B5C-B80A-41ED-9251-1663D0AA2A83}" presName="compNode" presStyleCnt="0"/>
      <dgm:spPr/>
    </dgm:pt>
    <dgm:pt modelId="{9D1396FE-B442-4A28-B7E9-67942F2A8DAA}" type="pres">
      <dgm:prSet presAssocID="{A0BD4B5C-B80A-41ED-9251-1663D0AA2A83}" presName="bgRect" presStyleLbl="bgShp" presStyleIdx="2" presStyleCnt="4"/>
      <dgm:spPr/>
    </dgm:pt>
    <dgm:pt modelId="{D82D6056-47B6-4A6F-B0BB-F7C725B6DDDF}" type="pres">
      <dgm:prSet presAssocID="{A0BD4B5C-B80A-41ED-9251-1663D0AA2A8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ealth"/>
        </a:ext>
      </dgm:extLst>
    </dgm:pt>
    <dgm:pt modelId="{060EABE9-F415-4E85-8781-00A036FDCDD4}" type="pres">
      <dgm:prSet presAssocID="{A0BD4B5C-B80A-41ED-9251-1663D0AA2A83}" presName="spaceRect" presStyleCnt="0"/>
      <dgm:spPr/>
    </dgm:pt>
    <dgm:pt modelId="{DE96830C-1C3E-4EEE-A420-BB1152BF175A}" type="pres">
      <dgm:prSet presAssocID="{A0BD4B5C-B80A-41ED-9251-1663D0AA2A83}" presName="parTx" presStyleLbl="revTx" presStyleIdx="2" presStyleCnt="4">
        <dgm:presLayoutVars>
          <dgm:chMax val="0"/>
          <dgm:chPref val="0"/>
        </dgm:presLayoutVars>
      </dgm:prSet>
      <dgm:spPr/>
    </dgm:pt>
    <dgm:pt modelId="{3D1E31D2-9C6A-4811-ACB9-DF24DF27C5BC}" type="pres">
      <dgm:prSet presAssocID="{DEF5BBE6-F268-4BCE-AEEF-BF1C07B15E2A}" presName="sibTrans" presStyleCnt="0"/>
      <dgm:spPr/>
    </dgm:pt>
    <dgm:pt modelId="{D399CF0C-CB9C-47EC-9321-F1B10EC9E6BD}" type="pres">
      <dgm:prSet presAssocID="{D458A974-0B98-4131-B8DE-D6949EDDE3DB}" presName="compNode" presStyleCnt="0"/>
      <dgm:spPr/>
    </dgm:pt>
    <dgm:pt modelId="{331256AE-3AFD-48B6-9C47-4320C73BFE35}" type="pres">
      <dgm:prSet presAssocID="{D458A974-0B98-4131-B8DE-D6949EDDE3DB}" presName="bgRect" presStyleLbl="bgShp" presStyleIdx="3" presStyleCnt="4"/>
      <dgm:spPr/>
    </dgm:pt>
    <dgm:pt modelId="{3E5A4038-2456-4C2C-A4EF-EA363FCEAE85}" type="pres">
      <dgm:prSet presAssocID="{D458A974-0B98-4131-B8DE-D6949EDDE3D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esign"/>
        </a:ext>
      </dgm:extLst>
    </dgm:pt>
    <dgm:pt modelId="{44D0F9AD-41D9-4FD0-AF94-4E09764F242C}" type="pres">
      <dgm:prSet presAssocID="{D458A974-0B98-4131-B8DE-D6949EDDE3DB}" presName="spaceRect" presStyleCnt="0"/>
      <dgm:spPr/>
    </dgm:pt>
    <dgm:pt modelId="{BE5E4973-FC55-459E-82A1-17A5A62FB8FE}" type="pres">
      <dgm:prSet presAssocID="{D458A974-0B98-4131-B8DE-D6949EDDE3DB}" presName="parTx" presStyleLbl="revTx" presStyleIdx="3" presStyleCnt="4">
        <dgm:presLayoutVars>
          <dgm:chMax val="0"/>
          <dgm:chPref val="0"/>
        </dgm:presLayoutVars>
      </dgm:prSet>
      <dgm:spPr/>
    </dgm:pt>
  </dgm:ptLst>
  <dgm:cxnLst>
    <dgm:cxn modelId="{9C911211-FE02-4CA4-972D-64ED5C907B9E}" srcId="{AA0D07D0-62FB-4147-98E6-158752E0E7AD}" destId="{6312FDC5-27B8-4C38-9CF7-FA540A365039}" srcOrd="1" destOrd="0" parTransId="{2919CF63-4B8A-49C4-9657-2A58A3E6D059}" sibTransId="{D286B39C-8BF3-4784-AF2E-2D8ECF199B8C}"/>
    <dgm:cxn modelId="{FE7B9334-2D87-4920-A1CE-846DE4FF64A6}" type="presOf" srcId="{AA0D07D0-62FB-4147-98E6-158752E0E7AD}" destId="{A21DF003-53A5-4AE9-9CD8-0A2E90D006C6}" srcOrd="0" destOrd="0" presId="urn:microsoft.com/office/officeart/2018/2/layout/IconVerticalSolidList"/>
    <dgm:cxn modelId="{A85CF036-0397-4241-BF1C-855701EF2CFB}" srcId="{AA0D07D0-62FB-4147-98E6-158752E0E7AD}" destId="{FBA0F2C9-ED63-4837-A81D-1C63BE4D0EDF}" srcOrd="0" destOrd="0" parTransId="{8AEAAD1D-6F13-465F-8B2D-37E08458F16D}" sibTransId="{564524FF-525B-468A-81D4-3B60BB6FE072}"/>
    <dgm:cxn modelId="{E7D53D62-23EE-4E96-A559-618FC33FE707}" type="presOf" srcId="{6312FDC5-27B8-4C38-9CF7-FA540A365039}" destId="{6629A5DF-EDC1-41EA-928E-7E225AE3C912}" srcOrd="0" destOrd="0" presId="urn:microsoft.com/office/officeart/2018/2/layout/IconVerticalSolidList"/>
    <dgm:cxn modelId="{49D5269D-E7C6-4D04-8F7A-F4B0B0D866EF}" type="presOf" srcId="{D458A974-0B98-4131-B8DE-D6949EDDE3DB}" destId="{BE5E4973-FC55-459E-82A1-17A5A62FB8FE}" srcOrd="0" destOrd="0" presId="urn:microsoft.com/office/officeart/2018/2/layout/IconVerticalSolidList"/>
    <dgm:cxn modelId="{3EC056C4-E8F0-43F0-8AAB-6FC9E40D8202}" srcId="{AA0D07D0-62FB-4147-98E6-158752E0E7AD}" destId="{D458A974-0B98-4131-B8DE-D6949EDDE3DB}" srcOrd="3" destOrd="0" parTransId="{BA42360A-0CAE-422A-8E9F-E058171EA86D}" sibTransId="{E931F05E-0CB2-400A-82DB-5108F19337D1}"/>
    <dgm:cxn modelId="{233C28DD-E396-4E6A-BA4C-F49ED4C63C52}" type="presOf" srcId="{A0BD4B5C-B80A-41ED-9251-1663D0AA2A83}" destId="{DE96830C-1C3E-4EEE-A420-BB1152BF175A}" srcOrd="0" destOrd="0" presId="urn:microsoft.com/office/officeart/2018/2/layout/IconVerticalSolidList"/>
    <dgm:cxn modelId="{5CDB1CE9-A756-49E8-9C32-CC9ED7E7FB1B}" type="presOf" srcId="{FBA0F2C9-ED63-4837-A81D-1C63BE4D0EDF}" destId="{D2F8833B-3DC7-49F3-8B84-16B9287638C0}" srcOrd="0" destOrd="0" presId="urn:microsoft.com/office/officeart/2018/2/layout/IconVerticalSolidList"/>
    <dgm:cxn modelId="{46F757FC-E2F6-4D60-AC6B-41CC00E73A32}" srcId="{AA0D07D0-62FB-4147-98E6-158752E0E7AD}" destId="{A0BD4B5C-B80A-41ED-9251-1663D0AA2A83}" srcOrd="2" destOrd="0" parTransId="{4917004A-1111-452F-825D-A7C747D3172E}" sibTransId="{DEF5BBE6-F268-4BCE-AEEF-BF1C07B15E2A}"/>
    <dgm:cxn modelId="{ACD55EF3-808D-48A8-AA49-376269D56016}" type="presParOf" srcId="{A21DF003-53A5-4AE9-9CD8-0A2E90D006C6}" destId="{C026D9BA-0B75-4DCE-A7C3-E02F40F1D3CC}" srcOrd="0" destOrd="0" presId="urn:microsoft.com/office/officeart/2018/2/layout/IconVerticalSolidList"/>
    <dgm:cxn modelId="{1CB1F30C-13B8-44E8-90C6-8F32293B4FE0}" type="presParOf" srcId="{C026D9BA-0B75-4DCE-A7C3-E02F40F1D3CC}" destId="{E8977C3B-7A01-428F-A11F-DD8256CB3938}" srcOrd="0" destOrd="0" presId="urn:microsoft.com/office/officeart/2018/2/layout/IconVerticalSolidList"/>
    <dgm:cxn modelId="{EA62082B-D762-40BA-89AA-7F9087928B98}" type="presParOf" srcId="{C026D9BA-0B75-4DCE-A7C3-E02F40F1D3CC}" destId="{4DA79F86-E52B-4FEC-8C96-67EF97A1D2E2}" srcOrd="1" destOrd="0" presId="urn:microsoft.com/office/officeart/2018/2/layout/IconVerticalSolidList"/>
    <dgm:cxn modelId="{3002630F-CA7F-477D-8722-9EB14F0F0DC0}" type="presParOf" srcId="{C026D9BA-0B75-4DCE-A7C3-E02F40F1D3CC}" destId="{E6117677-7F7D-4C3D-80B9-6D9B9E4F117D}" srcOrd="2" destOrd="0" presId="urn:microsoft.com/office/officeart/2018/2/layout/IconVerticalSolidList"/>
    <dgm:cxn modelId="{1DEF6100-0C00-4872-9DBC-0F53CA4DD705}" type="presParOf" srcId="{C026D9BA-0B75-4DCE-A7C3-E02F40F1D3CC}" destId="{D2F8833B-3DC7-49F3-8B84-16B9287638C0}" srcOrd="3" destOrd="0" presId="urn:microsoft.com/office/officeart/2018/2/layout/IconVerticalSolidList"/>
    <dgm:cxn modelId="{251599BE-6373-4394-A4F4-126799CA7A35}" type="presParOf" srcId="{A21DF003-53A5-4AE9-9CD8-0A2E90D006C6}" destId="{FB1FA8DE-8C9D-40C6-820A-5631B5EB78B6}" srcOrd="1" destOrd="0" presId="urn:microsoft.com/office/officeart/2018/2/layout/IconVerticalSolidList"/>
    <dgm:cxn modelId="{60475DB6-CB74-4FD0-8578-82BEB1F1281B}" type="presParOf" srcId="{A21DF003-53A5-4AE9-9CD8-0A2E90D006C6}" destId="{1915D65A-179C-484C-801D-2220D001CD7F}" srcOrd="2" destOrd="0" presId="urn:microsoft.com/office/officeart/2018/2/layout/IconVerticalSolidList"/>
    <dgm:cxn modelId="{507BFFD3-E713-4653-B41A-F8119949F11F}" type="presParOf" srcId="{1915D65A-179C-484C-801D-2220D001CD7F}" destId="{B64BB17C-EF57-4783-A561-2FDBDAE05E00}" srcOrd="0" destOrd="0" presId="urn:microsoft.com/office/officeart/2018/2/layout/IconVerticalSolidList"/>
    <dgm:cxn modelId="{A296162F-49EC-4059-8B3A-3BD45192151D}" type="presParOf" srcId="{1915D65A-179C-484C-801D-2220D001CD7F}" destId="{634C5EA8-EC03-4EF2-976B-EC4E15B2D20D}" srcOrd="1" destOrd="0" presId="urn:microsoft.com/office/officeart/2018/2/layout/IconVerticalSolidList"/>
    <dgm:cxn modelId="{34581D25-6D4D-429B-922E-57C080E9D7BC}" type="presParOf" srcId="{1915D65A-179C-484C-801D-2220D001CD7F}" destId="{F77E6B6D-14D9-418B-85BC-BD491ABA2382}" srcOrd="2" destOrd="0" presId="urn:microsoft.com/office/officeart/2018/2/layout/IconVerticalSolidList"/>
    <dgm:cxn modelId="{8259F039-4205-42BB-9F97-D62FA1A8BDE8}" type="presParOf" srcId="{1915D65A-179C-484C-801D-2220D001CD7F}" destId="{6629A5DF-EDC1-41EA-928E-7E225AE3C912}" srcOrd="3" destOrd="0" presId="urn:microsoft.com/office/officeart/2018/2/layout/IconVerticalSolidList"/>
    <dgm:cxn modelId="{0A1428F9-379C-47C5-A748-40B64C56B351}" type="presParOf" srcId="{A21DF003-53A5-4AE9-9CD8-0A2E90D006C6}" destId="{634CF7F6-F123-4515-AC47-A674D1E73E0A}" srcOrd="3" destOrd="0" presId="urn:microsoft.com/office/officeart/2018/2/layout/IconVerticalSolidList"/>
    <dgm:cxn modelId="{94C14C8F-2639-4F26-9A94-E8D778A64689}" type="presParOf" srcId="{A21DF003-53A5-4AE9-9CD8-0A2E90D006C6}" destId="{1B7A88D7-4CFF-4C57-B1A2-05566A3DCA9E}" srcOrd="4" destOrd="0" presId="urn:microsoft.com/office/officeart/2018/2/layout/IconVerticalSolidList"/>
    <dgm:cxn modelId="{9EFA0438-DCEB-46E1-81E3-7783ACA591E8}" type="presParOf" srcId="{1B7A88D7-4CFF-4C57-B1A2-05566A3DCA9E}" destId="{9D1396FE-B442-4A28-B7E9-67942F2A8DAA}" srcOrd="0" destOrd="0" presId="urn:microsoft.com/office/officeart/2018/2/layout/IconVerticalSolidList"/>
    <dgm:cxn modelId="{B50F0693-0E7F-437A-A7E2-D1108ECCC7BD}" type="presParOf" srcId="{1B7A88D7-4CFF-4C57-B1A2-05566A3DCA9E}" destId="{D82D6056-47B6-4A6F-B0BB-F7C725B6DDDF}" srcOrd="1" destOrd="0" presId="urn:microsoft.com/office/officeart/2018/2/layout/IconVerticalSolidList"/>
    <dgm:cxn modelId="{4BCE1257-FBAB-4895-8E97-EE7A3A009BD7}" type="presParOf" srcId="{1B7A88D7-4CFF-4C57-B1A2-05566A3DCA9E}" destId="{060EABE9-F415-4E85-8781-00A036FDCDD4}" srcOrd="2" destOrd="0" presId="urn:microsoft.com/office/officeart/2018/2/layout/IconVerticalSolidList"/>
    <dgm:cxn modelId="{1EE37734-5D6B-4F57-936E-C1666AB7A04A}" type="presParOf" srcId="{1B7A88D7-4CFF-4C57-B1A2-05566A3DCA9E}" destId="{DE96830C-1C3E-4EEE-A420-BB1152BF175A}" srcOrd="3" destOrd="0" presId="urn:microsoft.com/office/officeart/2018/2/layout/IconVerticalSolidList"/>
    <dgm:cxn modelId="{860CBCF4-23D5-4E68-9287-B2E7B8B9F735}" type="presParOf" srcId="{A21DF003-53A5-4AE9-9CD8-0A2E90D006C6}" destId="{3D1E31D2-9C6A-4811-ACB9-DF24DF27C5BC}" srcOrd="5" destOrd="0" presId="urn:microsoft.com/office/officeart/2018/2/layout/IconVerticalSolidList"/>
    <dgm:cxn modelId="{B09A1EAE-218B-40E0-B260-91F7CB9F17E9}" type="presParOf" srcId="{A21DF003-53A5-4AE9-9CD8-0A2E90D006C6}" destId="{D399CF0C-CB9C-47EC-9321-F1B10EC9E6BD}" srcOrd="6" destOrd="0" presId="urn:microsoft.com/office/officeart/2018/2/layout/IconVerticalSolidList"/>
    <dgm:cxn modelId="{4010DDAB-E7DB-4D77-9796-9AE5E4E7F96A}" type="presParOf" srcId="{D399CF0C-CB9C-47EC-9321-F1B10EC9E6BD}" destId="{331256AE-3AFD-48B6-9C47-4320C73BFE35}" srcOrd="0" destOrd="0" presId="urn:microsoft.com/office/officeart/2018/2/layout/IconVerticalSolidList"/>
    <dgm:cxn modelId="{CCC2DBFC-3FFD-487C-A1A5-75D67AEA8F25}" type="presParOf" srcId="{D399CF0C-CB9C-47EC-9321-F1B10EC9E6BD}" destId="{3E5A4038-2456-4C2C-A4EF-EA363FCEAE85}" srcOrd="1" destOrd="0" presId="urn:microsoft.com/office/officeart/2018/2/layout/IconVerticalSolidList"/>
    <dgm:cxn modelId="{573565CD-0794-43AF-9F47-F396A613B210}" type="presParOf" srcId="{D399CF0C-CB9C-47EC-9321-F1B10EC9E6BD}" destId="{44D0F9AD-41D9-4FD0-AF94-4E09764F242C}" srcOrd="2" destOrd="0" presId="urn:microsoft.com/office/officeart/2018/2/layout/IconVerticalSolidList"/>
    <dgm:cxn modelId="{71E13695-B703-4B52-9152-7D7A112AD142}" type="presParOf" srcId="{D399CF0C-CB9C-47EC-9321-F1B10EC9E6BD}" destId="{BE5E4973-FC55-459E-82A1-17A5A62FB8F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42D9A0-3206-49EF-BF48-5D51A0FF5986}" type="doc">
      <dgm:prSet loTypeId="urn:microsoft.com/office/officeart/2018/2/layout/IconVerticalSolidList" loCatId="icon" qsTypeId="urn:microsoft.com/office/officeart/2005/8/quickstyle/3d3" qsCatId="3D" csTypeId="urn:microsoft.com/office/officeart/2005/8/colors/accent0_3" csCatId="mainScheme" phldr="1"/>
      <dgm:spPr/>
      <dgm:t>
        <a:bodyPr/>
        <a:lstStyle/>
        <a:p>
          <a:endParaRPr lang="en-US"/>
        </a:p>
      </dgm:t>
    </dgm:pt>
    <dgm:pt modelId="{AA6F5C11-65BE-462A-809F-4468D0F59845}">
      <dgm:prSet/>
      <dgm:spPr/>
      <dgm:t>
        <a:bodyPr/>
        <a:lstStyle/>
        <a:p>
          <a:pPr>
            <a:lnSpc>
              <a:spcPct val="100000"/>
            </a:lnSpc>
          </a:pPr>
          <a:r>
            <a:rPr lang="en-US" dirty="0">
              <a:solidFill>
                <a:srgbClr val="002060"/>
              </a:solidFill>
              <a:latin typeface="Libre Baskerville" panose="02000000000000000000" pitchFamily="2" charset="0"/>
            </a:rPr>
            <a:t>1. Explain key principles of the Laws of UX.</a:t>
          </a:r>
        </a:p>
      </dgm:t>
    </dgm:pt>
    <dgm:pt modelId="{508D2781-9089-42EA-A756-80F9B9F8BF46}" type="parTrans" cxnId="{ACDEA22B-7BEA-418E-9572-BDC085F2EBA4}">
      <dgm:prSet/>
      <dgm:spPr/>
      <dgm:t>
        <a:bodyPr/>
        <a:lstStyle/>
        <a:p>
          <a:endParaRPr lang="en-US">
            <a:solidFill>
              <a:srgbClr val="002060"/>
            </a:solidFill>
            <a:latin typeface="Libre Baskerville" panose="02000000000000000000" pitchFamily="2" charset="0"/>
          </a:endParaRPr>
        </a:p>
      </dgm:t>
    </dgm:pt>
    <dgm:pt modelId="{C01EE44D-783A-427B-A31C-CCDE03A18450}" type="sibTrans" cxnId="{ACDEA22B-7BEA-418E-9572-BDC085F2EBA4}">
      <dgm:prSet/>
      <dgm:spPr/>
      <dgm:t>
        <a:bodyPr/>
        <a:lstStyle/>
        <a:p>
          <a:endParaRPr lang="en-US">
            <a:solidFill>
              <a:srgbClr val="002060"/>
            </a:solidFill>
            <a:latin typeface="Libre Baskerville" panose="02000000000000000000" pitchFamily="2" charset="0"/>
          </a:endParaRPr>
        </a:p>
      </dgm:t>
    </dgm:pt>
    <dgm:pt modelId="{808D7F08-1A78-47FE-A3E8-772815F6E7B4}">
      <dgm:prSet/>
      <dgm:spPr/>
      <dgm:t>
        <a:bodyPr/>
        <a:lstStyle/>
        <a:p>
          <a:pPr>
            <a:lnSpc>
              <a:spcPct val="100000"/>
            </a:lnSpc>
          </a:pPr>
          <a:r>
            <a:rPr lang="en-US">
              <a:solidFill>
                <a:srgbClr val="002060"/>
              </a:solidFill>
              <a:latin typeface="Libre Baskerville" panose="02000000000000000000" pitchFamily="2" charset="0"/>
            </a:rPr>
            <a:t>2. Identify real-world examples of UX laws in practice.</a:t>
          </a:r>
        </a:p>
      </dgm:t>
    </dgm:pt>
    <dgm:pt modelId="{03C050BE-6CFE-44AB-861B-5CDEA706921C}" type="parTrans" cxnId="{67D2330E-8D92-4E59-A5E1-EECAC2D7731D}">
      <dgm:prSet/>
      <dgm:spPr/>
      <dgm:t>
        <a:bodyPr/>
        <a:lstStyle/>
        <a:p>
          <a:endParaRPr lang="en-US">
            <a:solidFill>
              <a:srgbClr val="002060"/>
            </a:solidFill>
            <a:latin typeface="Libre Baskerville" panose="02000000000000000000" pitchFamily="2" charset="0"/>
          </a:endParaRPr>
        </a:p>
      </dgm:t>
    </dgm:pt>
    <dgm:pt modelId="{26867903-5E3A-4139-9728-9A91C7C27DAC}" type="sibTrans" cxnId="{67D2330E-8D92-4E59-A5E1-EECAC2D7731D}">
      <dgm:prSet/>
      <dgm:spPr/>
      <dgm:t>
        <a:bodyPr/>
        <a:lstStyle/>
        <a:p>
          <a:endParaRPr lang="en-US">
            <a:solidFill>
              <a:srgbClr val="002060"/>
            </a:solidFill>
            <a:latin typeface="Libre Baskerville" panose="02000000000000000000" pitchFamily="2" charset="0"/>
          </a:endParaRPr>
        </a:p>
      </dgm:t>
    </dgm:pt>
    <dgm:pt modelId="{81BB4231-047D-47C5-AB55-0DA33D509F67}">
      <dgm:prSet/>
      <dgm:spPr/>
      <dgm:t>
        <a:bodyPr/>
        <a:lstStyle/>
        <a:p>
          <a:pPr>
            <a:lnSpc>
              <a:spcPct val="100000"/>
            </a:lnSpc>
          </a:pPr>
          <a:r>
            <a:rPr lang="en-US">
              <a:solidFill>
                <a:srgbClr val="002060"/>
              </a:solidFill>
              <a:latin typeface="Libre Baskerville" panose="02000000000000000000" pitchFamily="2" charset="0"/>
            </a:rPr>
            <a:t>3. Apply UX laws to improve interface design.</a:t>
          </a:r>
        </a:p>
      </dgm:t>
    </dgm:pt>
    <dgm:pt modelId="{3ADAB6AB-EB6E-453A-9008-A2CB11C4A6A3}" type="parTrans" cxnId="{8B791F77-83A0-409D-AD6C-3F868C1ADA24}">
      <dgm:prSet/>
      <dgm:spPr/>
      <dgm:t>
        <a:bodyPr/>
        <a:lstStyle/>
        <a:p>
          <a:endParaRPr lang="en-US">
            <a:solidFill>
              <a:srgbClr val="002060"/>
            </a:solidFill>
            <a:latin typeface="Libre Baskerville" panose="02000000000000000000" pitchFamily="2" charset="0"/>
          </a:endParaRPr>
        </a:p>
      </dgm:t>
    </dgm:pt>
    <dgm:pt modelId="{366B96B7-D66E-4B27-9941-0235FABB6CA0}" type="sibTrans" cxnId="{8B791F77-83A0-409D-AD6C-3F868C1ADA24}">
      <dgm:prSet/>
      <dgm:spPr/>
      <dgm:t>
        <a:bodyPr/>
        <a:lstStyle/>
        <a:p>
          <a:endParaRPr lang="en-US">
            <a:solidFill>
              <a:srgbClr val="002060"/>
            </a:solidFill>
            <a:latin typeface="Libre Baskerville" panose="02000000000000000000" pitchFamily="2" charset="0"/>
          </a:endParaRPr>
        </a:p>
      </dgm:t>
    </dgm:pt>
    <dgm:pt modelId="{231BEF3F-8EFA-4D2B-A0B8-69FD26BC9268}" type="pres">
      <dgm:prSet presAssocID="{8742D9A0-3206-49EF-BF48-5D51A0FF5986}" presName="root" presStyleCnt="0">
        <dgm:presLayoutVars>
          <dgm:dir/>
          <dgm:resizeHandles val="exact"/>
        </dgm:presLayoutVars>
      </dgm:prSet>
      <dgm:spPr/>
    </dgm:pt>
    <dgm:pt modelId="{6626FAE9-C5A4-4994-868A-4CA061140F5F}" type="pres">
      <dgm:prSet presAssocID="{AA6F5C11-65BE-462A-809F-4468D0F59845}" presName="compNode" presStyleCnt="0"/>
      <dgm:spPr/>
    </dgm:pt>
    <dgm:pt modelId="{45DE0B38-585A-4910-AC08-E51491D2A66C}" type="pres">
      <dgm:prSet presAssocID="{AA6F5C11-65BE-462A-809F-4468D0F59845}" presName="bgRect" presStyleLbl="bgShp" presStyleIdx="0" presStyleCnt="3"/>
      <dgm:spPr/>
    </dgm:pt>
    <dgm:pt modelId="{2E7C9A7F-07E6-4EAB-AB74-C061BDAEFA7F}" type="pres">
      <dgm:prSet presAssocID="{AA6F5C11-65BE-462A-809F-4468D0F5984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Lightbulb"/>
        </a:ext>
      </dgm:extLst>
    </dgm:pt>
    <dgm:pt modelId="{FF9827C1-D694-47E6-8FE6-6B490E53CEA1}" type="pres">
      <dgm:prSet presAssocID="{AA6F5C11-65BE-462A-809F-4468D0F59845}" presName="spaceRect" presStyleCnt="0"/>
      <dgm:spPr/>
    </dgm:pt>
    <dgm:pt modelId="{08A29C1D-6938-48E8-9353-3AF7668DF54F}" type="pres">
      <dgm:prSet presAssocID="{AA6F5C11-65BE-462A-809F-4468D0F59845}" presName="parTx" presStyleLbl="revTx" presStyleIdx="0" presStyleCnt="3">
        <dgm:presLayoutVars>
          <dgm:chMax val="0"/>
          <dgm:chPref val="0"/>
        </dgm:presLayoutVars>
      </dgm:prSet>
      <dgm:spPr/>
    </dgm:pt>
    <dgm:pt modelId="{C33252FB-4F8B-4BF3-B752-F8FA3EF240A5}" type="pres">
      <dgm:prSet presAssocID="{C01EE44D-783A-427B-A31C-CCDE03A18450}" presName="sibTrans" presStyleCnt="0"/>
      <dgm:spPr/>
    </dgm:pt>
    <dgm:pt modelId="{34CB6460-F92E-4BA0-A24D-065612965655}" type="pres">
      <dgm:prSet presAssocID="{808D7F08-1A78-47FE-A3E8-772815F6E7B4}" presName="compNode" presStyleCnt="0"/>
      <dgm:spPr/>
    </dgm:pt>
    <dgm:pt modelId="{2D903524-281F-484F-A25D-FB701EB03997}" type="pres">
      <dgm:prSet presAssocID="{808D7F08-1A78-47FE-A3E8-772815F6E7B4}" presName="bgRect" presStyleLbl="bgShp" presStyleIdx="1" presStyleCnt="3"/>
      <dgm:spPr/>
    </dgm:pt>
    <dgm:pt modelId="{D539C94D-D561-4F24-9BE3-2734B8F9F014}" type="pres">
      <dgm:prSet presAssocID="{808D7F08-1A78-47FE-A3E8-772815F6E7B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aptop Secure"/>
        </a:ext>
      </dgm:extLst>
    </dgm:pt>
    <dgm:pt modelId="{39DB79C3-3443-47B7-923D-3881D125DD1D}" type="pres">
      <dgm:prSet presAssocID="{808D7F08-1A78-47FE-A3E8-772815F6E7B4}" presName="spaceRect" presStyleCnt="0"/>
      <dgm:spPr/>
    </dgm:pt>
    <dgm:pt modelId="{F47ECB78-D445-4656-BD58-BE256750B595}" type="pres">
      <dgm:prSet presAssocID="{808D7F08-1A78-47FE-A3E8-772815F6E7B4}" presName="parTx" presStyleLbl="revTx" presStyleIdx="1" presStyleCnt="3">
        <dgm:presLayoutVars>
          <dgm:chMax val="0"/>
          <dgm:chPref val="0"/>
        </dgm:presLayoutVars>
      </dgm:prSet>
      <dgm:spPr/>
    </dgm:pt>
    <dgm:pt modelId="{BEE2DAA3-9DA8-421D-B430-7161674D8703}" type="pres">
      <dgm:prSet presAssocID="{26867903-5E3A-4139-9728-9A91C7C27DAC}" presName="sibTrans" presStyleCnt="0"/>
      <dgm:spPr/>
    </dgm:pt>
    <dgm:pt modelId="{DD3B6F1A-9DA9-4F11-90FC-A0238BA124B2}" type="pres">
      <dgm:prSet presAssocID="{81BB4231-047D-47C5-AB55-0DA33D509F67}" presName="compNode" presStyleCnt="0"/>
      <dgm:spPr/>
    </dgm:pt>
    <dgm:pt modelId="{E9F3E159-0396-4435-A249-DFE4DB7DEB7D}" type="pres">
      <dgm:prSet presAssocID="{81BB4231-047D-47C5-AB55-0DA33D509F67}" presName="bgRect" presStyleLbl="bgShp" presStyleIdx="2" presStyleCnt="3"/>
      <dgm:spPr/>
    </dgm:pt>
    <dgm:pt modelId="{E71C248D-3292-4653-96B8-B9B14AC170A4}" type="pres">
      <dgm:prSet presAssocID="{81BB4231-047D-47C5-AB55-0DA33D509F6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esign"/>
        </a:ext>
      </dgm:extLst>
    </dgm:pt>
    <dgm:pt modelId="{BB566F87-42AC-4559-B49D-37024AC71907}" type="pres">
      <dgm:prSet presAssocID="{81BB4231-047D-47C5-AB55-0DA33D509F67}" presName="spaceRect" presStyleCnt="0"/>
      <dgm:spPr/>
    </dgm:pt>
    <dgm:pt modelId="{97AE56BA-2763-4694-A87A-40E3472C0ED4}" type="pres">
      <dgm:prSet presAssocID="{81BB4231-047D-47C5-AB55-0DA33D509F67}" presName="parTx" presStyleLbl="revTx" presStyleIdx="2" presStyleCnt="3">
        <dgm:presLayoutVars>
          <dgm:chMax val="0"/>
          <dgm:chPref val="0"/>
        </dgm:presLayoutVars>
      </dgm:prSet>
      <dgm:spPr/>
    </dgm:pt>
  </dgm:ptLst>
  <dgm:cxnLst>
    <dgm:cxn modelId="{67D2330E-8D92-4E59-A5E1-EECAC2D7731D}" srcId="{8742D9A0-3206-49EF-BF48-5D51A0FF5986}" destId="{808D7F08-1A78-47FE-A3E8-772815F6E7B4}" srcOrd="1" destOrd="0" parTransId="{03C050BE-6CFE-44AB-861B-5CDEA706921C}" sibTransId="{26867903-5E3A-4139-9728-9A91C7C27DAC}"/>
    <dgm:cxn modelId="{ACDEA22B-7BEA-418E-9572-BDC085F2EBA4}" srcId="{8742D9A0-3206-49EF-BF48-5D51A0FF5986}" destId="{AA6F5C11-65BE-462A-809F-4468D0F59845}" srcOrd="0" destOrd="0" parTransId="{508D2781-9089-42EA-A756-80F9B9F8BF46}" sibTransId="{C01EE44D-783A-427B-A31C-CCDE03A18450}"/>
    <dgm:cxn modelId="{8B791F77-83A0-409D-AD6C-3F868C1ADA24}" srcId="{8742D9A0-3206-49EF-BF48-5D51A0FF5986}" destId="{81BB4231-047D-47C5-AB55-0DA33D509F67}" srcOrd="2" destOrd="0" parTransId="{3ADAB6AB-EB6E-453A-9008-A2CB11C4A6A3}" sibTransId="{366B96B7-D66E-4B27-9941-0235FABB6CA0}"/>
    <dgm:cxn modelId="{16DDA485-0F12-4082-97CE-835C120C7D4F}" type="presOf" srcId="{81BB4231-047D-47C5-AB55-0DA33D509F67}" destId="{97AE56BA-2763-4694-A87A-40E3472C0ED4}" srcOrd="0" destOrd="0" presId="urn:microsoft.com/office/officeart/2018/2/layout/IconVerticalSolidList"/>
    <dgm:cxn modelId="{3CE811A4-F518-48EA-A717-4C96C6AC1993}" type="presOf" srcId="{808D7F08-1A78-47FE-A3E8-772815F6E7B4}" destId="{F47ECB78-D445-4656-BD58-BE256750B595}" srcOrd="0" destOrd="0" presId="urn:microsoft.com/office/officeart/2018/2/layout/IconVerticalSolidList"/>
    <dgm:cxn modelId="{DC1B49BC-AD32-4804-9E8D-B1BE0D762331}" type="presOf" srcId="{AA6F5C11-65BE-462A-809F-4468D0F59845}" destId="{08A29C1D-6938-48E8-9353-3AF7668DF54F}" srcOrd="0" destOrd="0" presId="urn:microsoft.com/office/officeart/2018/2/layout/IconVerticalSolidList"/>
    <dgm:cxn modelId="{E40C34DF-F21D-4B1A-A7C8-1AAE0D010389}" type="presOf" srcId="{8742D9A0-3206-49EF-BF48-5D51A0FF5986}" destId="{231BEF3F-8EFA-4D2B-A0B8-69FD26BC9268}" srcOrd="0" destOrd="0" presId="urn:microsoft.com/office/officeart/2018/2/layout/IconVerticalSolidList"/>
    <dgm:cxn modelId="{A9D5926F-DE3D-4EBD-A225-1CD9F793798F}" type="presParOf" srcId="{231BEF3F-8EFA-4D2B-A0B8-69FD26BC9268}" destId="{6626FAE9-C5A4-4994-868A-4CA061140F5F}" srcOrd="0" destOrd="0" presId="urn:microsoft.com/office/officeart/2018/2/layout/IconVerticalSolidList"/>
    <dgm:cxn modelId="{4AACDC93-5473-43BA-B8AB-90958BA4A3C5}" type="presParOf" srcId="{6626FAE9-C5A4-4994-868A-4CA061140F5F}" destId="{45DE0B38-585A-4910-AC08-E51491D2A66C}" srcOrd="0" destOrd="0" presId="urn:microsoft.com/office/officeart/2018/2/layout/IconVerticalSolidList"/>
    <dgm:cxn modelId="{A29CFA88-34A7-4410-947F-8C5DB1576169}" type="presParOf" srcId="{6626FAE9-C5A4-4994-868A-4CA061140F5F}" destId="{2E7C9A7F-07E6-4EAB-AB74-C061BDAEFA7F}" srcOrd="1" destOrd="0" presId="urn:microsoft.com/office/officeart/2018/2/layout/IconVerticalSolidList"/>
    <dgm:cxn modelId="{10B194E7-ADC7-41A0-9A8B-9539EAE0C129}" type="presParOf" srcId="{6626FAE9-C5A4-4994-868A-4CA061140F5F}" destId="{FF9827C1-D694-47E6-8FE6-6B490E53CEA1}" srcOrd="2" destOrd="0" presId="urn:microsoft.com/office/officeart/2018/2/layout/IconVerticalSolidList"/>
    <dgm:cxn modelId="{21090B17-5B18-4DAD-9611-93A47CA8535E}" type="presParOf" srcId="{6626FAE9-C5A4-4994-868A-4CA061140F5F}" destId="{08A29C1D-6938-48E8-9353-3AF7668DF54F}" srcOrd="3" destOrd="0" presId="urn:microsoft.com/office/officeart/2018/2/layout/IconVerticalSolidList"/>
    <dgm:cxn modelId="{E4A1EC64-9500-43B4-BB04-695F473A260E}" type="presParOf" srcId="{231BEF3F-8EFA-4D2B-A0B8-69FD26BC9268}" destId="{C33252FB-4F8B-4BF3-B752-F8FA3EF240A5}" srcOrd="1" destOrd="0" presId="urn:microsoft.com/office/officeart/2018/2/layout/IconVerticalSolidList"/>
    <dgm:cxn modelId="{CB510515-C810-4A92-9406-A2F7B480115F}" type="presParOf" srcId="{231BEF3F-8EFA-4D2B-A0B8-69FD26BC9268}" destId="{34CB6460-F92E-4BA0-A24D-065612965655}" srcOrd="2" destOrd="0" presId="urn:microsoft.com/office/officeart/2018/2/layout/IconVerticalSolidList"/>
    <dgm:cxn modelId="{47ED89C4-5F62-4A21-9D26-9FD5E78496C3}" type="presParOf" srcId="{34CB6460-F92E-4BA0-A24D-065612965655}" destId="{2D903524-281F-484F-A25D-FB701EB03997}" srcOrd="0" destOrd="0" presId="urn:microsoft.com/office/officeart/2018/2/layout/IconVerticalSolidList"/>
    <dgm:cxn modelId="{49A81ABA-1E1F-4C99-BD22-630A01E66000}" type="presParOf" srcId="{34CB6460-F92E-4BA0-A24D-065612965655}" destId="{D539C94D-D561-4F24-9BE3-2734B8F9F014}" srcOrd="1" destOrd="0" presId="urn:microsoft.com/office/officeart/2018/2/layout/IconVerticalSolidList"/>
    <dgm:cxn modelId="{B4A86D6D-C752-46F5-9394-CE38406EF4AD}" type="presParOf" srcId="{34CB6460-F92E-4BA0-A24D-065612965655}" destId="{39DB79C3-3443-47B7-923D-3881D125DD1D}" srcOrd="2" destOrd="0" presId="urn:microsoft.com/office/officeart/2018/2/layout/IconVerticalSolidList"/>
    <dgm:cxn modelId="{CBD1038C-C934-485E-94DF-AF37F0CB1538}" type="presParOf" srcId="{34CB6460-F92E-4BA0-A24D-065612965655}" destId="{F47ECB78-D445-4656-BD58-BE256750B595}" srcOrd="3" destOrd="0" presId="urn:microsoft.com/office/officeart/2018/2/layout/IconVerticalSolidList"/>
    <dgm:cxn modelId="{0F61D6FE-5EEF-46E6-8BF5-FE2293F731A2}" type="presParOf" srcId="{231BEF3F-8EFA-4D2B-A0B8-69FD26BC9268}" destId="{BEE2DAA3-9DA8-421D-B430-7161674D8703}" srcOrd="3" destOrd="0" presId="urn:microsoft.com/office/officeart/2018/2/layout/IconVerticalSolidList"/>
    <dgm:cxn modelId="{EC81C3AB-54D1-4828-B9BC-4B69E1B929B7}" type="presParOf" srcId="{231BEF3F-8EFA-4D2B-A0B8-69FD26BC9268}" destId="{DD3B6F1A-9DA9-4F11-90FC-A0238BA124B2}" srcOrd="4" destOrd="0" presId="urn:microsoft.com/office/officeart/2018/2/layout/IconVerticalSolidList"/>
    <dgm:cxn modelId="{02177C5B-EA86-4932-B6EC-89CF489B65E4}" type="presParOf" srcId="{DD3B6F1A-9DA9-4F11-90FC-A0238BA124B2}" destId="{E9F3E159-0396-4435-A249-DFE4DB7DEB7D}" srcOrd="0" destOrd="0" presId="urn:microsoft.com/office/officeart/2018/2/layout/IconVerticalSolidList"/>
    <dgm:cxn modelId="{3C9EF137-D857-4004-B3DF-4B918359F05D}" type="presParOf" srcId="{DD3B6F1A-9DA9-4F11-90FC-A0238BA124B2}" destId="{E71C248D-3292-4653-96B8-B9B14AC170A4}" srcOrd="1" destOrd="0" presId="urn:microsoft.com/office/officeart/2018/2/layout/IconVerticalSolidList"/>
    <dgm:cxn modelId="{02F4C6A6-1981-4465-B87A-384A03774719}" type="presParOf" srcId="{DD3B6F1A-9DA9-4F11-90FC-A0238BA124B2}" destId="{BB566F87-42AC-4559-B49D-37024AC71907}" srcOrd="2" destOrd="0" presId="urn:microsoft.com/office/officeart/2018/2/layout/IconVerticalSolidList"/>
    <dgm:cxn modelId="{35381390-3C3C-4E1E-BFD3-1BF1E4D8A888}" type="presParOf" srcId="{DD3B6F1A-9DA9-4F11-90FC-A0238BA124B2}" destId="{97AE56BA-2763-4694-A87A-40E3472C0ED4}" srcOrd="3" destOrd="0" presId="urn:microsoft.com/office/officeart/2018/2/layout/IconVerticalSolid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14480A-65FE-49F5-B44A-C600192B0F7B}" type="doc">
      <dgm:prSet loTypeId="urn:microsoft.com/office/officeart/2018/2/layout/IconVerticalSolidList" loCatId="icon" qsTypeId="urn:microsoft.com/office/officeart/2005/8/quickstyle/simple1" qsCatId="simple" csTypeId="urn:microsoft.com/office/officeart/2005/8/colors/accent0_3" csCatId="mainScheme" phldr="1"/>
      <dgm:spPr/>
      <dgm:t>
        <a:bodyPr/>
        <a:lstStyle/>
        <a:p>
          <a:endParaRPr lang="en-US"/>
        </a:p>
      </dgm:t>
    </dgm:pt>
    <dgm:pt modelId="{1E0B296C-D816-4CFF-A497-40994C5235AB}">
      <dgm:prSet/>
      <dgm:spPr/>
      <dgm:t>
        <a:bodyPr/>
        <a:lstStyle/>
        <a:p>
          <a:pPr>
            <a:lnSpc>
              <a:spcPct val="100000"/>
            </a:lnSpc>
          </a:pPr>
          <a:r>
            <a:rPr lang="en-US">
              <a:solidFill>
                <a:srgbClr val="002060"/>
              </a:solidFill>
              <a:latin typeface="Libre Baskerville" panose="02000000000000000000" pitchFamily="2" charset="0"/>
            </a:rPr>
            <a:t>UX designers create experiences based on how humans perceive and interact with interfaces.</a:t>
          </a:r>
        </a:p>
      </dgm:t>
    </dgm:pt>
    <dgm:pt modelId="{A7101DB5-47F7-4401-A4CF-3A5031B6BD9E}" type="parTrans" cxnId="{4C0BCF44-9A69-475F-AA5C-C3D36D520FE2}">
      <dgm:prSet/>
      <dgm:spPr/>
      <dgm:t>
        <a:bodyPr/>
        <a:lstStyle/>
        <a:p>
          <a:endParaRPr lang="en-US">
            <a:solidFill>
              <a:srgbClr val="002060"/>
            </a:solidFill>
            <a:latin typeface="Libre Baskerville" panose="02000000000000000000" pitchFamily="2" charset="0"/>
          </a:endParaRPr>
        </a:p>
      </dgm:t>
    </dgm:pt>
    <dgm:pt modelId="{559D5FC8-C312-4643-AD4C-B1267357E78B}" type="sibTrans" cxnId="{4C0BCF44-9A69-475F-AA5C-C3D36D520FE2}">
      <dgm:prSet/>
      <dgm:spPr/>
      <dgm:t>
        <a:bodyPr/>
        <a:lstStyle/>
        <a:p>
          <a:endParaRPr lang="en-US">
            <a:solidFill>
              <a:srgbClr val="002060"/>
            </a:solidFill>
            <a:latin typeface="Libre Baskerville" panose="02000000000000000000" pitchFamily="2" charset="0"/>
          </a:endParaRPr>
        </a:p>
      </dgm:t>
    </dgm:pt>
    <dgm:pt modelId="{795BCB81-207E-4888-A67C-E99DF45AE33B}">
      <dgm:prSet/>
      <dgm:spPr/>
      <dgm:t>
        <a:bodyPr/>
        <a:lstStyle/>
        <a:p>
          <a:pPr>
            <a:lnSpc>
              <a:spcPct val="100000"/>
            </a:lnSpc>
          </a:pPr>
          <a:r>
            <a:rPr lang="en-US">
              <a:solidFill>
                <a:srgbClr val="002060"/>
              </a:solidFill>
              <a:latin typeface="Libre Baskerville" panose="02000000000000000000" pitchFamily="2" charset="0"/>
            </a:rPr>
            <a:t>Laws of UX combine psychology, design heuristics, and human behavior.</a:t>
          </a:r>
        </a:p>
      </dgm:t>
    </dgm:pt>
    <dgm:pt modelId="{1349D86B-6E6E-47DB-8587-C5CA1AD4546E}" type="parTrans" cxnId="{9A06CBF0-E150-49F4-8D7A-272D9014DC16}">
      <dgm:prSet/>
      <dgm:spPr/>
      <dgm:t>
        <a:bodyPr/>
        <a:lstStyle/>
        <a:p>
          <a:endParaRPr lang="en-US">
            <a:solidFill>
              <a:srgbClr val="002060"/>
            </a:solidFill>
            <a:latin typeface="Libre Baskerville" panose="02000000000000000000" pitchFamily="2" charset="0"/>
          </a:endParaRPr>
        </a:p>
      </dgm:t>
    </dgm:pt>
    <dgm:pt modelId="{838BEDB1-DBC4-4987-B88F-14637EC49711}" type="sibTrans" cxnId="{9A06CBF0-E150-49F4-8D7A-272D9014DC16}">
      <dgm:prSet/>
      <dgm:spPr/>
      <dgm:t>
        <a:bodyPr/>
        <a:lstStyle/>
        <a:p>
          <a:endParaRPr lang="en-US">
            <a:solidFill>
              <a:srgbClr val="002060"/>
            </a:solidFill>
            <a:latin typeface="Libre Baskerville" panose="02000000000000000000" pitchFamily="2" charset="0"/>
          </a:endParaRPr>
        </a:p>
      </dgm:t>
    </dgm:pt>
    <dgm:pt modelId="{9BACFF21-FA6B-475C-A85C-335B730146C9}" type="pres">
      <dgm:prSet presAssocID="{FB14480A-65FE-49F5-B44A-C600192B0F7B}" presName="root" presStyleCnt="0">
        <dgm:presLayoutVars>
          <dgm:dir/>
          <dgm:resizeHandles val="exact"/>
        </dgm:presLayoutVars>
      </dgm:prSet>
      <dgm:spPr/>
    </dgm:pt>
    <dgm:pt modelId="{BDD8338D-54DF-4569-B14C-B1B1C20D9DDD}" type="pres">
      <dgm:prSet presAssocID="{1E0B296C-D816-4CFF-A497-40994C5235AB}" presName="compNode" presStyleCnt="0"/>
      <dgm:spPr/>
    </dgm:pt>
    <dgm:pt modelId="{67C20917-042D-4269-80DE-70E5954886BE}" type="pres">
      <dgm:prSet presAssocID="{1E0B296C-D816-4CFF-A497-40994C5235AB}" presName="bgRect" presStyleLbl="bgShp" presStyleIdx="0" presStyleCnt="2"/>
      <dgm:spPr/>
    </dgm:pt>
    <dgm:pt modelId="{DCCDDE6B-1352-43EB-996C-5EDEE06F2AB2}" type="pres">
      <dgm:prSet presAssocID="{1E0B296C-D816-4CFF-A497-40994C5235A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Web Design"/>
        </a:ext>
      </dgm:extLst>
    </dgm:pt>
    <dgm:pt modelId="{C7E91B6B-5C49-432F-BE1F-1C131B9A8743}" type="pres">
      <dgm:prSet presAssocID="{1E0B296C-D816-4CFF-A497-40994C5235AB}" presName="spaceRect" presStyleCnt="0"/>
      <dgm:spPr/>
    </dgm:pt>
    <dgm:pt modelId="{813F9137-9A1C-41FD-95D7-34AF981DE9A7}" type="pres">
      <dgm:prSet presAssocID="{1E0B296C-D816-4CFF-A497-40994C5235AB}" presName="parTx" presStyleLbl="revTx" presStyleIdx="0" presStyleCnt="2">
        <dgm:presLayoutVars>
          <dgm:chMax val="0"/>
          <dgm:chPref val="0"/>
        </dgm:presLayoutVars>
      </dgm:prSet>
      <dgm:spPr/>
    </dgm:pt>
    <dgm:pt modelId="{AB260571-DFBD-4382-A4E9-D02B0C37D8ED}" type="pres">
      <dgm:prSet presAssocID="{559D5FC8-C312-4643-AD4C-B1267357E78B}" presName="sibTrans" presStyleCnt="0"/>
      <dgm:spPr/>
    </dgm:pt>
    <dgm:pt modelId="{E1B56242-FC83-4E08-86DF-00BDF8D1A0F8}" type="pres">
      <dgm:prSet presAssocID="{795BCB81-207E-4888-A67C-E99DF45AE33B}" presName="compNode" presStyleCnt="0"/>
      <dgm:spPr/>
    </dgm:pt>
    <dgm:pt modelId="{7C8167DB-2A65-49BD-86CD-D004988614BA}" type="pres">
      <dgm:prSet presAssocID="{795BCB81-207E-4888-A67C-E99DF45AE33B}" presName="bgRect" presStyleLbl="bgShp" presStyleIdx="1" presStyleCnt="2"/>
      <dgm:spPr/>
    </dgm:pt>
    <dgm:pt modelId="{01ED7968-962C-4330-B632-9E237D19496C}" type="pres">
      <dgm:prSet presAssocID="{795BCB81-207E-4888-A67C-E99DF45AE33B}"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in in head"/>
        </a:ext>
      </dgm:extLst>
    </dgm:pt>
    <dgm:pt modelId="{5054D9CB-A010-482A-9384-9996E4EFCE2B}" type="pres">
      <dgm:prSet presAssocID="{795BCB81-207E-4888-A67C-E99DF45AE33B}" presName="spaceRect" presStyleCnt="0"/>
      <dgm:spPr/>
    </dgm:pt>
    <dgm:pt modelId="{4F6BB23B-62DF-4792-A2BA-0248D230F8A2}" type="pres">
      <dgm:prSet presAssocID="{795BCB81-207E-4888-A67C-E99DF45AE33B}" presName="parTx" presStyleLbl="revTx" presStyleIdx="1" presStyleCnt="2">
        <dgm:presLayoutVars>
          <dgm:chMax val="0"/>
          <dgm:chPref val="0"/>
        </dgm:presLayoutVars>
      </dgm:prSet>
      <dgm:spPr/>
    </dgm:pt>
  </dgm:ptLst>
  <dgm:cxnLst>
    <dgm:cxn modelId="{4C0BCF44-9A69-475F-AA5C-C3D36D520FE2}" srcId="{FB14480A-65FE-49F5-B44A-C600192B0F7B}" destId="{1E0B296C-D816-4CFF-A497-40994C5235AB}" srcOrd="0" destOrd="0" parTransId="{A7101DB5-47F7-4401-A4CF-3A5031B6BD9E}" sibTransId="{559D5FC8-C312-4643-AD4C-B1267357E78B}"/>
    <dgm:cxn modelId="{86BA507D-9087-4892-A50B-B942E347FC21}" type="presOf" srcId="{795BCB81-207E-4888-A67C-E99DF45AE33B}" destId="{4F6BB23B-62DF-4792-A2BA-0248D230F8A2}" srcOrd="0" destOrd="0" presId="urn:microsoft.com/office/officeart/2018/2/layout/IconVerticalSolidList"/>
    <dgm:cxn modelId="{D32DEC80-623E-4C92-A364-2A3DAAFD868C}" type="presOf" srcId="{1E0B296C-D816-4CFF-A497-40994C5235AB}" destId="{813F9137-9A1C-41FD-95D7-34AF981DE9A7}" srcOrd="0" destOrd="0" presId="urn:microsoft.com/office/officeart/2018/2/layout/IconVerticalSolidList"/>
    <dgm:cxn modelId="{6C176BD7-2EE2-45BF-AF8E-E5F695875056}" type="presOf" srcId="{FB14480A-65FE-49F5-B44A-C600192B0F7B}" destId="{9BACFF21-FA6B-475C-A85C-335B730146C9}" srcOrd="0" destOrd="0" presId="urn:microsoft.com/office/officeart/2018/2/layout/IconVerticalSolidList"/>
    <dgm:cxn modelId="{9A06CBF0-E150-49F4-8D7A-272D9014DC16}" srcId="{FB14480A-65FE-49F5-B44A-C600192B0F7B}" destId="{795BCB81-207E-4888-A67C-E99DF45AE33B}" srcOrd="1" destOrd="0" parTransId="{1349D86B-6E6E-47DB-8587-C5CA1AD4546E}" sibTransId="{838BEDB1-DBC4-4987-B88F-14637EC49711}"/>
    <dgm:cxn modelId="{A13E6E31-3A5C-4533-B600-527B0D604DDD}" type="presParOf" srcId="{9BACFF21-FA6B-475C-A85C-335B730146C9}" destId="{BDD8338D-54DF-4569-B14C-B1B1C20D9DDD}" srcOrd="0" destOrd="0" presId="urn:microsoft.com/office/officeart/2018/2/layout/IconVerticalSolidList"/>
    <dgm:cxn modelId="{A651C1F3-C59E-4CD9-91EA-7AD98EC8F40C}" type="presParOf" srcId="{BDD8338D-54DF-4569-B14C-B1B1C20D9DDD}" destId="{67C20917-042D-4269-80DE-70E5954886BE}" srcOrd="0" destOrd="0" presId="urn:microsoft.com/office/officeart/2018/2/layout/IconVerticalSolidList"/>
    <dgm:cxn modelId="{1752EF44-7999-4A54-8C77-CFA3CAD2FD7E}" type="presParOf" srcId="{BDD8338D-54DF-4569-B14C-B1B1C20D9DDD}" destId="{DCCDDE6B-1352-43EB-996C-5EDEE06F2AB2}" srcOrd="1" destOrd="0" presId="urn:microsoft.com/office/officeart/2018/2/layout/IconVerticalSolidList"/>
    <dgm:cxn modelId="{C1D910B2-B3E3-4FB3-8F37-4F711A821281}" type="presParOf" srcId="{BDD8338D-54DF-4569-B14C-B1B1C20D9DDD}" destId="{C7E91B6B-5C49-432F-BE1F-1C131B9A8743}" srcOrd="2" destOrd="0" presId="urn:microsoft.com/office/officeart/2018/2/layout/IconVerticalSolidList"/>
    <dgm:cxn modelId="{1BD35076-C104-4D23-88DC-FD978B54A32E}" type="presParOf" srcId="{BDD8338D-54DF-4569-B14C-B1B1C20D9DDD}" destId="{813F9137-9A1C-41FD-95D7-34AF981DE9A7}" srcOrd="3" destOrd="0" presId="urn:microsoft.com/office/officeart/2018/2/layout/IconVerticalSolidList"/>
    <dgm:cxn modelId="{1254485E-7B59-47B5-BC19-CBAE70D7F90C}" type="presParOf" srcId="{9BACFF21-FA6B-475C-A85C-335B730146C9}" destId="{AB260571-DFBD-4382-A4E9-D02B0C37D8ED}" srcOrd="1" destOrd="0" presId="urn:microsoft.com/office/officeart/2018/2/layout/IconVerticalSolidList"/>
    <dgm:cxn modelId="{28494D30-2FCA-4418-9966-F505C851AC23}" type="presParOf" srcId="{9BACFF21-FA6B-475C-A85C-335B730146C9}" destId="{E1B56242-FC83-4E08-86DF-00BDF8D1A0F8}" srcOrd="2" destOrd="0" presId="urn:microsoft.com/office/officeart/2018/2/layout/IconVerticalSolidList"/>
    <dgm:cxn modelId="{F861D590-F528-4903-B392-F56B92E92C27}" type="presParOf" srcId="{E1B56242-FC83-4E08-86DF-00BDF8D1A0F8}" destId="{7C8167DB-2A65-49BD-86CD-D004988614BA}" srcOrd="0" destOrd="0" presId="urn:microsoft.com/office/officeart/2018/2/layout/IconVerticalSolidList"/>
    <dgm:cxn modelId="{72A5C845-15CB-4AB8-BAC6-3CBE6A32C262}" type="presParOf" srcId="{E1B56242-FC83-4E08-86DF-00BDF8D1A0F8}" destId="{01ED7968-962C-4330-B632-9E237D19496C}" srcOrd="1" destOrd="0" presId="urn:microsoft.com/office/officeart/2018/2/layout/IconVerticalSolidList"/>
    <dgm:cxn modelId="{48683665-A594-4ED9-A177-6157C871F9F5}" type="presParOf" srcId="{E1B56242-FC83-4E08-86DF-00BDF8D1A0F8}" destId="{5054D9CB-A010-482A-9384-9996E4EFCE2B}" srcOrd="2" destOrd="0" presId="urn:microsoft.com/office/officeart/2018/2/layout/IconVerticalSolidList"/>
    <dgm:cxn modelId="{7A7CF196-2666-4901-93AA-103CF47C0050}" type="presParOf" srcId="{E1B56242-FC83-4E08-86DF-00BDF8D1A0F8}" destId="{4F6BB23B-62DF-4792-A2BA-0248D230F8A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977C3B-7A01-428F-A11F-DD8256CB3938}">
      <dsp:nvSpPr>
        <dsp:cNvPr id="0" name=""/>
        <dsp:cNvSpPr/>
      </dsp:nvSpPr>
      <dsp:spPr>
        <a:xfrm>
          <a:off x="0" y="1805"/>
          <a:ext cx="10515600" cy="915310"/>
        </a:xfrm>
        <a:prstGeom prst="roundRect">
          <a:avLst>
            <a:gd name="adj" fmla="val 10000"/>
          </a:avLst>
        </a:prstGeom>
        <a:solidFill>
          <a:schemeClr val="bg1">
            <a:lumMod val="85000"/>
          </a:schemeClr>
        </a:solidFill>
        <a:ln>
          <a:noFill/>
        </a:ln>
        <a:effectLst/>
      </dsp:spPr>
      <dsp:style>
        <a:lnRef idx="0">
          <a:scrgbClr r="0" g="0" b="0"/>
        </a:lnRef>
        <a:fillRef idx="1">
          <a:scrgbClr r="0" g="0" b="0"/>
        </a:fillRef>
        <a:effectRef idx="0">
          <a:scrgbClr r="0" g="0" b="0"/>
        </a:effectRef>
        <a:fontRef idx="minor"/>
      </dsp:style>
    </dsp:sp>
    <dsp:sp modelId="{4DA79F86-E52B-4FEC-8C96-67EF97A1D2E2}">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F8833B-3DC7-49F3-8B84-16B9287638C0}">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0" i="0" kern="1200" baseline="0">
              <a:latin typeface="Century Gothic"/>
              <a:ea typeface="+mn-ea"/>
              <a:cs typeface="+mn-cs"/>
            </a:rPr>
            <a:t>Explain what human factors means in computing</a:t>
          </a:r>
          <a:endParaRPr lang="en-US" sz="2200" b="0" i="0" kern="1200" baseline="0" dirty="0">
            <a:latin typeface="Century Gothic"/>
            <a:ea typeface="+mn-ea"/>
            <a:cs typeface="+mn-cs"/>
          </a:endParaRPr>
        </a:p>
      </dsp:txBody>
      <dsp:txXfrm>
        <a:off x="1057183" y="1805"/>
        <a:ext cx="9458416" cy="915310"/>
      </dsp:txXfrm>
    </dsp:sp>
    <dsp:sp modelId="{B64BB17C-EF57-4783-A561-2FDBDAE05E00}">
      <dsp:nvSpPr>
        <dsp:cNvPr id="0" name=""/>
        <dsp:cNvSpPr/>
      </dsp:nvSpPr>
      <dsp:spPr>
        <a:xfrm>
          <a:off x="0" y="1145944"/>
          <a:ext cx="10515600" cy="91531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4C5EA8-EC03-4EF2-976B-EC4E15B2D20D}">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29A5DF-EDC1-41EA-928E-7E225AE3C912}">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0" i="0" kern="1200" baseline="0" dirty="0">
              <a:latin typeface="Century Gothic"/>
              <a:ea typeface="+mn-ea"/>
              <a:cs typeface="+mn-cs"/>
            </a:rPr>
            <a:t>Describe how cognitive processes affect interaction with systems</a:t>
          </a:r>
        </a:p>
      </dsp:txBody>
      <dsp:txXfrm>
        <a:off x="1057183" y="1145944"/>
        <a:ext cx="9458416" cy="915310"/>
      </dsp:txXfrm>
    </dsp:sp>
    <dsp:sp modelId="{9D1396FE-B442-4A28-B7E9-67942F2A8DAA}">
      <dsp:nvSpPr>
        <dsp:cNvPr id="0" name=""/>
        <dsp:cNvSpPr/>
      </dsp:nvSpPr>
      <dsp:spPr>
        <a:xfrm>
          <a:off x="0" y="2290082"/>
          <a:ext cx="10515600" cy="91531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2D6056-47B6-4A6F-B0BB-F7C725B6DDDF}">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96830C-1C3E-4EEE-A420-BB1152BF175A}">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0" i="0" kern="1200" baseline="0" dirty="0">
              <a:latin typeface="Century Gothic" panose="020B0502020202020204" pitchFamily="34" charset="0"/>
            </a:rPr>
            <a:t>Identify </a:t>
          </a:r>
          <a:r>
            <a:rPr lang="en-US" sz="2200" b="1" i="0" kern="1200" baseline="0" dirty="0">
              <a:latin typeface="Century Gothic" panose="020B0502020202020204" pitchFamily="34" charset="0"/>
            </a:rPr>
            <a:t>design problems caused by cognitive overload</a:t>
          </a:r>
          <a:endParaRPr lang="en-US" sz="2200" kern="1200" dirty="0">
            <a:latin typeface="Century Gothic" panose="020B0502020202020204" pitchFamily="34" charset="0"/>
          </a:endParaRPr>
        </a:p>
      </dsp:txBody>
      <dsp:txXfrm>
        <a:off x="1057183" y="2290082"/>
        <a:ext cx="9458416" cy="915310"/>
      </dsp:txXfrm>
    </dsp:sp>
    <dsp:sp modelId="{331256AE-3AFD-48B6-9C47-4320C73BFE35}">
      <dsp:nvSpPr>
        <dsp:cNvPr id="0" name=""/>
        <dsp:cNvSpPr/>
      </dsp:nvSpPr>
      <dsp:spPr>
        <a:xfrm>
          <a:off x="0" y="3434221"/>
          <a:ext cx="10515600" cy="91531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5A4038-2456-4C2C-A4EF-EA363FCEAE85}">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5E4973-FC55-459E-82A1-17A5A62FB8FE}">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0" i="0" kern="1200" baseline="0" dirty="0">
              <a:latin typeface="Century Gothic"/>
              <a:ea typeface="+mn-ea"/>
              <a:cs typeface="+mn-cs"/>
            </a:rPr>
            <a:t>Apply psychology-based principles to improve interface design</a:t>
          </a:r>
        </a:p>
      </dsp:txBody>
      <dsp:txXfrm>
        <a:off x="1057183" y="3434221"/>
        <a:ext cx="9458416" cy="915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DE0B38-585A-4910-AC08-E51491D2A66C}">
      <dsp:nvSpPr>
        <dsp:cNvPr id="0" name=""/>
        <dsp:cNvSpPr/>
      </dsp:nvSpPr>
      <dsp:spPr>
        <a:xfrm>
          <a:off x="0" y="552"/>
          <a:ext cx="10972800" cy="1292816"/>
        </a:xfrm>
        <a:prstGeom prst="roundRect">
          <a:avLst>
            <a:gd name="adj" fmla="val 10000"/>
          </a:avLst>
        </a:prstGeom>
        <a:solidFill>
          <a:schemeClr val="dk2">
            <a:tint val="40000"/>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2E7C9A7F-07E6-4EAB-AB74-C061BDAEFA7F}">
      <dsp:nvSpPr>
        <dsp:cNvPr id="0" name=""/>
        <dsp:cNvSpPr/>
      </dsp:nvSpPr>
      <dsp:spPr>
        <a:xfrm>
          <a:off x="391077" y="291436"/>
          <a:ext cx="711049" cy="7110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8A29C1D-6938-48E8-9353-3AF7668DF54F}">
      <dsp:nvSpPr>
        <dsp:cNvPr id="0" name=""/>
        <dsp:cNvSpPr/>
      </dsp:nvSpPr>
      <dsp:spPr>
        <a:xfrm>
          <a:off x="1493203" y="552"/>
          <a:ext cx="9479596" cy="1292816"/>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dirty="0">
              <a:solidFill>
                <a:srgbClr val="002060"/>
              </a:solidFill>
              <a:latin typeface="Libre Baskerville" panose="02000000000000000000" pitchFamily="2" charset="0"/>
            </a:rPr>
            <a:t>1. Explain key principles of the Laws of UX.</a:t>
          </a:r>
        </a:p>
      </dsp:txBody>
      <dsp:txXfrm>
        <a:off x="1493203" y="552"/>
        <a:ext cx="9479596" cy="1292816"/>
      </dsp:txXfrm>
    </dsp:sp>
    <dsp:sp modelId="{2D903524-281F-484F-A25D-FB701EB03997}">
      <dsp:nvSpPr>
        <dsp:cNvPr id="0" name=""/>
        <dsp:cNvSpPr/>
      </dsp:nvSpPr>
      <dsp:spPr>
        <a:xfrm>
          <a:off x="0" y="1616573"/>
          <a:ext cx="10972800" cy="1292816"/>
        </a:xfrm>
        <a:prstGeom prst="roundRect">
          <a:avLst>
            <a:gd name="adj" fmla="val 10000"/>
          </a:avLst>
        </a:prstGeom>
        <a:solidFill>
          <a:schemeClr val="dk2">
            <a:tint val="40000"/>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D539C94D-D561-4F24-9BE3-2734B8F9F014}">
      <dsp:nvSpPr>
        <dsp:cNvPr id="0" name=""/>
        <dsp:cNvSpPr/>
      </dsp:nvSpPr>
      <dsp:spPr>
        <a:xfrm>
          <a:off x="391077" y="1907456"/>
          <a:ext cx="711049" cy="7110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47ECB78-D445-4656-BD58-BE256750B595}">
      <dsp:nvSpPr>
        <dsp:cNvPr id="0" name=""/>
        <dsp:cNvSpPr/>
      </dsp:nvSpPr>
      <dsp:spPr>
        <a:xfrm>
          <a:off x="1493203" y="1616573"/>
          <a:ext cx="9479596" cy="1292816"/>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a:solidFill>
                <a:srgbClr val="002060"/>
              </a:solidFill>
              <a:latin typeface="Libre Baskerville" panose="02000000000000000000" pitchFamily="2" charset="0"/>
            </a:rPr>
            <a:t>2. Identify real-world examples of UX laws in practice.</a:t>
          </a:r>
        </a:p>
      </dsp:txBody>
      <dsp:txXfrm>
        <a:off x="1493203" y="1616573"/>
        <a:ext cx="9479596" cy="1292816"/>
      </dsp:txXfrm>
    </dsp:sp>
    <dsp:sp modelId="{E9F3E159-0396-4435-A249-DFE4DB7DEB7D}">
      <dsp:nvSpPr>
        <dsp:cNvPr id="0" name=""/>
        <dsp:cNvSpPr/>
      </dsp:nvSpPr>
      <dsp:spPr>
        <a:xfrm>
          <a:off x="0" y="3232593"/>
          <a:ext cx="10972800" cy="1292816"/>
        </a:xfrm>
        <a:prstGeom prst="roundRect">
          <a:avLst>
            <a:gd name="adj" fmla="val 10000"/>
          </a:avLst>
        </a:prstGeom>
        <a:solidFill>
          <a:schemeClr val="dk2">
            <a:tint val="40000"/>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E71C248D-3292-4653-96B8-B9B14AC170A4}">
      <dsp:nvSpPr>
        <dsp:cNvPr id="0" name=""/>
        <dsp:cNvSpPr/>
      </dsp:nvSpPr>
      <dsp:spPr>
        <a:xfrm>
          <a:off x="391077" y="3523477"/>
          <a:ext cx="711049" cy="7110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97AE56BA-2763-4694-A87A-40E3472C0ED4}">
      <dsp:nvSpPr>
        <dsp:cNvPr id="0" name=""/>
        <dsp:cNvSpPr/>
      </dsp:nvSpPr>
      <dsp:spPr>
        <a:xfrm>
          <a:off x="1493203" y="3232593"/>
          <a:ext cx="9479596" cy="1292816"/>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a:solidFill>
                <a:srgbClr val="002060"/>
              </a:solidFill>
              <a:latin typeface="Libre Baskerville" panose="02000000000000000000" pitchFamily="2" charset="0"/>
            </a:rPr>
            <a:t>3. Apply UX laws to improve interface design.</a:t>
          </a:r>
        </a:p>
      </dsp:txBody>
      <dsp:txXfrm>
        <a:off x="1493203" y="3232593"/>
        <a:ext cx="9479596" cy="12928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C20917-042D-4269-80DE-70E5954886BE}">
      <dsp:nvSpPr>
        <dsp:cNvPr id="0" name=""/>
        <dsp:cNvSpPr/>
      </dsp:nvSpPr>
      <dsp:spPr>
        <a:xfrm>
          <a:off x="0" y="735468"/>
          <a:ext cx="10972800" cy="1357788"/>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CDDE6B-1352-43EB-996C-5EDEE06F2AB2}">
      <dsp:nvSpPr>
        <dsp:cNvPr id="0" name=""/>
        <dsp:cNvSpPr/>
      </dsp:nvSpPr>
      <dsp:spPr>
        <a:xfrm>
          <a:off x="410731" y="1040971"/>
          <a:ext cx="746783" cy="7467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3F9137-9A1C-41FD-95D7-34AF981DE9A7}">
      <dsp:nvSpPr>
        <dsp:cNvPr id="0" name=""/>
        <dsp:cNvSpPr/>
      </dsp:nvSpPr>
      <dsp:spPr>
        <a:xfrm>
          <a:off x="1568246" y="735468"/>
          <a:ext cx="94045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solidFill>
                <a:srgbClr val="002060"/>
              </a:solidFill>
              <a:latin typeface="Libre Baskerville" panose="02000000000000000000" pitchFamily="2" charset="0"/>
            </a:rPr>
            <a:t>UX designers create experiences based on how humans perceive and interact with interfaces.</a:t>
          </a:r>
        </a:p>
      </dsp:txBody>
      <dsp:txXfrm>
        <a:off x="1568246" y="735468"/>
        <a:ext cx="9404553" cy="1357788"/>
      </dsp:txXfrm>
    </dsp:sp>
    <dsp:sp modelId="{7C8167DB-2A65-49BD-86CD-D004988614BA}">
      <dsp:nvSpPr>
        <dsp:cNvPr id="0" name=""/>
        <dsp:cNvSpPr/>
      </dsp:nvSpPr>
      <dsp:spPr>
        <a:xfrm>
          <a:off x="0" y="2432705"/>
          <a:ext cx="10972800" cy="1357788"/>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ED7968-962C-4330-B632-9E237D19496C}">
      <dsp:nvSpPr>
        <dsp:cNvPr id="0" name=""/>
        <dsp:cNvSpPr/>
      </dsp:nvSpPr>
      <dsp:spPr>
        <a:xfrm>
          <a:off x="410731" y="2738207"/>
          <a:ext cx="746783" cy="7467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6BB23B-62DF-4792-A2BA-0248D230F8A2}">
      <dsp:nvSpPr>
        <dsp:cNvPr id="0" name=""/>
        <dsp:cNvSpPr/>
      </dsp:nvSpPr>
      <dsp:spPr>
        <a:xfrm>
          <a:off x="1568246" y="2432705"/>
          <a:ext cx="94045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a:solidFill>
                <a:srgbClr val="002060"/>
              </a:solidFill>
              <a:latin typeface="Libre Baskerville" panose="02000000000000000000" pitchFamily="2" charset="0"/>
            </a:rPr>
            <a:t>Laws of UX combine psychology, design heuristics, and human behavior.</a:t>
          </a:r>
        </a:p>
      </dsp:txBody>
      <dsp:txXfrm>
        <a:off x="1568246" y="2432705"/>
        <a:ext cx="9404553" cy="135778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81C6DA-8D53-4304-A975-CD571C45D9F8}" type="datetimeFigureOut">
              <a:rPr lang="en-PH" smtClean="0"/>
              <a:t>10/12/2026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D7972-3D0C-4FE3-9B76-3CD89F8C94A1}" type="slidenum">
              <a:rPr lang="en-PH" smtClean="0"/>
              <a:t>‹#›</a:t>
            </a:fld>
            <a:endParaRPr lang="en-PH"/>
          </a:p>
        </p:txBody>
      </p:sp>
    </p:spTree>
    <p:extLst>
      <p:ext uri="{BB962C8B-B14F-4D97-AF65-F5344CB8AC3E}">
        <p14:creationId xmlns:p14="http://schemas.microsoft.com/office/powerpoint/2010/main" val="1456926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www.google.com/search?cs=0&amp;sca_esv=e126eb4d051b0442&amp;q=rubber-banding&amp;sa=X&amp;ved=2ahUKEwjErYq6uM6PAxWOzjQHHb1TB60QxccNegQIIhAB&amp;mstk=AUtExfAO-O6cG5M6gk_2GEaRoEmjpSobxR8aCBODIZ28rTfNbrJt1ZkHkvWglWHBtRDfXeN3tQvplgpDGYYwf22Ng_ZUT2YrCEAlBWTsnc5n3tWgz19ePwJaHH_y4sdkfKFYje8PsY6uKs0zyid2emi1UmH8LRL-eJAz9-SPSqmSdZ8CT7M&amp;csui=3" TargetMode="External"/><Relationship Id="rId4" Type="http://schemas.openxmlformats.org/officeDocument/2006/relationships/hyperlink" Target="https://www.google.com/search?cs=0&amp;sca_esv=e126eb4d051b0442&amp;q=inertial+scrolling&amp;sa=X&amp;ved=2ahUKEwjErYq6uM6PAxWOzjQHHb1TB60QxccNegQIIhAC&amp;mstk=AUtExfAO-O6cG5M6gk_2GEaRoEmjpSobxR8aCBODIZ28rTfNbrJt1ZkHkvWglWHBtRDfXeN3tQvplgpDGYYwf22Ng_ZUT2YrCEAlBWTsnc5n3tWgz19ePwJaHH_y4sdkfKFYje8PsY6uKs0zyid2emi1UmH8LRL-eJAz9-SPSqmSdZ8CT7M&amp;csui=3"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www.google.com/search?cs=0&amp;sca_esv=e126eb4d051b0442&amp;q=rubber-banding&amp;sa=X&amp;ved=2ahUKEwjErYq6uM6PAxWOzjQHHb1TB60QxccNegQIIhAB&amp;mstk=AUtExfAO-O6cG5M6gk_2GEaRoEmjpSobxR8aCBODIZ28rTfNbrJt1ZkHkvWglWHBtRDfXeN3tQvplgpDGYYwf22Ng_ZUT2YrCEAlBWTsnc5n3tWgz19ePwJaHH_y4sdkfKFYje8PsY6uKs0zyid2emi1UmH8LRL-eJAz9-SPSqmSdZ8CT7M&amp;csui=3" TargetMode="External"/><Relationship Id="rId4" Type="http://schemas.openxmlformats.org/officeDocument/2006/relationships/hyperlink" Target="https://www.google.com/search?cs=0&amp;sca_esv=e126eb4d051b0442&amp;q=inertial+scrolling&amp;sa=X&amp;ved=2ahUKEwjErYq6uM6PAxWOzjQHHb1TB60QxccNegQIIhAC&amp;mstk=AUtExfAO-O6cG5M6gk_2GEaRoEmjpSobxR8aCBODIZ28rTfNbrJt1ZkHkvWglWHBtRDfXeN3tQvplgpDGYYwf22Ng_ZUT2YrCEAlBWTsnc5n3tWgz19ePwJaHH_y4sdkfKFYje8PsY6uKs0zyid2emi1UmH8LRL-eJAz9-SPSqmSdZ8CT7M&amp;csui=3"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www.google.com/search?cs=0&amp;sca_esv=e126eb4d051b0442&amp;q=rubber-banding&amp;sa=X&amp;ved=2ahUKEwjErYq6uM6PAxWOzjQHHb1TB60QxccNegQIIhAB&amp;mstk=AUtExfAO-O6cG5M6gk_2GEaRoEmjpSobxR8aCBODIZ28rTfNbrJt1ZkHkvWglWHBtRDfXeN3tQvplgpDGYYwf22Ng_ZUT2YrCEAlBWTsnc5n3tWgz19ePwJaHH_y4sdkfKFYje8PsY6uKs0zyid2emi1UmH8LRL-eJAz9-SPSqmSdZ8CT7M&amp;csui=3" TargetMode="External"/><Relationship Id="rId4" Type="http://schemas.openxmlformats.org/officeDocument/2006/relationships/hyperlink" Target="https://www.google.com/search?cs=0&amp;sca_esv=e126eb4d051b0442&amp;q=inertial+scrolling&amp;sa=X&amp;ved=2ahUKEwjErYq6uM6PAxWOzjQHHb1TB60QxccNegQIIhAC&amp;mstk=AUtExfAO-O6cG5M6gk_2GEaRoEmjpSobxR8aCBODIZ28rTfNbrJt1ZkHkvWglWHBtRDfXeN3tQvplgpDGYYwf22Ng_ZUT2YrCEAlBWTsnc5n3tWgz19ePwJaHH_y4sdkfKFYje8PsY6uKs0zyid2emi1UmH8LRL-eJAz9-SPSqmSdZ8CT7M&amp;csui=3"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 Id="rId3" Type="http://schemas.openxmlformats.org/officeDocument/2006/relationships/hyperlink" Target="https://www.google.com/search?q=Progress+Bars+and+Visual+Indicators&amp;oq=goal+gradient+effect+in+design+for+games&amp;gs_lcrp=EgZjaHJvbWUyCQgAEEUYORigATIHCAEQIRigATIHCAIQIRiPAtIBCTExMDIzajBqNKgCALACAQ&amp;sourceid=chrome&amp;ie=UTF-8&amp;mstk=AUtExfC0ZwjlbGPkJM1NksP3-P2JLGpMIVPOSCRqtiPk3pN-6yDWkNN6ZB1pGDxLEBNTQK6_vVAIoXBmLKJRaKfxKoxe6Ry5oQ5pHBsTPCuOg2et_gbA2KELVnIG5WjczVtDcx2UXF7UoEJfS3i2IJ5V2hTyQ-OrhEkrSzz5lEEUUKl4FufJ1-8FbeCGec39PF4eEamBYp5rMJ-QIuidwYjJGnB9MQFIWk07pQ2ZRuAeVeIRqkdGfrV42GSxXlNKepagKjrscc73DiN46WYL0RjH3ZMeafDPMwxJ_Pi4wY1-O6-hbLwlQtOAMKgfM2O4RRYlWw&amp;csui=3&amp;ved=2ahUKEwi6wJjL_LqSAxVqrVYBHZuCAFQQgK4QegQIBBAB" TargetMode="External"/><Relationship Id="rId4" Type="http://schemas.openxmlformats.org/officeDocument/2006/relationships/hyperlink" Target="https://www.google.com/search?q=Achievement%2FBadge+Systems&amp;oq=goal+gradient+effect+in+design+for+games&amp;gs_lcrp=EgZjaHJvbWUyCQgAEEUYORigATIHCAEQIRigATIHCAIQIRiPAtIBCTExMDIzajBqNKgCALACAQ&amp;sourceid=chrome&amp;ie=UTF-8&amp;mstk=AUtExfC0ZwjlbGPkJM1NksP3-P2JLGpMIVPOSCRqtiPk3pN-6yDWkNN6ZB1pGDxLEBNTQK6_vVAIoXBmLKJRaKfxKoxe6Ry5oQ5pHBsTPCuOg2et_gbA2KELVnIG5WjczVtDcx2UXF7UoEJfS3i2IJ5V2hTyQ-OrhEkrSzz5lEEUUKl4FufJ1-8FbeCGec39PF4eEamBYp5rMJ-QIuidwYjJGnB9MQFIWk07pQ2ZRuAeVeIRqkdGfrV42GSxXlNKepagKjrscc73DiN46WYL0RjH3ZMeafDPMwxJ_Pi4wY1-O6-hbLwlQtOAMKgfM2O4RRYlWw&amp;csui=3&amp;ved=2ahUKEwi6wJjL_LqSAxVqrVYBHZuCAFQQgK4QegQIBBAD" TargetMode="External"/><Relationship Id="rId5" Type="http://schemas.openxmlformats.org/officeDocument/2006/relationships/hyperlink" Target="https://www.google.com/search?q=Level+Design&amp;oq=goal+gradient+effect+in+design+for+games&amp;gs_lcrp=EgZjaHJvbWUyCQgAEEUYORigATIHCAEQIRigATIHCAIQIRiPAtIBCTExMDIzajBqNKgCALACAQ&amp;sourceid=chrome&amp;ie=UTF-8&amp;mstk=AUtExfC0ZwjlbGPkJM1NksP3-P2JLGpMIVPOSCRqtiPk3pN-6yDWkNN6ZB1pGDxLEBNTQK6_vVAIoXBmLKJRaKfxKoxe6Ry5oQ5pHBsTPCuOg2et_gbA2KELVnIG5WjczVtDcx2UXF7UoEJfS3i2IJ5V2hTyQ-OrhEkrSzz5lEEUUKl4FufJ1-8FbeCGec39PF4eEamBYp5rMJ-QIuidwYjJGnB9MQFIWk07pQ2ZRuAeVeIRqkdGfrV42GSxXlNKepagKjrscc73DiN46WYL0RjH3ZMeafDPMwxJ_Pi4wY1-O6-hbLwlQtOAMKgfM2O4RRYlWw&amp;csui=3&amp;ved=2ahUKEwi6wJjL_LqSAxVqrVYBHZuCAFQQgK4QegQIBBAF" TargetMode="External"/><Relationship Id="rId6" Type="http://schemas.openxmlformats.org/officeDocument/2006/relationships/hyperlink" Target="https://www.google.com/search?q=Visualizing+the+Goal&amp;oq=goal+gradient+effect+in+design+for+games&amp;gs_lcrp=EgZjaHJvbWUyCQgAEEUYORigATIHCAEQIRigATIHCAIQIRiPAtIBCTExMDIzajBqNKgCALACAQ&amp;sourceid=chrome&amp;ie=UTF-8&amp;mstk=AUtExfC0ZwjlbGPkJM1NksP3-P2JLGpMIVPOSCRqtiPk3pN-6yDWkNN6ZB1pGDxLEBNTQK6_vVAIoXBmLKJRaKfxKoxe6Ry5oQ5pHBsTPCuOg2et_gbA2KELVnIG5WjczVtDcx2UXF7UoEJfS3i2IJ5V2hTyQ-OrhEkrSzz5lEEUUKl4FufJ1-8FbeCGec39PF4eEamBYp5rMJ-QIuidwYjJGnB9MQFIWk07pQ2ZRuAeVeIRqkdGfrV42GSxXlNKepagKjrscc73DiN46WYL0RjH3ZMeafDPMwxJ_Pi4wY1-O6-hbLwlQtOAMKgfM2O4RRYlWw&amp;csui=3&amp;ved=2ahUKEwi6wJjL_LqSAxVqrVYBHZuCAFQQgK4QegQIBBAH" TargetMode="External"/><Relationship Id="rId7" Type="http://schemas.openxmlformats.org/officeDocument/2006/relationships/hyperlink" Target="https://www.google.com/search?q=Illusion+of+Progress&amp;oq=goal+gradient+effect+in+design+for+games&amp;gs_lcrp=EgZjaHJvbWUyCQgAEEUYORigATIHCAEQIRigATIHCAIQIRiPAtIBCTExMDIzajBqNKgCALACAQ&amp;sourceid=chrome&amp;ie=UTF-8&amp;mstk=AUtExfC0ZwjlbGPkJM1NksP3-P2JLGpMIVPOSCRqtiPk3pN-6yDWkNN6ZB1pGDxLEBNTQK6_vVAIoXBmLKJRaKfxKoxe6Ry5oQ5pHBsTPCuOg2et_gbA2KELVnIG5WjczVtDcx2UXF7UoEJfS3i2IJ5V2hTyQ-OrhEkrSzz5lEEUUKl4FufJ1-8FbeCGec39PF4eEamBYp5rMJ-QIuidwYjJGnB9MQFIWk07pQ2ZRuAeVeIRqkdGfrV42GSxXlNKepagKjrscc73DiN46WYL0RjH3ZMeafDPMwxJ_Pi4wY1-O6-hbLwlQtOAMKgfM2O4RRYlWw&amp;csui=3&amp;ved=2ahUKEwi6wJjL_LqSAxVqrVYBHZuCAFQQgK4QegQIBBAJ"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 Id="rId3" Type="http://schemas.openxmlformats.org/officeDocument/2006/relationships/hyperlink" Target="https://www.interaction-design.org/literature/topics/ux-design"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 Id="rId3" Type="http://schemas.openxmlformats.org/officeDocument/2006/relationships/hyperlink" Target="https://cursorup.com/blog/user-interface-design/" TargetMode="External"/><Relationship Id="rId4" Type="http://schemas.openxmlformats.org/officeDocument/2006/relationships/hyperlink" Target="https://cursorup.com/blog/user-experience-design/" TargetMode="External"/><Relationship Id="rId5" Type="http://schemas.openxmlformats.org/officeDocument/2006/relationships/hyperlink" Target="http://airbnb.com/"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the class: Why do users blame the system instead of themselves when something goes wrong?</a:t>
            </a:r>
          </a:p>
          <a:p/>
          <a:p>
            <a:r>
              <a:t>Psychology gives us the foundational understanding of human behavior, thinking and emotion needed to design technology that is intuitive, efficient and user-friendly. By applying psychological principles, designers create interfaces that match how people perceive, remember and process information, which reduces cognitive load and prevents frustration.</a:t>
            </a:r>
          </a:p>
        </p:txBody>
      </p:sp>
      <p:sp>
        <p:nvSpPr>
          <p:cNvPr id="4" name="Slide Number Placeholder 3"/>
          <p:cNvSpPr>
            <a:spLocks noGrp="1"/>
          </p:cNvSpPr>
          <p:nvPr>
            <p:ph type="sldNum" sz="quarter" idx="5"/>
          </p:nvPr>
        </p:nvSpPr>
        <p:spPr/>
        <p:txBody>
          <a:bodyPr/>
          <a:lstStyle/>
          <a:p>
            <a:fld id="{B57C6CB2-E430-4DB7-B81D-FA9ABB178DBD}" type="slidenum">
              <a:rPr lang="en-PH" smtClean="0"/>
              <a:t>3</a:t>
            </a:fld>
            <a:endParaRPr lang="en-PH"/>
          </a:p>
        </p:txBody>
      </p:sp>
    </p:spTree>
    <p:extLst>
      <p:ext uri="{BB962C8B-B14F-4D97-AF65-F5344CB8AC3E}">
        <p14:creationId xmlns:p14="http://schemas.microsoft.com/office/powerpoint/2010/main" val="178191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tx1"/>
                </a:solidFill>
                <a:latin typeface="+mn-lt"/>
                <a:ea typeface="+mn-ea"/>
                <a:cs typeface="+mn-cs"/>
              </a:rPr>
              <a:t>Goal:</a:t>
            </a:r>
            <a:r>
              <a:rPr lang="en-US" sz="800" kern="1200" dirty="0">
                <a:solidFill>
                  <a:schemeClr val="tx1"/>
                </a:solidFill>
                <a:latin typeface="+mn-lt"/>
                <a:ea typeface="+mn-ea"/>
                <a:cs typeface="+mn-cs"/>
              </a:rPr>
              <a:t> Reduce human error and increase </a:t>
            </a:r>
            <a:r>
              <a:rPr lang="en-US" sz="800" b="1" u="sng" kern="1200" dirty="0">
                <a:solidFill>
                  <a:schemeClr val="tx1"/>
                </a:solidFill>
                <a:latin typeface="+mn-lt"/>
                <a:ea typeface="+mn-ea"/>
                <a:cs typeface="+mn-cs"/>
              </a:rPr>
              <a:t>efficiency, safety, and satisfaction.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kern="1200" dirty="0">
              <a:solidFill>
                <a:schemeClr val="tx1"/>
              </a:solidFill>
              <a:latin typeface="+mn-lt"/>
              <a:ea typeface="+mn-ea"/>
              <a:cs typeface="+mn-cs"/>
            </a:endParaRPr>
          </a:p>
          <a:p>
            <a:r>
              <a:rPr lang="en-US" sz="800" dirty="0"/>
              <a:t>Traffic light order is standardized (Red–Yellow–Green)</a:t>
            </a:r>
            <a:br>
              <a:rPr lang="en-US" sz="800" dirty="0"/>
            </a:br>
            <a:r>
              <a:rPr lang="en-US" sz="800" dirty="0"/>
              <a:t>Imagine if every city used a different order — accidents would skyrocket.</a:t>
            </a:r>
          </a:p>
          <a:p>
            <a:r>
              <a:rPr lang="en-US" sz="800" b="1" dirty="0"/>
              <a:t>Consistency reduces cognitive load.</a:t>
            </a:r>
            <a:endParaRPr lang="en-US"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kern="1200" dirty="0">
              <a:solidFill>
                <a:schemeClr val="tx1"/>
              </a:solidFill>
              <a:latin typeface="+mn-lt"/>
              <a:ea typeface="+mn-ea"/>
              <a:cs typeface="+mn-cs"/>
            </a:endParaRPr>
          </a:p>
          <a:p>
            <a:endParaRPr lang="en-PH" dirty="0"/>
          </a:p>
        </p:txBody>
      </p:sp>
      <p:sp>
        <p:nvSpPr>
          <p:cNvPr id="4" name="Slide Number Placeholder 3"/>
          <p:cNvSpPr>
            <a:spLocks noGrp="1"/>
          </p:cNvSpPr>
          <p:nvPr>
            <p:ph type="sldNum" sz="quarter" idx="5"/>
          </p:nvPr>
        </p:nvSpPr>
        <p:spPr/>
        <p:txBody>
          <a:bodyPr/>
          <a:lstStyle/>
          <a:p>
            <a:fld id="{B57C6CB2-E430-4DB7-B81D-FA9ABB178DBD}" type="slidenum">
              <a:rPr lang="en-PH" smtClean="0"/>
              <a:t>4</a:t>
            </a:fld>
            <a:endParaRPr lang="en-PH"/>
          </a:p>
        </p:txBody>
      </p:sp>
    </p:spTree>
    <p:extLst>
      <p:ext uri="{BB962C8B-B14F-4D97-AF65-F5344CB8AC3E}">
        <p14:creationId xmlns:p14="http://schemas.microsoft.com/office/powerpoint/2010/main" val="1763536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1FC13-34D1-8936-7AF2-D286B13E3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8B3F5-7A71-BBDF-6275-D900C1ECA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784D4A-ADB5-A45F-4538-4EAFED552254}"/>
              </a:ext>
            </a:extLst>
          </p:cNvPr>
          <p:cNvSpPr>
            <a:spLocks noGrp="1"/>
          </p:cNvSpPr>
          <p:nvPr>
            <p:ph type="body" idx="1"/>
          </p:nvPr>
        </p:nvSpPr>
        <p:spPr/>
        <p:txBody>
          <a:bodyPr/>
          <a:lstStyle/>
          <a:p>
            <a:r>
              <a:t>Cognitive psychology studies how the mind processes information: perception, attention, memory, learning and decision-making.</a:t>
            </a:r>
          </a:p>
          <a:p/>
          <a:p>
            <a:r>
              <a:t>Each process gives us a design rule. Limited memory: show options instead of making users recall them. Limited attention: avoid clutter. Learning: keep the system predictable so skills carry over.</a:t>
            </a:r>
          </a:p>
        </p:txBody>
      </p:sp>
      <p:sp>
        <p:nvSpPr>
          <p:cNvPr id="4" name="Slide Number Placeholder 3">
            <a:extLst>
              <a:ext uri="{FF2B5EF4-FFF2-40B4-BE49-F238E27FC236}">
                <a16:creationId xmlns:a16="http://schemas.microsoft.com/office/drawing/2014/main" id="{BC6FAA56-3A8A-7450-7B31-019A152C26B0}"/>
              </a:ext>
            </a:extLst>
          </p:cNvPr>
          <p:cNvSpPr>
            <a:spLocks noGrp="1"/>
          </p:cNvSpPr>
          <p:nvPr>
            <p:ph type="sldNum" sz="quarter" idx="5"/>
          </p:nvPr>
        </p:nvSpPr>
        <p:spPr/>
        <p:txBody>
          <a:bodyPr/>
          <a:lstStyle/>
          <a:p>
            <a:fld id="{B57C6CB2-E430-4DB7-B81D-FA9ABB178DBD}" type="slidenum">
              <a:rPr lang="en-PH" smtClean="0"/>
              <a:t>5</a:t>
            </a:fld>
            <a:endParaRPr lang="en-PH"/>
          </a:p>
        </p:txBody>
      </p:sp>
    </p:spTree>
    <p:extLst>
      <p:ext uri="{BB962C8B-B14F-4D97-AF65-F5344CB8AC3E}">
        <p14:creationId xmlns:p14="http://schemas.microsoft.com/office/powerpoint/2010/main" val="2281191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Good: Showing menu options</a:t>
            </a:r>
            <a:br>
              <a:rPr lang="en-US" dirty="0"/>
            </a:br>
            <a:r>
              <a:rPr lang="en-US" dirty="0"/>
              <a:t>❌ Bad: Making users memorize commands</a:t>
            </a:r>
            <a:endParaRPr lang="en-PH" dirty="0"/>
          </a:p>
        </p:txBody>
      </p:sp>
      <p:sp>
        <p:nvSpPr>
          <p:cNvPr id="4" name="Slide Number Placeholder 3"/>
          <p:cNvSpPr>
            <a:spLocks noGrp="1"/>
          </p:cNvSpPr>
          <p:nvPr>
            <p:ph type="sldNum" sz="quarter" idx="5"/>
          </p:nvPr>
        </p:nvSpPr>
        <p:spPr/>
        <p:txBody>
          <a:bodyPr/>
          <a:lstStyle/>
          <a:p>
            <a:fld id="{B57C6CB2-E430-4DB7-B81D-FA9ABB178DBD}" type="slidenum">
              <a:rPr lang="en-PH" smtClean="0"/>
              <a:t>7</a:t>
            </a:fld>
            <a:endParaRPr lang="en-PH"/>
          </a:p>
        </p:txBody>
      </p:sp>
    </p:spTree>
    <p:extLst>
      <p:ext uri="{BB962C8B-B14F-4D97-AF65-F5344CB8AC3E}">
        <p14:creationId xmlns:p14="http://schemas.microsoft.com/office/powerpoint/2010/main" val="1500457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Intrinsic load is the mental effort required by the </a:t>
            </a:r>
            <a:r>
              <a:rPr lang="en-US" sz="1200" b="1" i="0" kern="1200" dirty="0">
                <a:solidFill>
                  <a:schemeClr val="tx1"/>
                </a:solidFill>
                <a:effectLst/>
                <a:latin typeface="+mn-lt"/>
                <a:ea typeface="+mn-ea"/>
                <a:cs typeface="+mn-cs"/>
              </a:rPr>
              <a:t>nature of the task</a:t>
            </a:r>
            <a:r>
              <a:rPr lang="en-US" sz="1200" b="0" i="0" kern="1200" dirty="0">
                <a:solidFill>
                  <a:schemeClr val="tx1"/>
                </a:solidFill>
                <a:effectLst/>
                <a:latin typeface="+mn-lt"/>
                <a:ea typeface="+mn-ea"/>
                <a:cs typeface="+mn-cs"/>
              </a:rPr>
              <a:t> itself.   - break into chunks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Extraneous load </a:t>
            </a:r>
            <a:r>
              <a:rPr lang="en-US" dirty="0"/>
              <a:t>– bad effort </a:t>
            </a:r>
            <a:r>
              <a:rPr lang="en-US" sz="1200" b="0" i="0" kern="1200" dirty="0">
                <a:solidFill>
                  <a:schemeClr val="tx1"/>
                </a:solidFill>
                <a:effectLst/>
                <a:latin typeface="+mn-lt"/>
                <a:ea typeface="+mn-ea"/>
                <a:cs typeface="+mn-cs"/>
              </a:rPr>
              <a:t>Extraneous load is "bad" mental effort caused by </a:t>
            </a:r>
            <a:r>
              <a:rPr lang="en-US" sz="1200" b="1" i="0" u="sng" kern="1200" dirty="0">
                <a:solidFill>
                  <a:schemeClr val="tx1"/>
                </a:solidFill>
                <a:effectLst/>
                <a:latin typeface="+mn-lt"/>
                <a:ea typeface="+mn-ea"/>
                <a:cs typeface="+mn-cs"/>
              </a:rPr>
              <a:t>how information is presented</a:t>
            </a:r>
            <a:r>
              <a:rPr lang="en-US" sz="1200" b="0" i="0" kern="1200" dirty="0">
                <a:solidFill>
                  <a:schemeClr val="tx1"/>
                </a:solidFill>
                <a:effectLst/>
                <a:latin typeface="+mn-lt"/>
                <a:ea typeface="+mn-ea"/>
                <a:cs typeface="+mn-cs"/>
              </a:rPr>
              <a:t>, rather than the material itself. - irrelevant items / distractions/poor instructions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Poor design – more effort for the brain – wasted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Germane load – good effort / explain in own words so brain is not too busy – room for deep thinking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Designers must </a:t>
            </a:r>
            <a:r>
              <a:rPr lang="en-US" b="1" dirty="0"/>
              <a:t>reduce extraneous load</a:t>
            </a:r>
            <a:endParaRPr lang="en-PH" dirty="0"/>
          </a:p>
          <a:p>
            <a:endParaRPr lang="en-US" b="1" dirty="0"/>
          </a:p>
          <a:p>
            <a:r>
              <a:rPr lang="en-US" dirty="0"/>
              <a:t>Why is recognition easier than recall?</a:t>
            </a:r>
          </a:p>
          <a:p>
            <a:r>
              <a:rPr lang="en-US" dirty="0"/>
              <a:t>What type of memory is overloaded when users must remember many steps?</a:t>
            </a:r>
          </a:p>
          <a:p>
            <a:r>
              <a:rPr lang="en-US" dirty="0"/>
              <a:t>Which law explains why fewer menu options improve decision speed?</a:t>
            </a:r>
          </a:p>
          <a:p>
            <a:r>
              <a:rPr lang="en-US" dirty="0"/>
              <a:t>Give one example of a slip vs. a mistake.</a:t>
            </a:r>
          </a:p>
          <a:p>
            <a:r>
              <a:rPr lang="en-US" dirty="0"/>
              <a:t>Why should important buttons be larger?</a:t>
            </a:r>
          </a:p>
          <a:p>
            <a:endParaRPr lang="en-US" b="1" dirty="0"/>
          </a:p>
          <a:p>
            <a:endParaRPr lang="en-US" b="1" dirty="0"/>
          </a:p>
          <a:p>
            <a:endParaRPr lang="en-US" b="1" dirty="0"/>
          </a:p>
          <a:p>
            <a:endParaRPr lang="en-US" b="1" dirty="0"/>
          </a:p>
          <a:p>
            <a:r>
              <a:rPr lang="en-US" b="1" dirty="0"/>
              <a:t>Bad Example:</a:t>
            </a:r>
          </a:p>
          <a:p>
            <a:r>
              <a:rPr lang="en-US" dirty="0"/>
              <a:t>A form that asks for:</a:t>
            </a:r>
          </a:p>
          <a:p>
            <a:r>
              <a:rPr lang="en-US" dirty="0"/>
              <a:t>Username</a:t>
            </a:r>
          </a:p>
          <a:p>
            <a:r>
              <a:rPr lang="en-US" dirty="0"/>
              <a:t>ID</a:t>
            </a:r>
          </a:p>
          <a:p>
            <a:r>
              <a:rPr lang="en-US" dirty="0"/>
              <a:t>Reference Number</a:t>
            </a:r>
          </a:p>
          <a:p>
            <a:r>
              <a:rPr lang="en-US" dirty="0"/>
              <a:t>Security Code</a:t>
            </a:r>
          </a:p>
          <a:p>
            <a:r>
              <a:rPr lang="en-US" dirty="0"/>
              <a:t>Email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Reduce extraneous load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r>
              <a:rPr lang="en-US" dirty="0"/>
              <a:t>Pop-ups</a:t>
            </a:r>
          </a:p>
          <a:p>
            <a:r>
              <a:rPr lang="en-US" dirty="0"/>
              <a:t>Flashing banners</a:t>
            </a:r>
          </a:p>
          <a:p>
            <a:r>
              <a:rPr lang="en-US" dirty="0"/>
              <a:t>Fake ads</a:t>
            </a:r>
          </a:p>
          <a:p>
            <a:r>
              <a:rPr lang="en-US" dirty="0"/>
              <a:t>Moving buttons</a:t>
            </a:r>
          </a:p>
          <a:p>
            <a:r>
              <a:rPr lang="en-US" dirty="0"/>
              <a:t>Background distractions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a:p>
            <a:endParaRPr lang="en-US" dirty="0"/>
          </a:p>
        </p:txBody>
      </p:sp>
      <p:sp>
        <p:nvSpPr>
          <p:cNvPr id="4" name="Slide Number Placeholder 3"/>
          <p:cNvSpPr>
            <a:spLocks noGrp="1"/>
          </p:cNvSpPr>
          <p:nvPr>
            <p:ph type="sldNum" sz="quarter" idx="5"/>
          </p:nvPr>
        </p:nvSpPr>
        <p:spPr/>
        <p:txBody>
          <a:bodyPr/>
          <a:lstStyle/>
          <a:p>
            <a:fld id="{B57C6CB2-E430-4DB7-B81D-FA9ABB178DBD}" type="slidenum">
              <a:rPr lang="en-PH" smtClean="0"/>
              <a:t>8</a:t>
            </a:fld>
            <a:endParaRPr lang="en-PH"/>
          </a:p>
        </p:txBody>
      </p:sp>
    </p:spTree>
    <p:extLst>
      <p:ext uri="{BB962C8B-B14F-4D97-AF65-F5344CB8AC3E}">
        <p14:creationId xmlns:p14="http://schemas.microsoft.com/office/powerpoint/2010/main" val="3344236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You can see a screenshot of the old Yahoo! Finance homepage on Jan 31 2005 and the same day in 2015!</a:t>
            </a:r>
            <a:endParaRPr lang="en-PH" dirty="0"/>
          </a:p>
        </p:txBody>
      </p:sp>
      <p:sp>
        <p:nvSpPr>
          <p:cNvPr id="4" name="Slide Number Placeholder 3"/>
          <p:cNvSpPr>
            <a:spLocks noGrp="1"/>
          </p:cNvSpPr>
          <p:nvPr>
            <p:ph type="sldNum" sz="quarter" idx="5"/>
          </p:nvPr>
        </p:nvSpPr>
        <p:spPr/>
        <p:txBody>
          <a:bodyPr/>
          <a:lstStyle/>
          <a:p>
            <a:fld id="{B57C6CB2-E430-4DB7-B81D-FA9ABB178DBD}" type="slidenum">
              <a:rPr lang="en-PH" smtClean="0"/>
              <a:t>9</a:t>
            </a:fld>
            <a:endParaRPr lang="en-PH"/>
          </a:p>
        </p:txBody>
      </p:sp>
    </p:spTree>
    <p:extLst>
      <p:ext uri="{BB962C8B-B14F-4D97-AF65-F5344CB8AC3E}">
        <p14:creationId xmlns:p14="http://schemas.microsoft.com/office/powerpoint/2010/main" val="203057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55D7972-3D0C-4FE3-9B76-3CD89F8C94A1}" type="slidenum">
              <a:rPr lang="en-PH" smtClean="0"/>
              <a:t>11</a:t>
            </a:fld>
            <a:endParaRPr lang="en-PH"/>
          </a:p>
        </p:txBody>
      </p:sp>
    </p:spTree>
    <p:extLst>
      <p:ext uri="{BB962C8B-B14F-4D97-AF65-F5344CB8AC3E}">
        <p14:creationId xmlns:p14="http://schemas.microsoft.com/office/powerpoint/2010/main" val="1106903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B57C6CB2-E430-4DB7-B81D-FA9ABB178DBD}" type="slidenum">
              <a:rPr lang="en-PH" smtClean="0"/>
              <a:t>13</a:t>
            </a:fld>
            <a:endParaRPr lang="en-PH"/>
          </a:p>
        </p:txBody>
      </p:sp>
    </p:spTree>
    <p:extLst>
      <p:ext uri="{BB962C8B-B14F-4D97-AF65-F5344CB8AC3E}">
        <p14:creationId xmlns:p14="http://schemas.microsoft.com/office/powerpoint/2010/main" val="1031396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Design should prevent errors, not just show error messages.</a:t>
            </a:r>
            <a:endParaRPr lang="en-PH" b="1" dirty="0"/>
          </a:p>
        </p:txBody>
      </p:sp>
      <p:sp>
        <p:nvSpPr>
          <p:cNvPr id="4" name="Slide Number Placeholder 3"/>
          <p:cNvSpPr>
            <a:spLocks noGrp="1"/>
          </p:cNvSpPr>
          <p:nvPr>
            <p:ph type="sldNum" sz="quarter" idx="5"/>
          </p:nvPr>
        </p:nvSpPr>
        <p:spPr/>
        <p:txBody>
          <a:bodyPr/>
          <a:lstStyle/>
          <a:p>
            <a:fld id="{B57C6CB2-E430-4DB7-B81D-FA9ABB178DBD}" type="slidenum">
              <a:rPr lang="en-PH" smtClean="0"/>
              <a:t>14</a:t>
            </a:fld>
            <a:endParaRPr lang="en-PH"/>
          </a:p>
        </p:txBody>
      </p:sp>
    </p:spTree>
    <p:extLst>
      <p:ext uri="{BB962C8B-B14F-4D97-AF65-F5344CB8AC3E}">
        <p14:creationId xmlns:p14="http://schemas.microsoft.com/office/powerpoint/2010/main" val="2657173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to click depends on the distance to the target and its size.</a:t>
            </a:r>
          </a:p>
          <a:p>
            <a:r>
              <a:t>✔ Big buttons = easier interaction</a:t>
            </a:r>
          </a:p>
          <a:p>
            <a:r>
              <a:t>✔ Important actions should be large and within easy reach</a:t>
            </a:r>
          </a:p>
          <a:p/>
          <a:p>
            <a:r>
              <a:t>Why is the "Skip Ad" button big? Exactly.</a:t>
            </a:r>
          </a:p>
          <a:p/>
          <a:p>
            <a:r>
              <a:t>To prevent accidental shutdowns, Apple makes users slide a control to power off the phone, but cancelling only takes a tap on a big button. Cancelling has no bad consequence, so Apple makes it the easy target.</a:t>
            </a:r>
          </a:p>
        </p:txBody>
      </p:sp>
      <p:sp>
        <p:nvSpPr>
          <p:cNvPr id="4" name="Slide Number Placeholder 3"/>
          <p:cNvSpPr>
            <a:spLocks noGrp="1"/>
          </p:cNvSpPr>
          <p:nvPr>
            <p:ph type="sldNum" sz="quarter" idx="5"/>
          </p:nvPr>
        </p:nvSpPr>
        <p:spPr/>
        <p:txBody>
          <a:bodyPr/>
          <a:lstStyle/>
          <a:p>
            <a:fld id="{B57C6CB2-E430-4DB7-B81D-FA9ABB178DBD}" type="slidenum">
              <a:rPr lang="en-PH" smtClean="0"/>
              <a:t>16</a:t>
            </a:fld>
            <a:endParaRPr lang="en-PH"/>
          </a:p>
        </p:txBody>
      </p:sp>
    </p:spTree>
    <p:extLst>
      <p:ext uri="{BB962C8B-B14F-4D97-AF65-F5344CB8AC3E}">
        <p14:creationId xmlns:p14="http://schemas.microsoft.com/office/powerpoint/2010/main" val="2927267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9339D-686A-994A-6BC2-00B6671D5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6C589-6D5D-291F-71E1-C9C9AE4BB8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164A3-976A-F13C-1F4C-3F33113DC31C}"/>
              </a:ext>
            </a:extLst>
          </p:cNvPr>
          <p:cNvSpPr>
            <a:spLocks noGrp="1"/>
          </p:cNvSpPr>
          <p:nvPr>
            <p:ph type="body" idx="1"/>
          </p:nvPr>
        </p:nvSpPr>
        <p:spPr/>
        <p:txBody>
          <a:bodyPr/>
          <a:lstStyle/>
          <a:p>
            <a:r>
              <a:t>A collection of best practices designers can consider when building user interfaces.</a:t>
            </a:r>
          </a:p>
          <a:p/>
          <a:p>
            <a:r>
              <a:t>The "Laws of UX" are psychological principles and heuristics that explain how people interact with digital interfaces.</a:t>
            </a:r>
          </a:p>
          <a:p>
            <a:r>
              <a:t>They matter because they give a foundational understanding of human behavior, helping designers create interfaces that are more intuitive, efficient and user-friendly. By applying these laws, designers make informed decisions that lead to better products and more satisfying experiences.</a:t>
            </a:r>
          </a:p>
          <a:p/>
          <a:p>
            <a:r>
              <a:t>Key reasons why the Laws of UX matter:</a:t>
            </a:r>
          </a:p>
          <a:p>
            <a:r>
              <a:t>1. They reduce cognitive load. Miller's Law (chunk information into small pieces) and Fitts's Law (put interactive elements within easy reach) cut the effort a task needs. A user who has to think too hard is more likely to give up.</a:t>
            </a:r>
          </a:p>
          <a:p>
            <a:r>
              <a:t>2. They create consistency. Jakob's Law: users spend most of their time on other apps and sites, so they expect yours to work the same way (e.g., logo top-left, cart icon top-right, Home tab bottom-left). Familiar patterns make a product feel easy from day one.</a:t>
            </a:r>
          </a:p>
          <a:p>
            <a:r>
              <a:t>3. They shape perception. Hick's Law: the more options, the longer the decision, so fewer choices guide users faster. Aesthetic-Usability Effect: people see attractive interfaces as easier to use, even when they aren't.</a:t>
            </a:r>
          </a:p>
          <a:p>
            <a:r>
              <a:t>4. They support accessibility. Gestalt laws such as Common Region and Proximity organize a screen visually, which helps users with different cognitive and visual abilities understand the layout.</a:t>
            </a:r>
          </a:p>
          <a:p/>
          <a:p>
            <a:r>
              <a:t>Results: better usability and satisfaction, fewer errors, more engagement and conversions.</a:t>
            </a:r>
          </a:p>
        </p:txBody>
      </p:sp>
      <p:sp>
        <p:nvSpPr>
          <p:cNvPr id="4" name="Slide Number Placeholder 3">
            <a:extLst>
              <a:ext uri="{FF2B5EF4-FFF2-40B4-BE49-F238E27FC236}">
                <a16:creationId xmlns:a16="http://schemas.microsoft.com/office/drawing/2014/main" id="{4EB0286A-604E-7789-1577-F6F051E227E1}"/>
              </a:ext>
            </a:extLst>
          </p:cNvPr>
          <p:cNvSpPr>
            <a:spLocks noGrp="1"/>
          </p:cNvSpPr>
          <p:nvPr>
            <p:ph type="sldNum" sz="quarter" idx="5"/>
          </p:nvPr>
        </p:nvSpPr>
        <p:spPr/>
        <p:txBody>
          <a:bodyPr/>
          <a:lstStyle/>
          <a:p>
            <a:fld id="{955D7972-3D0C-4FE3-9B76-3CD89F8C94A1}" type="slidenum">
              <a:rPr lang="en-PH" smtClean="0"/>
              <a:t>17</a:t>
            </a:fld>
            <a:endParaRPr lang="en-PH"/>
          </a:p>
        </p:txBody>
      </p:sp>
    </p:spTree>
    <p:extLst>
      <p:ext uri="{BB962C8B-B14F-4D97-AF65-F5344CB8AC3E}">
        <p14:creationId xmlns:p14="http://schemas.microsoft.com/office/powerpoint/2010/main" val="2677359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55D7972-3D0C-4FE3-9B76-3CD89F8C94A1}" type="slidenum">
              <a:rPr lang="en-PH" smtClean="0"/>
              <a:t>24</a:t>
            </a:fld>
            <a:endParaRPr lang="en-PH"/>
          </a:p>
        </p:txBody>
      </p:sp>
    </p:spTree>
    <p:extLst>
      <p:ext uri="{BB962C8B-B14F-4D97-AF65-F5344CB8AC3E}">
        <p14:creationId xmlns:p14="http://schemas.microsoft.com/office/powerpoint/2010/main" val="460264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633C-40D9-6647-9015-13CBE5370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67C10-740C-22A8-EB43-A3194300A1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686C3-8D61-B09F-2976-62EE683A253D}"/>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98E8DB7-26E2-B314-43DA-16E0ADAE2776}"/>
              </a:ext>
            </a:extLst>
          </p:cNvPr>
          <p:cNvSpPr>
            <a:spLocks noGrp="1"/>
          </p:cNvSpPr>
          <p:nvPr>
            <p:ph type="sldNum" sz="quarter" idx="5"/>
          </p:nvPr>
        </p:nvSpPr>
        <p:spPr/>
        <p:txBody>
          <a:bodyPr/>
          <a:lstStyle/>
          <a:p>
            <a:fld id="{955D7972-3D0C-4FE3-9B76-3CD89F8C94A1}" type="slidenum">
              <a:rPr lang="en-PH" smtClean="0"/>
              <a:t>25</a:t>
            </a:fld>
            <a:endParaRPr lang="en-PH"/>
          </a:p>
        </p:txBody>
      </p:sp>
    </p:spTree>
    <p:extLst>
      <p:ext uri="{BB962C8B-B14F-4D97-AF65-F5344CB8AC3E}">
        <p14:creationId xmlns:p14="http://schemas.microsoft.com/office/powerpoint/2010/main" val="3002117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They matter because they give a foundational understanding of human behavior, helping designers create interfaces that are more intuitive, efficient and user-friendly. By applying these laws, designers make informed decisions that lead to better products and more satisfying experiences.</a:t>
            </a:r>
          </a:p>
          <a:p/>
          <a:p>
            <a:r>
              <a:t>Key reasons why the Laws of UX matter:</a:t>
            </a:r>
          </a:p>
          <a:p>
            <a:r>
              <a:t>1. They reduce cognitive load. Miller's Law (chunk information into small pieces) and Fitts's Law (put interactive elements within easy reach) cut the effort a task needs. A user who has to think too hard is more likely to give up.</a:t>
            </a:r>
          </a:p>
          <a:p>
            <a:r>
              <a:t>2. They create consistency. Jakob's Law: users spend most of their time on other apps and sites, so they expect yours to work the same way (e.g., logo top-left, cart icon top-right, Home tab bottom-left). Familiar patterns make a product feel easy from day one.</a:t>
            </a:r>
          </a:p>
          <a:p>
            <a:r>
              <a:t>3. They shape perception. Hick's Law: the more options, the longer the decision, so fewer choices guide users faster. Aesthetic-Usability Effect: people see attractive interfaces as easier to use, even when they aren't.</a:t>
            </a:r>
          </a:p>
          <a:p>
            <a:r>
              <a:t>4. They support accessibility. Gestalt laws such as Common Region and Proximity organize a screen visually, which helps users with different cognitive and visual abilities understand the layout.</a:t>
            </a:r>
          </a:p>
          <a:p/>
          <a:p>
            <a:r>
              <a:t>Results: better usability and satisfaction, fewer errors, more engagement and conversions.</a:t>
            </a:r>
          </a:p>
        </p:txBody>
      </p:sp>
      <p:sp>
        <p:nvSpPr>
          <p:cNvPr id="4" name="Slide Number Placeholder 3"/>
          <p:cNvSpPr>
            <a:spLocks noGrp="1"/>
          </p:cNvSpPr>
          <p:nvPr>
            <p:ph type="sldNum" sz="quarter" idx="5"/>
          </p:nvPr>
        </p:nvSpPr>
        <p:spPr/>
        <p:txBody>
          <a:bodyPr/>
          <a:lstStyle/>
          <a:p>
            <a:fld id="{955D7972-3D0C-4FE3-9B76-3CD89F8C94A1}" type="slidenum">
              <a:rPr lang="en-PH" smtClean="0"/>
              <a:t>26</a:t>
            </a:fld>
            <a:endParaRPr lang="en-PH"/>
          </a:p>
        </p:txBody>
      </p:sp>
    </p:spTree>
    <p:extLst>
      <p:ext uri="{BB962C8B-B14F-4D97-AF65-F5344CB8AC3E}">
        <p14:creationId xmlns:p14="http://schemas.microsoft.com/office/powerpoint/2010/main" val="2135544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0F8D2-2132-3BAB-F7FE-91C4EBEA0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F2863-1069-CD52-145E-A15A2CF8C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321081-B3AB-9CF9-C3C8-D8D8FF0C435B}"/>
              </a:ext>
            </a:extLst>
          </p:cNvPr>
          <p:cNvSpPr>
            <a:spLocks noGrp="1"/>
          </p:cNvSpPr>
          <p:nvPr>
            <p:ph type="body" idx="1"/>
          </p:nvPr>
        </p:nvSpPr>
        <p:spPr/>
        <p:txBody>
          <a:bodyPr/>
          <a:lstStyle/>
          <a:p>
            <a:r>
              <a:t>They matter because they give a foundational understanding of human behavior, helping designers create interfaces that are more intuitive, efficient and user-friendly. By applying these laws, designers make informed decisions that lead to better products and more satisfying experiences.</a:t>
            </a:r>
          </a:p>
          <a:p/>
          <a:p>
            <a:r>
              <a:t>Key reasons why the Laws of UX matter:</a:t>
            </a:r>
          </a:p>
          <a:p>
            <a:r>
              <a:t>1. They reduce cognitive load. Miller's Law (chunk information into small pieces) and Fitts's Law (put interactive elements within easy reach) cut the effort a task needs. A user who has to think too hard is more likely to give up.</a:t>
            </a:r>
          </a:p>
          <a:p>
            <a:r>
              <a:t>2. They create consistency. Jakob's Law: users spend most of their time on other apps and sites, so they expect yours to work the same way (e.g., logo top-left, cart icon top-right, Home tab bottom-left). Familiar patterns make a product feel easy from day one.</a:t>
            </a:r>
          </a:p>
          <a:p>
            <a:r>
              <a:t>3. They shape perception. Hick's Law: the more options, the longer the decision, so fewer choices guide users faster. Aesthetic-Usability Effect: people see attractive interfaces as easier to use, even when they aren't.</a:t>
            </a:r>
          </a:p>
          <a:p>
            <a:r>
              <a:t>4. They support accessibility. Gestalt laws such as Common Region and Proximity organize a screen visually, which helps users with different cognitive and visual abilities understand the layout.</a:t>
            </a:r>
          </a:p>
          <a:p/>
          <a:p>
            <a:r>
              <a:t>Results: better usability and satisfaction, fewer errors, more engagement and conversions.</a:t>
            </a:r>
          </a:p>
        </p:txBody>
      </p:sp>
      <p:sp>
        <p:nvSpPr>
          <p:cNvPr id="4" name="Slide Number Placeholder 3">
            <a:extLst>
              <a:ext uri="{FF2B5EF4-FFF2-40B4-BE49-F238E27FC236}">
                <a16:creationId xmlns:a16="http://schemas.microsoft.com/office/drawing/2014/main" id="{4B3D9C8D-4CB2-19F6-743A-66B53BC57E63}"/>
              </a:ext>
            </a:extLst>
          </p:cNvPr>
          <p:cNvSpPr>
            <a:spLocks noGrp="1"/>
          </p:cNvSpPr>
          <p:nvPr>
            <p:ph type="sldNum" sz="quarter" idx="5"/>
          </p:nvPr>
        </p:nvSpPr>
        <p:spPr/>
        <p:txBody>
          <a:bodyPr/>
          <a:lstStyle/>
          <a:p>
            <a:fld id="{955D7972-3D0C-4FE3-9B76-3CD89F8C94A1}" type="slidenum">
              <a:rPr lang="en-PH" smtClean="0"/>
              <a:t>27</a:t>
            </a:fld>
            <a:endParaRPr lang="en-PH"/>
          </a:p>
        </p:txBody>
      </p:sp>
    </p:spTree>
    <p:extLst>
      <p:ext uri="{BB962C8B-B14F-4D97-AF65-F5344CB8AC3E}">
        <p14:creationId xmlns:p14="http://schemas.microsoft.com/office/powerpoint/2010/main" val="1356938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32F85-6E9A-F90E-0A69-9533758105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DE05F-2ADF-04D5-23C5-561F5834D6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6B4CF-D71E-CF72-5F38-2BB4E6743109}"/>
              </a:ext>
            </a:extLst>
          </p:cNvPr>
          <p:cNvSpPr>
            <a:spLocks noGrp="1"/>
          </p:cNvSpPr>
          <p:nvPr>
            <p:ph type="body" idx="1"/>
          </p:nvPr>
        </p:nvSpPr>
        <p:spPr/>
        <p:txBody>
          <a:bodyPr/>
          <a:lstStyle/>
          <a:p>
            <a:r>
              <a:t>They matter because they give a foundational understanding of human behavior, helping designers create interfaces that are more intuitive, efficient and user-friendly. By applying these laws, designers make informed decisions that lead to better products and more satisfying experiences.</a:t>
            </a:r>
          </a:p>
          <a:p/>
          <a:p>
            <a:r>
              <a:t>Key reasons why the Laws of UX matter:</a:t>
            </a:r>
          </a:p>
          <a:p>
            <a:r>
              <a:t>1. They reduce cognitive load. Miller's Law (chunk information into small pieces) and Fitts's Law (put interactive elements within easy reach) cut the effort a task needs. A user who has to think too hard is more likely to give up.</a:t>
            </a:r>
          </a:p>
          <a:p>
            <a:r>
              <a:t>2. They create consistency. Jakob's Law: users spend most of their time on other apps and sites, so they expect yours to work the same way (e.g., logo top-left, cart icon top-right, Home tab bottom-left). Familiar patterns make a product feel easy from day one.</a:t>
            </a:r>
          </a:p>
          <a:p>
            <a:r>
              <a:t>3. They shape perception. Hick's Law: the more options, the longer the decision, so fewer choices guide users faster. Aesthetic-Usability Effect: people see attractive interfaces as easier to use, even when they aren't.</a:t>
            </a:r>
          </a:p>
          <a:p>
            <a:r>
              <a:t>4. They support accessibility. Gestalt laws such as Common Region and Proximity organize a screen visually, which helps users with different cognitive and visual abilities understand the layout.</a:t>
            </a:r>
          </a:p>
          <a:p/>
          <a:p>
            <a:r>
              <a:t>Results: better usability and satisfaction, fewer errors, more engagement and conversions.</a:t>
            </a:r>
          </a:p>
          <a:p/>
          <a:p>
            <a:r>
              <a:t>Example: if students redesign the GCash payment flow, they might apply:</a:t>
            </a:r>
          </a:p>
          <a:p>
            <a:r>
              <a:t>- Fitts's Law: make the main payment button easy to tap.</a:t>
            </a:r>
          </a:p>
          <a:p>
            <a:r>
              <a:t>- Cognitive load: show the recipient, amount and details clearly.</a:t>
            </a:r>
          </a:p>
          <a:p>
            <a:r>
              <a:t>- Feedback: confirm whether the transaction succeeded or failed.</a:t>
            </a:r>
          </a:p>
          <a:p>
            <a:r>
              <a:t>- Error prevention: help users check the recipient and amount before confirming.</a:t>
            </a:r>
          </a:p>
        </p:txBody>
      </p:sp>
      <p:sp>
        <p:nvSpPr>
          <p:cNvPr id="4" name="Slide Number Placeholder 3">
            <a:extLst>
              <a:ext uri="{FF2B5EF4-FFF2-40B4-BE49-F238E27FC236}">
                <a16:creationId xmlns:a16="http://schemas.microsoft.com/office/drawing/2014/main" id="{80BEB8A6-C56C-7115-4A6D-9BF68301458A}"/>
              </a:ext>
            </a:extLst>
          </p:cNvPr>
          <p:cNvSpPr>
            <a:spLocks noGrp="1"/>
          </p:cNvSpPr>
          <p:nvPr>
            <p:ph type="sldNum" sz="quarter" idx="5"/>
          </p:nvPr>
        </p:nvSpPr>
        <p:spPr/>
        <p:txBody>
          <a:bodyPr/>
          <a:lstStyle/>
          <a:p>
            <a:fld id="{955D7972-3D0C-4FE3-9B76-3CD89F8C94A1}" type="slidenum">
              <a:rPr lang="en-PH" smtClean="0"/>
              <a:t>28</a:t>
            </a:fld>
            <a:endParaRPr lang="en-PH"/>
          </a:p>
        </p:txBody>
      </p:sp>
    </p:spTree>
    <p:extLst>
      <p:ext uri="{BB962C8B-B14F-4D97-AF65-F5344CB8AC3E}">
        <p14:creationId xmlns:p14="http://schemas.microsoft.com/office/powerpoint/2010/main" val="2595804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7A076-25CE-A28C-425B-B8C3E7CDE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872F8F-EF51-4447-071C-CB8FDC960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CDFCF7-CE97-AA2A-0E28-06F7A782E4A4}"/>
              </a:ext>
            </a:extLst>
          </p:cNvPr>
          <p:cNvSpPr>
            <a:spLocks noGrp="1"/>
          </p:cNvSpPr>
          <p:nvPr>
            <p:ph type="body" idx="1"/>
          </p:nvPr>
        </p:nvSpPr>
        <p:spPr/>
        <p:txBody>
          <a:bodyPr/>
          <a:lstStyle/>
          <a:p>
            <a:r>
              <a:t>They matter because they give a foundational understanding of human behavior, helping designers create interfaces that are more intuitive, efficient and user-friendly. By applying these laws, designers make informed decisions that lead to better products and more satisfying experiences.</a:t>
            </a:r>
          </a:p>
          <a:p/>
          <a:p>
            <a:r>
              <a:t>Key reasons why the Laws of UX matter:</a:t>
            </a:r>
          </a:p>
          <a:p>
            <a:r>
              <a:t>1. They reduce cognitive load. Miller's Law (chunk information into small pieces) and Fitts's Law (put interactive elements within easy reach) cut the effort a task needs. A user who has to think too hard is more likely to give up.</a:t>
            </a:r>
          </a:p>
          <a:p>
            <a:r>
              <a:t>2. They create consistency. Jakob's Law: users spend most of their time on other apps and sites, so they expect yours to work the same way (e.g., logo top-left, cart icon top-right, Home tab bottom-left). Familiar patterns make a product feel easy from day one.</a:t>
            </a:r>
          </a:p>
          <a:p>
            <a:r>
              <a:t>3. They shape perception. Hick's Law: the more options, the longer the decision, so fewer choices guide users faster. Aesthetic-Usability Effect: people see attractive interfaces as easier to use, even when they aren't.</a:t>
            </a:r>
          </a:p>
          <a:p>
            <a:r>
              <a:t>4. They support accessibility. Gestalt laws such as Common Region and Proximity organize a screen visually, which helps users with different cognitive and visual abilities understand the layout.</a:t>
            </a:r>
          </a:p>
          <a:p/>
          <a:p>
            <a:r>
              <a:t>Results: better usability and satisfaction, fewer errors, more engagement and conversions.</a:t>
            </a:r>
          </a:p>
        </p:txBody>
      </p:sp>
      <p:sp>
        <p:nvSpPr>
          <p:cNvPr id="4" name="Slide Number Placeholder 3">
            <a:extLst>
              <a:ext uri="{FF2B5EF4-FFF2-40B4-BE49-F238E27FC236}">
                <a16:creationId xmlns:a16="http://schemas.microsoft.com/office/drawing/2014/main" id="{332625FE-089C-2C45-D674-25A3C4EDCA71}"/>
              </a:ext>
            </a:extLst>
          </p:cNvPr>
          <p:cNvSpPr>
            <a:spLocks noGrp="1"/>
          </p:cNvSpPr>
          <p:nvPr>
            <p:ph type="sldNum" sz="quarter" idx="5"/>
          </p:nvPr>
        </p:nvSpPr>
        <p:spPr/>
        <p:txBody>
          <a:bodyPr/>
          <a:lstStyle/>
          <a:p>
            <a:fld id="{955D7972-3D0C-4FE3-9B76-3CD89F8C94A1}" type="slidenum">
              <a:rPr lang="en-PH" smtClean="0"/>
              <a:t>29</a:t>
            </a:fld>
            <a:endParaRPr lang="en-PH"/>
          </a:p>
        </p:txBody>
      </p:sp>
    </p:spTree>
    <p:extLst>
      <p:ext uri="{BB962C8B-B14F-4D97-AF65-F5344CB8AC3E}">
        <p14:creationId xmlns:p14="http://schemas.microsoft.com/office/powerpoint/2010/main" val="38226117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Users perceive attractive designs as easier to use. A good-looking interface earns patience: people forgive minor usability problems, but not major ones. This is why a good user experience can't be only functional; visual design shapes how people judge the whole product.</a:t>
            </a:r>
          </a:p>
          <a:p/>
          <a:p>
            <a:r>
              <a:t>Example: the iPhone. Its interface is simple and uncluttered, consistent across apps, and gives instant, physical-feeling feedback (rubber-band scrolling, icons reacting to a touch). Its looks make it feel easy, even for first-time smartphone users.</a:t>
            </a:r>
          </a:p>
        </p:txBody>
      </p:sp>
      <p:sp>
        <p:nvSpPr>
          <p:cNvPr id="4" name="Slide Number Placeholder 3"/>
          <p:cNvSpPr>
            <a:spLocks noGrp="1"/>
          </p:cNvSpPr>
          <p:nvPr>
            <p:ph type="sldNum" sz="quarter" idx="5"/>
          </p:nvPr>
        </p:nvSpPr>
        <p:spPr/>
        <p:txBody>
          <a:bodyPr/>
          <a:lstStyle/>
          <a:p>
            <a:fld id="{955D7972-3D0C-4FE3-9B76-3CD89F8C94A1}" type="slidenum">
              <a:rPr lang="en-PH" smtClean="0"/>
              <a:t>30</a:t>
            </a:fld>
            <a:endParaRPr lang="en-PH"/>
          </a:p>
        </p:txBody>
      </p:sp>
    </p:spTree>
    <p:extLst>
      <p:ext uri="{BB962C8B-B14F-4D97-AF65-F5344CB8AC3E}">
        <p14:creationId xmlns:p14="http://schemas.microsoft.com/office/powerpoint/2010/main" val="22521089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D1B79-9FA9-C88C-1604-DDF9CA3635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562E4-DE1C-1E7E-22F0-3F13052A3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5BF79C-47DA-A712-AB66-F0695069C0F7}"/>
              </a:ext>
            </a:extLst>
          </p:cNvPr>
          <p:cNvSpPr>
            <a:spLocks noGrp="1"/>
          </p:cNvSpPr>
          <p:nvPr>
            <p:ph type="body" idx="1"/>
          </p:nvPr>
        </p:nvSpPr>
        <p:spPr/>
        <p:txBody>
          <a:bodyPr/>
          <a:lstStyle/>
          <a:p>
            <a:r>
              <a:t>Users perceive attractive designs as easier to use. A good-looking interface earns patience: people forgive minor usability problems, but not major ones. This is why a good user experience can't be only functional; visual design shapes how people judge the whole product.</a:t>
            </a:r>
          </a:p>
          <a:p/>
          <a:p>
            <a:r>
              <a:t>Example: the iPhone Weather app. A clean layout, smooth animations and a pleasing style make it feel effortless, even though it holds many options.</a:t>
            </a:r>
          </a:p>
        </p:txBody>
      </p:sp>
      <p:sp>
        <p:nvSpPr>
          <p:cNvPr id="4" name="Slide Number Placeholder 3">
            <a:extLst>
              <a:ext uri="{FF2B5EF4-FFF2-40B4-BE49-F238E27FC236}">
                <a16:creationId xmlns:a16="http://schemas.microsoft.com/office/drawing/2014/main" id="{A07EA133-F4A9-B497-8092-044152BF727C}"/>
              </a:ext>
            </a:extLst>
          </p:cNvPr>
          <p:cNvSpPr>
            <a:spLocks noGrp="1"/>
          </p:cNvSpPr>
          <p:nvPr>
            <p:ph type="sldNum" sz="quarter" idx="5"/>
          </p:nvPr>
        </p:nvSpPr>
        <p:spPr/>
        <p:txBody>
          <a:bodyPr/>
          <a:lstStyle/>
          <a:p>
            <a:fld id="{955D7972-3D0C-4FE3-9B76-3CD89F8C94A1}" type="slidenum">
              <a:rPr lang="en-PH" smtClean="0"/>
              <a:t>31</a:t>
            </a:fld>
            <a:endParaRPr lang="en-PH"/>
          </a:p>
        </p:txBody>
      </p:sp>
    </p:spTree>
    <p:extLst>
      <p:ext uri="{BB962C8B-B14F-4D97-AF65-F5344CB8AC3E}">
        <p14:creationId xmlns:p14="http://schemas.microsoft.com/office/powerpoint/2010/main" val="35991478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F06F6-B886-3F57-BE4C-BE706357A6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6FE7F-0D74-5A29-7E9E-5BB832C87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6C0C2C-23B8-93EE-4180-A03EBF881D15}"/>
              </a:ext>
            </a:extLst>
          </p:cNvPr>
          <p:cNvSpPr>
            <a:spLocks noGrp="1"/>
          </p:cNvSpPr>
          <p:nvPr>
            <p:ph type="body" idx="1"/>
          </p:nvPr>
        </p:nvSpPr>
        <p:spPr/>
        <p:txBody>
          <a:bodyPr/>
          <a:lstStyle/>
          <a:p>
            <a:r>
              <a:t>Users perceive attractive designs as easier to use. A good-looking interface earns patience: people forgive minor usability problems, but not major ones. This is why a good user experience can't be only functional; visual design shapes how people judge the whole product.</a:t>
            </a:r>
          </a:p>
          <a:p/>
          <a:p>
            <a:r>
              <a:t>The other side: beauty can hide problems. In a Nielsen Norman Group usability study, a participant struggled with several tasks on Fitbit's site yet still rated it highly, and only commented on its looks. Why?</a:t>
            </a:r>
          </a:p>
          <a:p>
            <a:r>
              <a:t>- People find it easier to comment on visual design than on usability.</a:t>
            </a:r>
          </a:p>
          <a:p>
            <a:r>
              <a:t>- Participants may feel pressure to compliment the product, especially if they think you made it.</a:t>
            </a:r>
          </a:p>
          <a:p>
            <a:r>
              <a:t>- The aesthetic-usability effect makes the problems feel smaller than they are.</a:t>
            </a:r>
          </a:p>
          <a:p/>
          <a:p>
            <a:r>
              <a:t>Lesson: in usability testing, watch what users do, not only what they say.</a:t>
            </a:r>
          </a:p>
        </p:txBody>
      </p:sp>
      <p:sp>
        <p:nvSpPr>
          <p:cNvPr id="4" name="Slide Number Placeholder 3">
            <a:extLst>
              <a:ext uri="{FF2B5EF4-FFF2-40B4-BE49-F238E27FC236}">
                <a16:creationId xmlns:a16="http://schemas.microsoft.com/office/drawing/2014/main" id="{8848A9A1-C1AF-26F3-68BD-A9510344AE93}"/>
              </a:ext>
            </a:extLst>
          </p:cNvPr>
          <p:cNvSpPr>
            <a:spLocks noGrp="1"/>
          </p:cNvSpPr>
          <p:nvPr>
            <p:ph type="sldNum" sz="quarter" idx="5"/>
          </p:nvPr>
        </p:nvSpPr>
        <p:spPr/>
        <p:txBody>
          <a:bodyPr/>
          <a:lstStyle/>
          <a:p>
            <a:fld id="{955D7972-3D0C-4FE3-9B76-3CD89F8C94A1}" type="slidenum">
              <a:rPr lang="en-PH" smtClean="0"/>
              <a:t>32</a:t>
            </a:fld>
            <a:endParaRPr lang="en-PH"/>
          </a:p>
        </p:txBody>
      </p:sp>
    </p:spTree>
    <p:extLst>
      <p:ext uri="{BB962C8B-B14F-4D97-AF65-F5344CB8AC3E}">
        <p14:creationId xmlns:p14="http://schemas.microsoft.com/office/powerpoint/2010/main" val="19666524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C1F74-E129-AA13-5021-8A8C9EBE2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09B98-CE8E-4A74-BAE3-CC8437319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FE3AC-044E-47F9-DC56-003FB72848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https://uxdesign.cc/decision-fatigue-and-ux-a-case-study-c3efbb985007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Decision Fatigue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TOO MUCH OF A GOOD THING IS TOO MUCH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Booking: filters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Netflix homepage with hundreds of titles.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Too many options can </a:t>
            </a:r>
            <a:r>
              <a:rPr lang="en-US" b="1" u="sng" dirty="0"/>
              <a:t>overwhelm</a:t>
            </a:r>
            <a:r>
              <a:rPr lang="en-US" dirty="0"/>
              <a:t> users.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Netflix homepage displays personalized rows of hundreds of movie and TV show titles, including Netflix Originals and licensed content, with a constantly updated and algorithmically-driven selection of content tailored to your viewing habits and personal preferences. While a specific image is not available, the homepage generally features curated sections like "Your Next Watch," genre rows, and recommended titles.</a:t>
            </a:r>
            <a:endParaRPr lang="en-PH" dirty="0"/>
          </a:p>
        </p:txBody>
      </p:sp>
      <p:sp>
        <p:nvSpPr>
          <p:cNvPr id="4" name="Slide Number Placeholder 3">
            <a:extLst>
              <a:ext uri="{FF2B5EF4-FFF2-40B4-BE49-F238E27FC236}">
                <a16:creationId xmlns:a16="http://schemas.microsoft.com/office/drawing/2014/main" id="{1DFDB08E-AAA5-B83D-C833-45A31F22B08B}"/>
              </a:ext>
            </a:extLst>
          </p:cNvPr>
          <p:cNvSpPr>
            <a:spLocks noGrp="1"/>
          </p:cNvSpPr>
          <p:nvPr>
            <p:ph type="sldNum" sz="quarter" idx="5"/>
          </p:nvPr>
        </p:nvSpPr>
        <p:spPr/>
        <p:txBody>
          <a:bodyPr/>
          <a:lstStyle/>
          <a:p>
            <a:fld id="{955D7972-3D0C-4FE3-9B76-3CD89F8C94A1}" type="slidenum">
              <a:rPr lang="en-PH" smtClean="0"/>
              <a:t>33</a:t>
            </a:fld>
            <a:endParaRPr lang="en-PH"/>
          </a:p>
        </p:txBody>
      </p:sp>
    </p:spTree>
    <p:extLst>
      <p:ext uri="{BB962C8B-B14F-4D97-AF65-F5344CB8AC3E}">
        <p14:creationId xmlns:p14="http://schemas.microsoft.com/office/powerpoint/2010/main" val="9257989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EDE58-394E-DB45-FFD1-E53C94DFC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A66E3-BED7-D254-822C-0633B98C13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FF731-9C08-EC50-B421-64AE4D02A62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Scenario: A user visits an online clothing store looking for a pair of jeans. The site presents them with 150 different styles, cuts, and brands.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Solution: Implement filtering and sorting options to help users narrow down choices based on their preferences. For example, filters for size, brand, color, and price can streamline the decision-making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Scenario: A project management tool provides users with 50 different customization settings for their dashboard.</a:t>
            </a:r>
          </a:p>
          <a:p>
            <a:r>
              <a:rPr lang="en-US" sz="1200" b="0" i="0" kern="1200" dirty="0">
                <a:solidFill>
                  <a:schemeClr val="tx1"/>
                </a:solidFill>
                <a:effectLst/>
                <a:latin typeface="+mn-lt"/>
                <a:ea typeface="+mn-ea"/>
                <a:cs typeface="+mn-cs"/>
              </a:rPr>
              <a:t>Impact: While customization offers flexibility, too many settings can confuse users, making the onboarding process daunting.</a:t>
            </a:r>
          </a:p>
          <a:p>
            <a:r>
              <a:rPr lang="en-US" sz="1200" b="0" i="0" kern="1200" dirty="0">
                <a:solidFill>
                  <a:schemeClr val="tx1"/>
                </a:solidFill>
                <a:effectLst/>
                <a:latin typeface="+mn-lt"/>
                <a:ea typeface="+mn-ea"/>
                <a:cs typeface="+mn-cs"/>
              </a:rPr>
              <a:t>Solution: Provide default settings or recommended configurations based on typical user roles or tasks. Progressive disclosure, where advanced options are only revealed when needed, can help manage the complexity.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D0FC9BEB-774E-EC60-BA52-688925F97B9A}"/>
              </a:ext>
            </a:extLst>
          </p:cNvPr>
          <p:cNvSpPr>
            <a:spLocks noGrp="1"/>
          </p:cNvSpPr>
          <p:nvPr>
            <p:ph type="sldNum" sz="quarter" idx="5"/>
          </p:nvPr>
        </p:nvSpPr>
        <p:spPr/>
        <p:txBody>
          <a:bodyPr/>
          <a:lstStyle/>
          <a:p>
            <a:fld id="{955D7972-3D0C-4FE3-9B76-3CD89F8C94A1}" type="slidenum">
              <a:rPr lang="en-PH" smtClean="0"/>
              <a:t>34</a:t>
            </a:fld>
            <a:endParaRPr lang="en-PH"/>
          </a:p>
        </p:txBody>
      </p:sp>
    </p:spTree>
    <p:extLst>
      <p:ext uri="{BB962C8B-B14F-4D97-AF65-F5344CB8AC3E}">
        <p14:creationId xmlns:p14="http://schemas.microsoft.com/office/powerpoint/2010/main" val="2222096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51FD1-9762-01B7-78BB-6FE173DCD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F8816-6D61-7B22-EFC4-34E8B08E27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9E600-FC7E-FA2D-2A94-C25C961663BA}"/>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i="0" kern="1200" dirty="0">
                <a:solidFill>
                  <a:schemeClr val="tx1"/>
                </a:solidFill>
                <a:effectLst/>
                <a:latin typeface="+mn-lt"/>
                <a:ea typeface="+mn-ea"/>
                <a:cs typeface="+mn-cs"/>
              </a:rPr>
              <a:t>Display 5- 10 best sellers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PH" dirty="0"/>
              <a:t>Break down by category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comparison tables, reviews, and ratings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PH" dirty="0"/>
              <a:t>Top Picks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PH" dirty="0"/>
              <a:t>Basic to Advance Options – hide if not needed</a:t>
            </a:r>
          </a:p>
        </p:txBody>
      </p:sp>
      <p:sp>
        <p:nvSpPr>
          <p:cNvPr id="4" name="Slide Number Placeholder 3">
            <a:extLst>
              <a:ext uri="{FF2B5EF4-FFF2-40B4-BE49-F238E27FC236}">
                <a16:creationId xmlns:a16="http://schemas.microsoft.com/office/drawing/2014/main" id="{8E3B0306-02DC-50F2-185A-403BC4D091DE}"/>
              </a:ext>
            </a:extLst>
          </p:cNvPr>
          <p:cNvSpPr>
            <a:spLocks noGrp="1"/>
          </p:cNvSpPr>
          <p:nvPr>
            <p:ph type="sldNum" sz="quarter" idx="5"/>
          </p:nvPr>
        </p:nvSpPr>
        <p:spPr/>
        <p:txBody>
          <a:bodyPr/>
          <a:lstStyle/>
          <a:p>
            <a:fld id="{955D7972-3D0C-4FE3-9B76-3CD89F8C94A1}" type="slidenum">
              <a:rPr lang="en-PH" smtClean="0"/>
              <a:t>35</a:t>
            </a:fld>
            <a:endParaRPr lang="en-PH"/>
          </a:p>
        </p:txBody>
      </p:sp>
    </p:spTree>
    <p:extLst>
      <p:ext uri="{BB962C8B-B14F-4D97-AF65-F5344CB8AC3E}">
        <p14:creationId xmlns:p14="http://schemas.microsoft.com/office/powerpoint/2010/main" val="12183800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EC760-BB9B-A5E4-84BC-D51995B379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626D60-05AD-99F4-3E51-86788FE84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42EB04-2ADA-ECA8-C11C-4992228E2A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Scenario: A user visits an online clothing store looking for a pair of jeans. The site presents them with 150 different styles, cuts, and brands.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Solution: Implement filtering and sorting options to help users narrow down choices based on their preferences. For example, filters for size, brand, color, and price can streamline the decision-making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Scenario: A project management tool provides users with 50 different customization settings for their dashboard.</a:t>
            </a:r>
          </a:p>
          <a:p>
            <a:r>
              <a:rPr lang="en-US" sz="1200" b="0" i="0" kern="1200" dirty="0">
                <a:solidFill>
                  <a:schemeClr val="tx1"/>
                </a:solidFill>
                <a:effectLst/>
                <a:latin typeface="+mn-lt"/>
                <a:ea typeface="+mn-ea"/>
                <a:cs typeface="+mn-cs"/>
              </a:rPr>
              <a:t>Impact: While customization offers flexibility, too many settings can confuse users, making the onboarding process daunting.</a:t>
            </a:r>
          </a:p>
          <a:p>
            <a:r>
              <a:rPr lang="en-US" sz="1200" b="0" i="0" kern="1200" dirty="0">
                <a:solidFill>
                  <a:schemeClr val="tx1"/>
                </a:solidFill>
                <a:effectLst/>
                <a:latin typeface="+mn-lt"/>
                <a:ea typeface="+mn-ea"/>
                <a:cs typeface="+mn-cs"/>
              </a:rPr>
              <a:t>Solution: Provide default settings or recommended configurations based on typical user roles or tasks. Progressive disclosure, where advanced options are only revealed when needed, can help manage the complexity.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BF4DB33F-2718-C7FB-7682-59262D2D5F3F}"/>
              </a:ext>
            </a:extLst>
          </p:cNvPr>
          <p:cNvSpPr>
            <a:spLocks noGrp="1"/>
          </p:cNvSpPr>
          <p:nvPr>
            <p:ph type="sldNum" sz="quarter" idx="5"/>
          </p:nvPr>
        </p:nvSpPr>
        <p:spPr/>
        <p:txBody>
          <a:bodyPr/>
          <a:lstStyle/>
          <a:p>
            <a:fld id="{955D7972-3D0C-4FE3-9B76-3CD89F8C94A1}" type="slidenum">
              <a:rPr lang="en-PH" smtClean="0"/>
              <a:t>36</a:t>
            </a:fld>
            <a:endParaRPr lang="en-PH"/>
          </a:p>
        </p:txBody>
      </p:sp>
    </p:spTree>
    <p:extLst>
      <p:ext uri="{BB962C8B-B14F-4D97-AF65-F5344CB8AC3E}">
        <p14:creationId xmlns:p14="http://schemas.microsoft.com/office/powerpoint/2010/main" val="37445818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88837-1C84-E3DA-EFE7-F6D34E996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9E115-D921-70BD-79D5-476279D60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F1E1F-F75F-6197-662F-47647D80E972}"/>
              </a:ext>
            </a:extLst>
          </p:cNvPr>
          <p:cNvSpPr>
            <a:spLocks noGrp="1"/>
          </p:cNvSpPr>
          <p:nvPr>
            <p:ph type="body" idx="1"/>
          </p:nvPr>
        </p:nvSpPr>
        <p:spPr/>
        <p:txBody>
          <a:bodyPr/>
          <a:lstStyle/>
          <a:p>
            <a:r>
              <a:t>A cognitive bias is a mental shortcut or pattern of thinking that affects how people perceive, interpret and decide, often leading to systematic errors. UX designers can use biases to guide behavior, but must do so ethically.</a:t>
            </a:r>
          </a:p>
          <a:p/>
          <a:p>
            <a:r>
              <a:t>Anchoring: people use the first number they see as a reference point. Showing the original price crossed out next to the sale price makes the sale price feel like a better deal.</a:t>
            </a:r>
          </a:p>
          <a:p/>
          <a:p>
            <a:r>
              <a:t>Other examples:</a:t>
            </a:r>
          </a:p>
          <a:p>
            <a:r>
              <a:t>- Zeigarnik Effect: Duolingo reminds you of an unfinished lesson or your streak. Unfinished tasks nag at us, so we come back.</a:t>
            </a:r>
          </a:p>
          <a:p>
            <a:r>
              <a:t>- Social proof (bandwagon effect): "Popular with guests" or "1,000+ sold" makes people trust what others already chose.</a:t>
            </a:r>
          </a:p>
          <a:p/>
          <a:p>
            <a:r>
              <a:t>Tip: show screenshots of real apps using these biases. They stick better than definitions.</a:t>
            </a:r>
          </a:p>
        </p:txBody>
      </p:sp>
      <p:sp>
        <p:nvSpPr>
          <p:cNvPr id="4" name="Slide Number Placeholder 3">
            <a:extLst>
              <a:ext uri="{FF2B5EF4-FFF2-40B4-BE49-F238E27FC236}">
                <a16:creationId xmlns:a16="http://schemas.microsoft.com/office/drawing/2014/main" id="{1D498637-FDB1-ED9A-8385-1826E9227C6E}"/>
              </a:ext>
            </a:extLst>
          </p:cNvPr>
          <p:cNvSpPr>
            <a:spLocks noGrp="1"/>
          </p:cNvSpPr>
          <p:nvPr>
            <p:ph type="sldNum" sz="quarter" idx="5"/>
          </p:nvPr>
        </p:nvSpPr>
        <p:spPr/>
        <p:txBody>
          <a:bodyPr/>
          <a:lstStyle/>
          <a:p>
            <a:fld id="{955D7972-3D0C-4FE3-9B76-3CD89F8C94A1}" type="slidenum">
              <a:rPr lang="en-PH" smtClean="0"/>
              <a:t>37</a:t>
            </a:fld>
            <a:endParaRPr lang="en-PH"/>
          </a:p>
        </p:txBody>
      </p:sp>
    </p:spTree>
    <p:extLst>
      <p:ext uri="{BB962C8B-B14F-4D97-AF65-F5344CB8AC3E}">
        <p14:creationId xmlns:p14="http://schemas.microsoft.com/office/powerpoint/2010/main" val="36095265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E30B1-CF75-10DC-9ADC-D38E6285C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B9ECF-0262-312D-94CC-F17906523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32BEED-108E-9308-DCBA-354295D0F7EC}"/>
              </a:ext>
            </a:extLst>
          </p:cNvPr>
          <p:cNvSpPr>
            <a:spLocks noGrp="1"/>
          </p:cNvSpPr>
          <p:nvPr>
            <p:ph type="body" idx="1"/>
          </p:nvPr>
        </p:nvSpPr>
        <p:spPr/>
        <p:txBody>
          <a:bodyPr/>
          <a:lstStyle/>
          <a:p>
            <a:r>
              <a:t>A cognitive bias is a mental shortcut or pattern of thinking that affects how people perceive, interpret and decide, often leading to systematic errors. UX designers can use biases to guide behavior, but must do so ethically.</a:t>
            </a:r>
          </a:p>
          <a:p/>
          <a:p>
            <a:r>
              <a:t>Anchoring: people use the first number they see as a reference point. Showing the original price crossed out next to the sale price makes the sale price feel like a better deal.</a:t>
            </a:r>
          </a:p>
          <a:p/>
          <a:p>
            <a:r>
              <a:t>Other examples:</a:t>
            </a:r>
          </a:p>
          <a:p>
            <a:r>
              <a:t>- Zeigarnik Effect: Duolingo reminds you of an unfinished lesson or your streak. Unfinished tasks nag at us, so we come back.</a:t>
            </a:r>
          </a:p>
          <a:p>
            <a:r>
              <a:t>- Social proof (bandwagon effect): "Popular with guests" or "1,000+ sold" makes people trust what others already chose.</a:t>
            </a:r>
          </a:p>
          <a:p/>
          <a:p>
            <a:r>
              <a:t>Tip: show screenshots of real apps using these biases. They stick better than definitions.</a:t>
            </a:r>
          </a:p>
          <a:p/>
          <a:p>
            <a:r>
              <a:t>On this slide: a pricing table. Putting a more expensive plan next to a cheaper one changes how good a deal each plan seems (anchoring and decoy pricing).</a:t>
            </a:r>
          </a:p>
        </p:txBody>
      </p:sp>
      <p:sp>
        <p:nvSpPr>
          <p:cNvPr id="4" name="Slide Number Placeholder 3">
            <a:extLst>
              <a:ext uri="{FF2B5EF4-FFF2-40B4-BE49-F238E27FC236}">
                <a16:creationId xmlns:a16="http://schemas.microsoft.com/office/drawing/2014/main" id="{6F0E2334-4164-D2F8-E781-A9A989492F66}"/>
              </a:ext>
            </a:extLst>
          </p:cNvPr>
          <p:cNvSpPr>
            <a:spLocks noGrp="1"/>
          </p:cNvSpPr>
          <p:nvPr>
            <p:ph type="sldNum" sz="quarter" idx="5"/>
          </p:nvPr>
        </p:nvSpPr>
        <p:spPr/>
        <p:txBody>
          <a:bodyPr/>
          <a:lstStyle/>
          <a:p>
            <a:fld id="{955D7972-3D0C-4FE3-9B76-3CD89F8C94A1}" type="slidenum">
              <a:rPr lang="en-PH" smtClean="0"/>
              <a:t>40</a:t>
            </a:fld>
            <a:endParaRPr lang="en-PH"/>
          </a:p>
        </p:txBody>
      </p:sp>
    </p:spTree>
    <p:extLst>
      <p:ext uri="{BB962C8B-B14F-4D97-AF65-F5344CB8AC3E}">
        <p14:creationId xmlns:p14="http://schemas.microsoft.com/office/powerpoint/2010/main" val="3183849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49546-B920-1F5A-4038-FB01E564B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AF51D-9D75-0FE8-D1D7-5935214C7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E8BE6B-9ADB-3F90-B2C0-2D6D20DBC331}"/>
              </a:ext>
            </a:extLst>
          </p:cNvPr>
          <p:cNvSpPr>
            <a:spLocks noGrp="1"/>
          </p:cNvSpPr>
          <p:nvPr>
            <p:ph type="body" idx="1"/>
          </p:nvPr>
        </p:nvSpPr>
        <p:spPr/>
        <p:txBody>
          <a:bodyPr/>
          <a:lstStyle/>
          <a:p>
            <a:r>
              <a:rPr lang="en-US" dirty="0"/>
              <a:t>Cognitive load in design is the total amount of mental effort, working memory, and cognitive resources required for a user to understand and operate an interface</a:t>
            </a:r>
            <a:r>
              <a:rPr lang="en-US" sz="1200" b="0" i="0" kern="1200" dirty="0">
                <a:solidFill>
                  <a:schemeClr val="tx1"/>
                </a:solidFill>
                <a:effectLst/>
                <a:latin typeface="+mn-lt"/>
                <a:ea typeface="+mn-ea"/>
                <a:cs typeface="+mn-cs"/>
              </a:rPr>
              <a:t>. Originating from psychology, </a:t>
            </a:r>
            <a:br>
              <a:rPr lang="en-US" dirty="0"/>
            </a:br>
            <a:endParaRPr lang="en-US" dirty="0"/>
          </a:p>
          <a:p>
            <a:r>
              <a:rPr lang="en-US" b="1" dirty="0"/>
              <a:t>Cognitive Load in UX</a:t>
            </a:r>
          </a:p>
          <a:p>
            <a:r>
              <a:rPr lang="en-US" b="1" dirty="0"/>
              <a:t>Definition:</a:t>
            </a:r>
            <a:r>
              <a:rPr lang="en-US" dirty="0"/>
              <a:t> Cognitive load is the mental effort required to process information. In UX, minimizing cognitive load means making interfaces </a:t>
            </a:r>
            <a:r>
              <a:rPr lang="en-US" b="1" dirty="0"/>
              <a:t>simple, predictable, and intuitive</a:t>
            </a:r>
            <a:r>
              <a:rPr lang="en-US" dirty="0"/>
              <a:t>, so users don’t get overwhelmed.</a:t>
            </a:r>
          </a:p>
          <a:p>
            <a:endParaRPr lang="en-US" dirty="0"/>
          </a:p>
          <a:p>
            <a:r>
              <a:rPr lang="en-US" dirty="0"/>
              <a:t>GOOGLE SEARCH</a:t>
            </a:r>
            <a:br>
              <a:rPr lang="en-US" dirty="0"/>
            </a:br>
            <a:endParaRPr lang="en-US" dirty="0"/>
          </a:p>
          <a:p>
            <a:r>
              <a:rPr lang="en-US" b="1" dirty="0"/>
              <a:t>1. Hick’s Law</a:t>
            </a:r>
          </a:p>
          <a:p>
            <a:r>
              <a:rPr lang="en-US" b="1" dirty="0"/>
              <a:t>Law of UX:</a:t>
            </a:r>
            <a:r>
              <a:rPr lang="en-US" dirty="0"/>
              <a:t> The time it takes to make a decision increases with the number of options.</a:t>
            </a:r>
          </a:p>
          <a:p>
            <a:r>
              <a:rPr lang="en-US" b="1" dirty="0"/>
              <a:t>Cognitive Load Aspect:</a:t>
            </a:r>
            <a:r>
              <a:rPr lang="en-US" dirty="0"/>
              <a:t> More choices = more mental effort = slower decision-making.</a:t>
            </a:r>
          </a:p>
          <a:p>
            <a:r>
              <a:rPr lang="en-US" b="1" dirty="0"/>
              <a:t>Example:</a:t>
            </a:r>
            <a:endParaRPr lang="en-US" dirty="0"/>
          </a:p>
          <a:p>
            <a:pPr lvl="1"/>
            <a:r>
              <a:rPr lang="en-US" b="1" dirty="0"/>
              <a:t>App:</a:t>
            </a:r>
            <a:r>
              <a:rPr lang="en-US" dirty="0"/>
              <a:t> Netflix</a:t>
            </a:r>
          </a:p>
          <a:p>
            <a:pPr lvl="1"/>
            <a:r>
              <a:rPr lang="en-US" b="1" dirty="0"/>
              <a:t>How It Works:</a:t>
            </a:r>
            <a:r>
              <a:rPr lang="en-US" dirty="0"/>
              <a:t> Instead of showing </a:t>
            </a:r>
            <a:r>
              <a:rPr lang="en-US" i="1" dirty="0"/>
              <a:t>every</a:t>
            </a:r>
            <a:r>
              <a:rPr lang="en-US" dirty="0"/>
              <a:t> movie at once, it highlights curated categories like “Trending” or “Because you watched…”.</a:t>
            </a:r>
          </a:p>
          <a:p>
            <a:pPr lvl="1"/>
            <a:r>
              <a:rPr lang="en-US" b="1" dirty="0"/>
              <a:t>UX Insight:</a:t>
            </a:r>
            <a:r>
              <a:rPr lang="en-US" dirty="0"/>
              <a:t> Reduces cognitive load by limiting options at any given moment.</a:t>
            </a:r>
          </a:p>
          <a:p>
            <a:br>
              <a:rPr lang="en-US" dirty="0"/>
            </a:br>
            <a:endParaRPr lang="en-US" dirty="0"/>
          </a:p>
          <a:p>
            <a:r>
              <a:rPr lang="en-US" b="1" dirty="0"/>
              <a:t>2. Miller’s Law</a:t>
            </a:r>
          </a:p>
          <a:p>
            <a:r>
              <a:rPr lang="en-US" b="1" dirty="0"/>
              <a:t>Law of UX:</a:t>
            </a:r>
            <a:r>
              <a:rPr lang="en-US" dirty="0"/>
              <a:t> Humans can hold </a:t>
            </a:r>
            <a:r>
              <a:rPr lang="en-US" b="1" dirty="0"/>
              <a:t>7 ± 2 items</a:t>
            </a:r>
            <a:r>
              <a:rPr lang="en-US" dirty="0"/>
              <a:t> in working memory at once.</a:t>
            </a:r>
          </a:p>
          <a:p>
            <a:r>
              <a:rPr lang="en-US" b="1" dirty="0"/>
              <a:t>Cognitive Load Aspect:</a:t>
            </a:r>
            <a:r>
              <a:rPr lang="en-US" dirty="0"/>
              <a:t> If you overload the user, they forget things quickly.</a:t>
            </a:r>
          </a:p>
          <a:p>
            <a:r>
              <a:rPr lang="en-US" b="1" dirty="0"/>
              <a:t>Example:</a:t>
            </a:r>
            <a:endParaRPr lang="en-US" dirty="0"/>
          </a:p>
          <a:p>
            <a:pPr lvl="1"/>
            <a:r>
              <a:rPr lang="en-US" b="1" dirty="0"/>
              <a:t>App:</a:t>
            </a:r>
            <a:r>
              <a:rPr lang="en-US" dirty="0"/>
              <a:t> Apple iPhone settings menu</a:t>
            </a:r>
          </a:p>
          <a:p>
            <a:pPr lvl="1"/>
            <a:r>
              <a:rPr lang="en-US" b="1" dirty="0"/>
              <a:t>How It Works:</a:t>
            </a:r>
            <a:r>
              <a:rPr lang="en-US" dirty="0"/>
              <a:t> Settings are grouped logically (e.g., Wi-Fi, Bluetooth, Notifications) instead of dumping everything on one screen.</a:t>
            </a:r>
          </a:p>
          <a:p>
            <a:pPr lvl="1"/>
            <a:r>
              <a:rPr lang="en-US" b="1" dirty="0"/>
              <a:t>UX Insight:</a:t>
            </a:r>
            <a:r>
              <a:rPr lang="en-US" dirty="0"/>
              <a:t> Reduces cognitive load by chunking information.</a:t>
            </a:r>
          </a:p>
          <a:p>
            <a:br>
              <a:rPr lang="en-US" dirty="0"/>
            </a:br>
            <a:endParaRPr lang="en-US" dirty="0"/>
          </a:p>
          <a:p>
            <a:r>
              <a:rPr lang="en-US" b="1" dirty="0"/>
              <a:t>3. Jakob’s Law</a:t>
            </a:r>
          </a:p>
          <a:p>
            <a:r>
              <a:rPr lang="en-US" b="1" dirty="0"/>
              <a:t>Law of UX:</a:t>
            </a:r>
            <a:r>
              <a:rPr lang="en-US" dirty="0"/>
              <a:t> Users prefer your site to work like other sites they already know.</a:t>
            </a:r>
          </a:p>
          <a:p>
            <a:r>
              <a:rPr lang="en-US" b="1" dirty="0"/>
              <a:t>Cognitive Load Aspect:</a:t>
            </a:r>
            <a:r>
              <a:rPr lang="en-US" dirty="0"/>
              <a:t> Familiar patterns reduce the brain’s need to learn new behaviors.</a:t>
            </a:r>
          </a:p>
          <a:p>
            <a:r>
              <a:rPr lang="en-US" b="1" dirty="0"/>
              <a:t>Example:</a:t>
            </a:r>
            <a:endParaRPr lang="en-US" dirty="0"/>
          </a:p>
          <a:p>
            <a:pPr lvl="1"/>
            <a:r>
              <a:rPr lang="en-US" b="1" dirty="0"/>
              <a:t>App/Web:</a:t>
            </a:r>
            <a:r>
              <a:rPr lang="en-US" dirty="0"/>
              <a:t> Most e-commerce sites place the shopping cart icon on the </a:t>
            </a:r>
            <a:r>
              <a:rPr lang="en-US" b="1" dirty="0"/>
              <a:t>top-right corner</a:t>
            </a:r>
            <a:r>
              <a:rPr lang="en-US" dirty="0"/>
              <a:t>.</a:t>
            </a:r>
          </a:p>
          <a:p>
            <a:pPr lvl="1"/>
            <a:r>
              <a:rPr lang="en-US" b="1" dirty="0"/>
              <a:t>UX Insight:</a:t>
            </a:r>
            <a:r>
              <a:rPr lang="en-US" dirty="0"/>
              <a:t> Reduces mental effort—users don’t have to figure out where the cart is.</a:t>
            </a:r>
          </a:p>
          <a:p>
            <a:br>
              <a:rPr lang="en-US" dirty="0"/>
            </a:br>
            <a:endParaRPr lang="en-US" dirty="0"/>
          </a:p>
          <a:p>
            <a:r>
              <a:rPr lang="en-US" b="1" dirty="0"/>
              <a:t>4. Law of </a:t>
            </a:r>
            <a:r>
              <a:rPr lang="en-US" b="1" dirty="0" err="1"/>
              <a:t>Prägnanz</a:t>
            </a:r>
            <a:r>
              <a:rPr lang="en-US" b="1" dirty="0"/>
              <a:t> (Simplicity)</a:t>
            </a:r>
          </a:p>
          <a:p>
            <a:r>
              <a:rPr lang="en-US" b="1" dirty="0"/>
              <a:t>Law of UX:</a:t>
            </a:r>
            <a:r>
              <a:rPr lang="en-US" dirty="0"/>
              <a:t> People perceive and interpret ambiguous or complex images in the simplest form possible.</a:t>
            </a:r>
          </a:p>
          <a:p>
            <a:r>
              <a:rPr lang="en-US" b="1" dirty="0"/>
              <a:t>Cognitive Load Aspect:</a:t>
            </a:r>
            <a:r>
              <a:rPr lang="en-US" dirty="0"/>
              <a:t> Simple layouts reduce mental strain.</a:t>
            </a:r>
          </a:p>
          <a:p>
            <a:r>
              <a:rPr lang="en-US" b="1" dirty="0"/>
              <a:t>Example:</a:t>
            </a:r>
            <a:endParaRPr lang="en-US" dirty="0"/>
          </a:p>
          <a:p>
            <a:pPr lvl="1"/>
            <a:r>
              <a:rPr lang="en-US" b="1" dirty="0"/>
              <a:t>App:</a:t>
            </a:r>
            <a:r>
              <a:rPr lang="en-US" dirty="0"/>
              <a:t> Google Search homepage</a:t>
            </a:r>
          </a:p>
          <a:p>
            <a:pPr lvl="1"/>
            <a:r>
              <a:rPr lang="en-US" b="1" dirty="0"/>
              <a:t>How It Works:</a:t>
            </a:r>
            <a:r>
              <a:rPr lang="en-US" dirty="0"/>
              <a:t> Minimal elements on the page: logo, search bar, and a few buttons.</a:t>
            </a:r>
          </a:p>
          <a:p>
            <a:pPr lvl="1"/>
            <a:r>
              <a:rPr lang="en-US" b="1" dirty="0"/>
              <a:t>UX Insight:</a:t>
            </a:r>
            <a:r>
              <a:rPr lang="en-US" dirty="0"/>
              <a:t> Users focus on the task (searching) rather than figuring out navigation.</a:t>
            </a:r>
          </a:p>
          <a:p>
            <a:br>
              <a:rPr lang="en-US" dirty="0"/>
            </a:br>
            <a:endParaRPr lang="en-US" dirty="0"/>
          </a:p>
        </p:txBody>
      </p:sp>
      <p:sp>
        <p:nvSpPr>
          <p:cNvPr id="4" name="Slide Number Placeholder 3">
            <a:extLst>
              <a:ext uri="{FF2B5EF4-FFF2-40B4-BE49-F238E27FC236}">
                <a16:creationId xmlns:a16="http://schemas.microsoft.com/office/drawing/2014/main" id="{D0ADBCBD-F037-17FA-246D-80E7D87DEE89}"/>
              </a:ext>
            </a:extLst>
          </p:cNvPr>
          <p:cNvSpPr>
            <a:spLocks noGrp="1"/>
          </p:cNvSpPr>
          <p:nvPr>
            <p:ph type="sldNum" sz="quarter" idx="5"/>
          </p:nvPr>
        </p:nvSpPr>
        <p:spPr/>
        <p:txBody>
          <a:bodyPr/>
          <a:lstStyle/>
          <a:p>
            <a:fld id="{955D7972-3D0C-4FE3-9B76-3CD89F8C94A1}" type="slidenum">
              <a:rPr lang="en-PH" smtClean="0"/>
              <a:t>42</a:t>
            </a:fld>
            <a:endParaRPr lang="en-PH"/>
          </a:p>
        </p:txBody>
      </p:sp>
    </p:spTree>
    <p:extLst>
      <p:ext uri="{BB962C8B-B14F-4D97-AF65-F5344CB8AC3E}">
        <p14:creationId xmlns:p14="http://schemas.microsoft.com/office/powerpoint/2010/main" val="41860569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48D50-89C4-8623-8800-1A1EA23D3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861AD-64DA-0E65-E27A-A76E9F4D8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7315-75B8-2CB3-D1C6-A7E5312EA8DC}"/>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Reduce Visual Clutter:</a:t>
            </a:r>
            <a:r>
              <a:rPr lang="en-US" sz="1200" b="0" i="0" kern="1200" dirty="0">
                <a:solidFill>
                  <a:schemeClr val="tx1"/>
                </a:solidFill>
                <a:effectLst/>
                <a:latin typeface="+mn-lt"/>
                <a:ea typeface="+mn-ea"/>
                <a:cs typeface="+mn-cs"/>
              </a:rPr>
              <a:t> Remove unnecessary elements to prevent distraction.</a:t>
            </a:r>
          </a:p>
          <a:p>
            <a:r>
              <a:rPr lang="en-US" sz="1200" b="1" i="0" kern="1200" dirty="0">
                <a:solidFill>
                  <a:schemeClr val="tx1"/>
                </a:solidFill>
                <a:effectLst/>
                <a:latin typeface="+mn-lt"/>
                <a:ea typeface="+mn-ea"/>
                <a:cs typeface="+mn-cs"/>
              </a:rPr>
              <a:t>Use Existing Mental Models:</a:t>
            </a:r>
            <a:r>
              <a:rPr lang="en-US" sz="1200" b="0" i="0" kern="1200" dirty="0">
                <a:solidFill>
                  <a:schemeClr val="tx1"/>
                </a:solidFill>
                <a:effectLst/>
                <a:latin typeface="+mn-lt"/>
                <a:ea typeface="+mn-ea"/>
                <a:cs typeface="+mn-cs"/>
              </a:rPr>
              <a:t> Follow conventions like placing search bars at the top right or using familiar icons.</a:t>
            </a:r>
          </a:p>
          <a:p>
            <a:r>
              <a:rPr lang="en-US" sz="1200" b="1" i="0" kern="1200" dirty="0">
                <a:solidFill>
                  <a:schemeClr val="tx1"/>
                </a:solidFill>
                <a:effectLst/>
                <a:latin typeface="+mn-lt"/>
                <a:ea typeface="+mn-ea"/>
                <a:cs typeface="+mn-cs"/>
              </a:rPr>
              <a:t>Chunk Information:</a:t>
            </a:r>
            <a:r>
              <a:rPr lang="en-US" sz="1200" b="0" i="0" kern="1200" dirty="0">
                <a:solidFill>
                  <a:schemeClr val="tx1"/>
                </a:solidFill>
                <a:effectLst/>
                <a:latin typeface="+mn-lt"/>
                <a:ea typeface="+mn-ea"/>
                <a:cs typeface="+mn-cs"/>
              </a:rPr>
              <a:t> Break down long forms or large amounts of text into smaller, manageable sections.</a:t>
            </a:r>
          </a:p>
          <a:p>
            <a:r>
              <a:rPr lang="en-US" sz="1200" b="1" i="0" kern="1200" dirty="0">
                <a:solidFill>
                  <a:schemeClr val="tx1"/>
                </a:solidFill>
                <a:effectLst/>
                <a:latin typeface="+mn-lt"/>
                <a:ea typeface="+mn-ea"/>
                <a:cs typeface="+mn-cs"/>
              </a:rPr>
              <a:t>Offload Tasks:</a:t>
            </a:r>
            <a:r>
              <a:rPr lang="en-US" sz="1200" b="0" i="0" kern="1200" dirty="0">
                <a:solidFill>
                  <a:schemeClr val="tx1"/>
                </a:solidFill>
                <a:effectLst/>
                <a:latin typeface="+mn-lt"/>
                <a:ea typeface="+mn-ea"/>
                <a:cs typeface="+mn-cs"/>
              </a:rPr>
              <a:t> Allow the system to remember information (e.g., autofill, remembering login sessions). </a:t>
            </a:r>
          </a:p>
        </p:txBody>
      </p:sp>
      <p:sp>
        <p:nvSpPr>
          <p:cNvPr id="4" name="Slide Number Placeholder 3">
            <a:extLst>
              <a:ext uri="{FF2B5EF4-FFF2-40B4-BE49-F238E27FC236}">
                <a16:creationId xmlns:a16="http://schemas.microsoft.com/office/drawing/2014/main" id="{8C725B89-885C-DBA2-FDD7-63019F382F31}"/>
              </a:ext>
            </a:extLst>
          </p:cNvPr>
          <p:cNvSpPr>
            <a:spLocks noGrp="1"/>
          </p:cNvSpPr>
          <p:nvPr>
            <p:ph type="sldNum" sz="quarter" idx="5"/>
          </p:nvPr>
        </p:nvSpPr>
        <p:spPr/>
        <p:txBody>
          <a:bodyPr/>
          <a:lstStyle/>
          <a:p>
            <a:fld id="{955D7972-3D0C-4FE3-9B76-3CD89F8C94A1}" type="slidenum">
              <a:rPr lang="en-PH" smtClean="0"/>
              <a:t>44</a:t>
            </a:fld>
            <a:endParaRPr lang="en-PH"/>
          </a:p>
        </p:txBody>
      </p:sp>
    </p:spTree>
    <p:extLst>
      <p:ext uri="{BB962C8B-B14F-4D97-AF65-F5344CB8AC3E}">
        <p14:creationId xmlns:p14="http://schemas.microsoft.com/office/powerpoint/2010/main" val="24514370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17427-3D01-AFF2-8ECA-E6D27CCBC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22A0E-E980-29BD-D852-CBA66BA5A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234B0-92EE-E086-8B02-7D9BB160A102}"/>
              </a:ext>
            </a:extLst>
          </p:cNvPr>
          <p:cNvSpPr>
            <a:spLocks noGrp="1"/>
          </p:cNvSpPr>
          <p:nvPr>
            <p:ph type="body" idx="1"/>
          </p:nvPr>
        </p:nvSpPr>
        <p:spPr/>
        <p:txBody>
          <a:bodyPr/>
          <a:lstStyle/>
          <a:p>
            <a:r>
              <a:t>In plain terms: if the system responds within about 0.4 seconds, the interaction feels instant and users stay in flow. If it takes longer, users get distracted, frustrated, or think the app is lagging.</a:t>
            </a:r>
          </a:p>
          <a:p/>
          <a:p>
            <a:r>
              <a:t>Example: Google suggests searches as you type. If the suggestions took 2 to 3 seconds to load, people would ignore them and abandon the feature.</a:t>
            </a:r>
          </a:p>
        </p:txBody>
      </p:sp>
      <p:sp>
        <p:nvSpPr>
          <p:cNvPr id="4" name="Slide Number Placeholder 3">
            <a:extLst>
              <a:ext uri="{FF2B5EF4-FFF2-40B4-BE49-F238E27FC236}">
                <a16:creationId xmlns:a16="http://schemas.microsoft.com/office/drawing/2014/main" id="{C95E1530-D10F-FA2A-16C0-E3509DD5F224}"/>
              </a:ext>
            </a:extLst>
          </p:cNvPr>
          <p:cNvSpPr>
            <a:spLocks noGrp="1"/>
          </p:cNvSpPr>
          <p:nvPr>
            <p:ph type="sldNum" sz="quarter" idx="5"/>
          </p:nvPr>
        </p:nvSpPr>
        <p:spPr/>
        <p:txBody>
          <a:bodyPr/>
          <a:lstStyle/>
          <a:p>
            <a:fld id="{955D7972-3D0C-4FE3-9B76-3CD89F8C94A1}" type="slidenum">
              <a:rPr lang="en-PH" smtClean="0"/>
              <a:t>45</a:t>
            </a:fld>
            <a:endParaRPr lang="en-PH"/>
          </a:p>
        </p:txBody>
      </p:sp>
    </p:spTree>
    <p:extLst>
      <p:ext uri="{BB962C8B-B14F-4D97-AF65-F5344CB8AC3E}">
        <p14:creationId xmlns:p14="http://schemas.microsoft.com/office/powerpoint/2010/main" val="27425931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DAF5D-610D-095B-2319-745DFEFD2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BB996B-4F8B-227B-62AA-A2489EF17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4905A8-13A1-0F7B-01C0-87A60CE0D8B8}"/>
              </a:ext>
            </a:extLst>
          </p:cNvPr>
          <p:cNvSpPr>
            <a:spLocks noGrp="1"/>
          </p:cNvSpPr>
          <p:nvPr>
            <p:ph type="body" idx="1"/>
          </p:nvPr>
        </p:nvSpPr>
        <p:spPr/>
        <p:txBody>
          <a:bodyPr/>
          <a:lstStyle/>
          <a:p>
            <a:r>
              <a:t>In plain terms: if the system responds within about 0.4 seconds, the interaction feels instant and users stay in flow. If it takes longer, users get distracted, frustrated, or think the app is lagging.</a:t>
            </a:r>
          </a:p>
          <a:p/>
          <a:p>
            <a:r>
              <a:t>When a delay can't be avoided, show that something is happening (loading dots, progress bars, skeleton screens). Waiting feels shorter when you can see progress.</a:t>
            </a:r>
          </a:p>
        </p:txBody>
      </p:sp>
      <p:sp>
        <p:nvSpPr>
          <p:cNvPr id="4" name="Slide Number Placeholder 3">
            <a:extLst>
              <a:ext uri="{FF2B5EF4-FFF2-40B4-BE49-F238E27FC236}">
                <a16:creationId xmlns:a16="http://schemas.microsoft.com/office/drawing/2014/main" id="{3E55857B-2F4D-E1C7-AD9E-2BCE9B9AA754}"/>
              </a:ext>
            </a:extLst>
          </p:cNvPr>
          <p:cNvSpPr>
            <a:spLocks noGrp="1"/>
          </p:cNvSpPr>
          <p:nvPr>
            <p:ph type="sldNum" sz="quarter" idx="5"/>
          </p:nvPr>
        </p:nvSpPr>
        <p:spPr/>
        <p:txBody>
          <a:bodyPr/>
          <a:lstStyle/>
          <a:p>
            <a:fld id="{955D7972-3D0C-4FE3-9B76-3CD89F8C94A1}" type="slidenum">
              <a:rPr lang="en-PH" smtClean="0"/>
              <a:t>46</a:t>
            </a:fld>
            <a:endParaRPr lang="en-PH"/>
          </a:p>
        </p:txBody>
      </p:sp>
    </p:spTree>
    <p:extLst>
      <p:ext uri="{BB962C8B-B14F-4D97-AF65-F5344CB8AC3E}">
        <p14:creationId xmlns:p14="http://schemas.microsoft.com/office/powerpoint/2010/main" val="29794202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6DCF0-FD9C-4C3D-AC4D-E203F0718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87A58-33A5-D112-DE3B-66F7D26FC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75B588-6F44-8175-8D18-E4ACF488721E}"/>
              </a:ext>
            </a:extLst>
          </p:cNvPr>
          <p:cNvSpPr>
            <a:spLocks noGrp="1"/>
          </p:cNvSpPr>
          <p:nvPr>
            <p:ph type="body" idx="1"/>
          </p:nvPr>
        </p:nvSpPr>
        <p:spPr/>
        <p:txBody>
          <a:bodyPr/>
          <a:lstStyle/>
          <a:p>
            <a:r>
              <a:t>In plain terms: if the system responds within about 0.4 seconds, the interaction feels instant and users stay in flow. If it takes longer, users get distracted, frustrated, or think the app is lagging.</a:t>
            </a:r>
          </a:p>
        </p:txBody>
      </p:sp>
      <p:sp>
        <p:nvSpPr>
          <p:cNvPr id="4" name="Slide Number Placeholder 3">
            <a:extLst>
              <a:ext uri="{FF2B5EF4-FFF2-40B4-BE49-F238E27FC236}">
                <a16:creationId xmlns:a16="http://schemas.microsoft.com/office/drawing/2014/main" id="{3CC50B49-C66E-1425-9B42-5EC7F174EE99}"/>
              </a:ext>
            </a:extLst>
          </p:cNvPr>
          <p:cNvSpPr>
            <a:spLocks noGrp="1"/>
          </p:cNvSpPr>
          <p:nvPr>
            <p:ph type="sldNum" sz="quarter" idx="5"/>
          </p:nvPr>
        </p:nvSpPr>
        <p:spPr/>
        <p:txBody>
          <a:bodyPr/>
          <a:lstStyle/>
          <a:p>
            <a:fld id="{955D7972-3D0C-4FE3-9B76-3CD89F8C94A1}" type="slidenum">
              <a:rPr lang="en-PH" smtClean="0"/>
              <a:t>47</a:t>
            </a:fld>
            <a:endParaRPr lang="en-PH"/>
          </a:p>
        </p:txBody>
      </p:sp>
    </p:spTree>
    <p:extLst>
      <p:ext uri="{BB962C8B-B14F-4D97-AF65-F5344CB8AC3E}">
        <p14:creationId xmlns:p14="http://schemas.microsoft.com/office/powerpoint/2010/main" val="41819793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426C6-75F4-BBD0-88F2-36773A588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C66E1-601E-E98C-AF69-75F07BA68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2A4F63-BE88-996E-9A0E-99A2E28A0D65}"/>
              </a:ext>
            </a:extLst>
          </p:cNvPr>
          <p:cNvSpPr>
            <a:spLocks noGrp="1"/>
          </p:cNvSpPr>
          <p:nvPr>
            <p:ph type="body" idx="1"/>
          </p:nvPr>
        </p:nvSpPr>
        <p:spPr/>
        <p:txBody>
          <a:bodyPr/>
          <a:lstStyle/>
          <a:p>
            <a:r>
              <a:t>In plain terms: if the system responds within about 0.4 seconds, the interaction feels instant and users stay in flow. If it takes longer, users get distracted, frustrated, or think the app is lagging.</a:t>
            </a:r>
          </a:p>
          <a:p/>
          <a:p>
            <a:r>
              <a:t>Example: when you are offline, Chrome gives you the dinosaur game. A frustrating wait becomes something to do.</a:t>
            </a:r>
          </a:p>
        </p:txBody>
      </p:sp>
      <p:sp>
        <p:nvSpPr>
          <p:cNvPr id="4" name="Slide Number Placeholder 3">
            <a:extLst>
              <a:ext uri="{FF2B5EF4-FFF2-40B4-BE49-F238E27FC236}">
                <a16:creationId xmlns:a16="http://schemas.microsoft.com/office/drawing/2014/main" id="{C8F99D6C-1E63-0340-C14F-FC21C1F3D331}"/>
              </a:ext>
            </a:extLst>
          </p:cNvPr>
          <p:cNvSpPr>
            <a:spLocks noGrp="1"/>
          </p:cNvSpPr>
          <p:nvPr>
            <p:ph type="sldNum" sz="quarter" idx="5"/>
          </p:nvPr>
        </p:nvSpPr>
        <p:spPr/>
        <p:txBody>
          <a:bodyPr/>
          <a:lstStyle/>
          <a:p>
            <a:fld id="{955D7972-3D0C-4FE3-9B76-3CD89F8C94A1}" type="slidenum">
              <a:rPr lang="en-PH" smtClean="0"/>
              <a:t>48</a:t>
            </a:fld>
            <a:endParaRPr lang="en-PH"/>
          </a:p>
        </p:txBody>
      </p:sp>
    </p:spTree>
    <p:extLst>
      <p:ext uri="{BB962C8B-B14F-4D97-AF65-F5344CB8AC3E}">
        <p14:creationId xmlns:p14="http://schemas.microsoft.com/office/powerpoint/2010/main" val="23972847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B237F-A00F-B9C3-7174-613E51145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343C0-4CFF-BAF1-FE7B-77AE5DAA4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D53B6-3EA1-A1ED-6AAA-23361A8069E3}"/>
              </a:ext>
            </a:extLst>
          </p:cNvPr>
          <p:cNvSpPr>
            <a:spLocks noGrp="1"/>
          </p:cNvSpPr>
          <p:nvPr>
            <p:ph type="body" idx="1"/>
          </p:nvPr>
        </p:nvSpPr>
        <p:spPr/>
        <p:txBody>
          <a:bodyPr/>
          <a:lstStyle/>
          <a:p>
            <a:r>
              <a:t>In plain terms: if the system responds within about 0.4 seconds, the interaction feels instant and users stay in flow. If it takes longer, users get distracted, frustrated, or think the app is lagging.</a:t>
            </a:r>
          </a:p>
          <a:p/>
          <a:p>
            <a:r>
              <a:t>Example: Amazon's 1-Click button. Buying takes one tap, with no checkout steps to wait through.</a:t>
            </a:r>
          </a:p>
        </p:txBody>
      </p:sp>
      <p:sp>
        <p:nvSpPr>
          <p:cNvPr id="4" name="Slide Number Placeholder 3">
            <a:extLst>
              <a:ext uri="{FF2B5EF4-FFF2-40B4-BE49-F238E27FC236}">
                <a16:creationId xmlns:a16="http://schemas.microsoft.com/office/drawing/2014/main" id="{2B0697C0-E8B0-7119-4FCA-C0622058013A}"/>
              </a:ext>
            </a:extLst>
          </p:cNvPr>
          <p:cNvSpPr>
            <a:spLocks noGrp="1"/>
          </p:cNvSpPr>
          <p:nvPr>
            <p:ph type="sldNum" sz="quarter" idx="5"/>
          </p:nvPr>
        </p:nvSpPr>
        <p:spPr/>
        <p:txBody>
          <a:bodyPr/>
          <a:lstStyle/>
          <a:p>
            <a:fld id="{955D7972-3D0C-4FE3-9B76-3CD89F8C94A1}" type="slidenum">
              <a:rPr lang="en-PH" smtClean="0"/>
              <a:t>49</a:t>
            </a:fld>
            <a:endParaRPr lang="en-PH"/>
          </a:p>
        </p:txBody>
      </p:sp>
    </p:spTree>
    <p:extLst>
      <p:ext uri="{BB962C8B-B14F-4D97-AF65-F5344CB8AC3E}">
        <p14:creationId xmlns:p14="http://schemas.microsoft.com/office/powerpoint/2010/main" val="19303012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020BA-309D-DC03-56A0-EC7ADF40A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6A2C3-CF0C-5AD7-6682-ED3293891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AB919-5060-5C52-541D-DC8FDF5D2B2E}"/>
              </a:ext>
            </a:extLst>
          </p:cNvPr>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Size</a:t>
            </a:r>
            <a:r>
              <a:rPr lang="en-US" sz="1200" b="0" i="0" kern="1200" dirty="0">
                <a:solidFill>
                  <a:schemeClr val="tx1"/>
                </a:solidFill>
                <a:effectLst/>
                <a:latin typeface="+mn-lt"/>
                <a:ea typeface="+mn-ea"/>
                <a:cs typeface="+mn-cs"/>
              </a:rPr>
              <a:t> — UI components need to be distinct, clickable, and clear</a:t>
            </a:r>
          </a:p>
          <a:p>
            <a:pPr fontAlgn="base"/>
            <a:r>
              <a:rPr lang="en-US" sz="1200" b="1" i="0" kern="1200" dirty="0">
                <a:solidFill>
                  <a:schemeClr val="tx1"/>
                </a:solidFill>
                <a:effectLst/>
                <a:latin typeface="+mn-lt"/>
                <a:ea typeface="+mn-ea"/>
                <a:cs typeface="+mn-cs"/>
              </a:rPr>
              <a:t>Effort</a:t>
            </a:r>
            <a:r>
              <a:rPr lang="en-US" sz="1200" b="0" i="0" kern="1200" dirty="0">
                <a:solidFill>
                  <a:schemeClr val="tx1"/>
                </a:solidFill>
                <a:effectLst/>
                <a:latin typeface="+mn-lt"/>
                <a:ea typeface="+mn-ea"/>
                <a:cs typeface="+mn-cs"/>
              </a:rPr>
              <a:t> — Use prime and magic pixels to your advantage, and make your user interface elements easy to locate and interact with</a:t>
            </a:r>
          </a:p>
          <a:p>
            <a:pPr fontAlgn="base"/>
            <a:r>
              <a:rPr lang="en-US" sz="1200" b="1" i="0" kern="1200" dirty="0">
                <a:solidFill>
                  <a:schemeClr val="tx1"/>
                </a:solidFill>
                <a:effectLst/>
                <a:latin typeface="+mn-lt"/>
                <a:ea typeface="+mn-ea"/>
                <a:cs typeface="+mn-cs"/>
              </a:rPr>
              <a:t>Distance</a:t>
            </a:r>
            <a:r>
              <a:rPr lang="en-US" sz="1200" b="0" i="0" kern="1200" dirty="0">
                <a:solidFill>
                  <a:schemeClr val="tx1"/>
                </a:solidFill>
                <a:effectLst/>
                <a:latin typeface="+mn-lt"/>
                <a:ea typeface="+mn-ea"/>
                <a:cs typeface="+mn-cs"/>
              </a:rPr>
              <a:t> — Consider the distance between elements, and use size and effort in conjunction with distance to produce a visually appealing and functional experience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15C1DBFE-E81F-15DB-1F4E-B9863DDA6507}"/>
              </a:ext>
            </a:extLst>
          </p:cNvPr>
          <p:cNvSpPr>
            <a:spLocks noGrp="1"/>
          </p:cNvSpPr>
          <p:nvPr>
            <p:ph type="sldNum" sz="quarter" idx="5"/>
          </p:nvPr>
        </p:nvSpPr>
        <p:spPr/>
        <p:txBody>
          <a:bodyPr/>
          <a:lstStyle/>
          <a:p>
            <a:fld id="{955D7972-3D0C-4FE3-9B76-3CD89F8C94A1}" type="slidenum">
              <a:rPr lang="en-PH" smtClean="0"/>
              <a:t>50</a:t>
            </a:fld>
            <a:endParaRPr lang="en-PH"/>
          </a:p>
        </p:txBody>
      </p:sp>
    </p:spTree>
    <p:extLst>
      <p:ext uri="{BB962C8B-B14F-4D97-AF65-F5344CB8AC3E}">
        <p14:creationId xmlns:p14="http://schemas.microsoft.com/office/powerpoint/2010/main" val="12574025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AF97-AAB7-FE83-7149-7CDB5E8F3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2030E-55AC-4065-2AEE-602C81F7EF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A36249-BA1E-985D-00D2-A5A84490A12F}"/>
              </a:ext>
            </a:extLst>
          </p:cNvPr>
          <p:cNvSpPr>
            <a:spLocks noGrp="1"/>
          </p:cNvSpPr>
          <p:nvPr>
            <p:ph type="body" idx="1"/>
          </p:nvPr>
        </p:nvSpPr>
        <p:spPr/>
        <p:txBody>
          <a:bodyPr/>
          <a:lstStyle/>
          <a:p>
            <a:r>
              <a:t>UX goal: make important actions easy to hit by making them bigger, closer, or both.</a:t>
            </a:r>
          </a:p>
          <a:p/>
          <a:p>
            <a:r>
              <a:t>Fitts's Law explains why big, close, frequently used buttons are easy to hit. In UX we don't just make things look nice; we design them to be easy to reach and tap.</a:t>
            </a:r>
          </a:p>
          <a:p>
            <a:r>
              <a:t>Example: the spacebar is the biggest key because we hit it the most.</a:t>
            </a:r>
          </a:p>
        </p:txBody>
      </p:sp>
      <p:sp>
        <p:nvSpPr>
          <p:cNvPr id="4" name="Slide Number Placeholder 3">
            <a:extLst>
              <a:ext uri="{FF2B5EF4-FFF2-40B4-BE49-F238E27FC236}">
                <a16:creationId xmlns:a16="http://schemas.microsoft.com/office/drawing/2014/main" id="{B7D48E87-A396-AC2C-7A6F-6C68CE0054BA}"/>
              </a:ext>
            </a:extLst>
          </p:cNvPr>
          <p:cNvSpPr>
            <a:spLocks noGrp="1"/>
          </p:cNvSpPr>
          <p:nvPr>
            <p:ph type="sldNum" sz="quarter" idx="5"/>
          </p:nvPr>
        </p:nvSpPr>
        <p:spPr/>
        <p:txBody>
          <a:bodyPr/>
          <a:lstStyle/>
          <a:p>
            <a:fld id="{955D7972-3D0C-4FE3-9B76-3CD89F8C94A1}" type="slidenum">
              <a:rPr lang="en-PH" smtClean="0"/>
              <a:t>51</a:t>
            </a:fld>
            <a:endParaRPr lang="en-PH"/>
          </a:p>
        </p:txBody>
      </p:sp>
    </p:spTree>
    <p:extLst>
      <p:ext uri="{BB962C8B-B14F-4D97-AF65-F5344CB8AC3E}">
        <p14:creationId xmlns:p14="http://schemas.microsoft.com/office/powerpoint/2010/main" val="8037521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2235A-539A-AF68-FA53-4042C874C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3BD08-C452-0239-5C46-F92889A00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91975-1BF9-94B0-926E-BF051E69B556}"/>
              </a:ext>
            </a:extLst>
          </p:cNvPr>
          <p:cNvSpPr>
            <a:spLocks noGrp="1"/>
          </p:cNvSpPr>
          <p:nvPr>
            <p:ph type="body" idx="1"/>
          </p:nvPr>
        </p:nvSpPr>
        <p:spPr/>
        <p:txBody>
          <a:bodyPr/>
          <a:lstStyle/>
          <a:p>
            <a:r>
              <a:t>UX goal: make important actions easy to hit by making them bigger, closer, or both.</a:t>
            </a:r>
          </a:p>
          <a:p/>
          <a:p>
            <a:r>
              <a:t>Fitts's Law explains why big, close, frequently used buttons are easy to hit. In UX we don't just make things look nice; we design them to be easy to reach and tap.</a:t>
            </a:r>
          </a:p>
          <a:p>
            <a:r>
              <a:t>Example: the spacebar is the biggest key because we hit it the most.</a:t>
            </a:r>
          </a:p>
          <a:p/>
          <a:p>
            <a:r>
              <a:t>The chart: Steven Hoober's research found that about 49% of people hold their phone in one hand, 36% cradle it, and 15% use two hands. Put key actions where the thumb can reach.</a:t>
            </a:r>
          </a:p>
        </p:txBody>
      </p:sp>
      <p:sp>
        <p:nvSpPr>
          <p:cNvPr id="4" name="Slide Number Placeholder 3">
            <a:extLst>
              <a:ext uri="{FF2B5EF4-FFF2-40B4-BE49-F238E27FC236}">
                <a16:creationId xmlns:a16="http://schemas.microsoft.com/office/drawing/2014/main" id="{1063604A-8B57-D980-DD33-AA1376AB2EDD}"/>
              </a:ext>
            </a:extLst>
          </p:cNvPr>
          <p:cNvSpPr>
            <a:spLocks noGrp="1"/>
          </p:cNvSpPr>
          <p:nvPr>
            <p:ph type="sldNum" sz="quarter" idx="5"/>
          </p:nvPr>
        </p:nvSpPr>
        <p:spPr/>
        <p:txBody>
          <a:bodyPr/>
          <a:lstStyle/>
          <a:p>
            <a:fld id="{955D7972-3D0C-4FE3-9B76-3CD89F8C94A1}" type="slidenum">
              <a:rPr lang="en-PH" smtClean="0"/>
              <a:t>52</a:t>
            </a:fld>
            <a:endParaRPr lang="en-PH"/>
          </a:p>
        </p:txBody>
      </p:sp>
    </p:spTree>
    <p:extLst>
      <p:ext uri="{BB962C8B-B14F-4D97-AF65-F5344CB8AC3E}">
        <p14:creationId xmlns:p14="http://schemas.microsoft.com/office/powerpoint/2010/main" val="22928471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 for Fingers, Touch, and People (Steven Hoober, UXmatters):</a:t>
            </a:r>
          </a:p>
          <a:p>
            <a:r>
              <a:t>https://www.uxmatters.com/mt/archives/2017/03/design-for-fingers-touch-and-people-part-1.php</a:t>
            </a:r>
          </a:p>
          <a:p/>
          <a:p>
            <a:r>
              <a:t>Primary content and functions go in the center, secondary actions and tabs along the edges, tertiary functions behind menus.</a:t>
            </a:r>
          </a:p>
        </p:txBody>
      </p:sp>
      <p:sp>
        <p:nvSpPr>
          <p:cNvPr id="4" name="Slide Number Placeholder 3"/>
          <p:cNvSpPr>
            <a:spLocks noGrp="1"/>
          </p:cNvSpPr>
          <p:nvPr>
            <p:ph type="sldNum" sz="quarter" idx="5"/>
          </p:nvPr>
        </p:nvSpPr>
        <p:spPr/>
        <p:txBody>
          <a:bodyPr/>
          <a:lstStyle/>
          <a:p>
            <a:fld id="{955D7972-3D0C-4FE3-9B76-3CD89F8C94A1}" type="slidenum">
              <a:rPr lang="en-PH" smtClean="0"/>
              <a:t>54</a:t>
            </a:fld>
            <a:endParaRPr lang="en-PH"/>
          </a:p>
        </p:txBody>
      </p:sp>
    </p:spTree>
    <p:extLst>
      <p:ext uri="{BB962C8B-B14F-4D97-AF65-F5344CB8AC3E}">
        <p14:creationId xmlns:p14="http://schemas.microsoft.com/office/powerpoint/2010/main" val="21961788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33DF8-7461-A06D-45D2-381AE98AE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A4468-98D0-B0F4-5994-064B70F707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933BB4-0F63-6B9E-CDD8-790A0755CA98}"/>
              </a:ext>
            </a:extLst>
          </p:cNvPr>
          <p:cNvSpPr>
            <a:spLocks noGrp="1"/>
          </p:cNvSpPr>
          <p:nvPr>
            <p:ph type="body" idx="1"/>
          </p:nvPr>
        </p:nvSpPr>
        <p:spPr/>
        <p:txBody>
          <a:bodyPr/>
          <a:lstStyle/>
          <a:p>
            <a:r>
              <a:rPr lang="en-US" dirty="0"/>
              <a:t>Flow in UX happens when the user is so engaged in an interaction that they move smoothly from one step to another without friction or interruption.</a:t>
            </a:r>
          </a:p>
          <a:p>
            <a:r>
              <a:rPr lang="en-US" dirty="0"/>
              <a:t>It’s based on Mihály </a:t>
            </a:r>
            <a:r>
              <a:rPr lang="en-US" dirty="0" err="1"/>
              <a:t>Csíkszentmihályi’s</a:t>
            </a:r>
            <a:r>
              <a:rPr lang="en-US" dirty="0"/>
              <a:t> psychology of “flow” — that </a:t>
            </a:r>
            <a:r>
              <a:rPr lang="en-US" i="1" dirty="0"/>
              <a:t>sweet spot</a:t>
            </a:r>
            <a:r>
              <a:rPr lang="en-US" dirty="0"/>
              <a:t> where challenge and skill balance, keeping users immersed.</a:t>
            </a:r>
          </a:p>
          <a:p>
            <a:r>
              <a:rPr lang="en-US" dirty="0"/>
              <a:t>In UX, this means: no confusing steps, no unnecessary distractions, no cognitive overload.</a:t>
            </a:r>
          </a:p>
          <a:p>
            <a:endParaRPr lang="en-US" dirty="0"/>
          </a:p>
          <a:p>
            <a:r>
              <a:rPr lang="en-US" dirty="0"/>
              <a:t>Netflix – autoplay, skip intro</a:t>
            </a:r>
          </a:p>
          <a:p>
            <a:endParaRPr lang="en-US" dirty="0"/>
          </a:p>
          <a:p>
            <a:endParaRPr lang="en-US" dirty="0"/>
          </a:p>
          <a:p>
            <a:r>
              <a:rPr lang="en-US" dirty="0"/>
              <a:t>Flow in UX is about keeping users in the “zone.” Whenever an app feels so smooth you lose track of time, that’s flow working its magic.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D879A60C-14F3-7ADF-A39C-94F2D9FCCAB9}"/>
              </a:ext>
            </a:extLst>
          </p:cNvPr>
          <p:cNvSpPr>
            <a:spLocks noGrp="1"/>
          </p:cNvSpPr>
          <p:nvPr>
            <p:ph type="sldNum" sz="quarter" idx="5"/>
          </p:nvPr>
        </p:nvSpPr>
        <p:spPr/>
        <p:txBody>
          <a:bodyPr/>
          <a:lstStyle/>
          <a:p>
            <a:fld id="{955D7972-3D0C-4FE3-9B76-3CD89F8C94A1}" type="slidenum">
              <a:rPr lang="en-PH" smtClean="0"/>
              <a:t>55</a:t>
            </a:fld>
            <a:endParaRPr lang="en-PH"/>
          </a:p>
        </p:txBody>
      </p:sp>
    </p:spTree>
    <p:extLst>
      <p:ext uri="{BB962C8B-B14F-4D97-AF65-F5344CB8AC3E}">
        <p14:creationId xmlns:p14="http://schemas.microsoft.com/office/powerpoint/2010/main" val="13952112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535E7-760C-745A-983F-C6EA6519FF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5C87E-D121-7E5E-C2A6-FD0B64409E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6FA3E5-AF60-CCF4-0B6B-A5D271AFCE31}"/>
              </a:ext>
            </a:extLst>
          </p:cNvPr>
          <p:cNvSpPr>
            <a:spLocks noGrp="1"/>
          </p:cNvSpPr>
          <p:nvPr>
            <p:ph type="body" idx="1"/>
          </p:nvPr>
        </p:nvSpPr>
        <p:spPr/>
        <p:txBody>
          <a:bodyPr/>
          <a:lstStyle/>
          <a:p>
            <a:r>
              <a:rPr lang="en-US" dirty="0"/>
              <a:t>Flow in UX happens when the user is so engaged in an interaction that they move smoothly from one step to another without friction or interruption.</a:t>
            </a:r>
          </a:p>
          <a:p>
            <a:r>
              <a:rPr lang="en-US" dirty="0"/>
              <a:t>It’s based on Mihály </a:t>
            </a:r>
            <a:r>
              <a:rPr lang="en-US" dirty="0" err="1"/>
              <a:t>Csíkszentmihályi’s</a:t>
            </a:r>
            <a:r>
              <a:rPr lang="en-US" dirty="0"/>
              <a:t> psychology of “flow” — that </a:t>
            </a:r>
            <a:r>
              <a:rPr lang="en-US" i="1" dirty="0"/>
              <a:t>sweet spot</a:t>
            </a:r>
            <a:r>
              <a:rPr lang="en-US" dirty="0"/>
              <a:t> where challenge and skill balance, keeping users immersed.</a:t>
            </a:r>
          </a:p>
          <a:p>
            <a:r>
              <a:rPr lang="en-US" dirty="0"/>
              <a:t>In UX, this means: no confusing steps, no unnecessary distractions, no cognitive overload.</a:t>
            </a:r>
          </a:p>
          <a:p>
            <a:endParaRPr lang="en-US" dirty="0"/>
          </a:p>
          <a:p>
            <a:r>
              <a:rPr lang="en-US" b="1" dirty="0"/>
              <a:t>Netflix – autoplay, skip intro</a:t>
            </a:r>
          </a:p>
          <a:p>
            <a:endParaRPr lang="en-US" dirty="0"/>
          </a:p>
          <a:p>
            <a:endParaRPr lang="en-US" dirty="0"/>
          </a:p>
          <a:p>
            <a:r>
              <a:rPr lang="en-US" dirty="0"/>
              <a:t>Flow in UX is about keeping users in the “zone.” Whenever an app feels so smooth you lose track of time, that’s flow working its magic.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154011E9-0D7E-1A08-A84C-34EA4E3E7E9B}"/>
              </a:ext>
            </a:extLst>
          </p:cNvPr>
          <p:cNvSpPr>
            <a:spLocks noGrp="1"/>
          </p:cNvSpPr>
          <p:nvPr>
            <p:ph type="sldNum" sz="quarter" idx="5"/>
          </p:nvPr>
        </p:nvSpPr>
        <p:spPr/>
        <p:txBody>
          <a:bodyPr/>
          <a:lstStyle/>
          <a:p>
            <a:fld id="{955D7972-3D0C-4FE3-9B76-3CD89F8C94A1}" type="slidenum">
              <a:rPr lang="en-PH" smtClean="0"/>
              <a:t>56</a:t>
            </a:fld>
            <a:endParaRPr lang="en-PH"/>
          </a:p>
        </p:txBody>
      </p:sp>
    </p:spTree>
    <p:extLst>
      <p:ext uri="{BB962C8B-B14F-4D97-AF65-F5344CB8AC3E}">
        <p14:creationId xmlns:p14="http://schemas.microsoft.com/office/powerpoint/2010/main" val="30963956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B015-348F-CBFF-3181-0E1A97737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5FF75-C6E5-0BB8-013E-77D93E1148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F6A3BF-1C84-1F97-ADEE-AC2B706F15B7}"/>
              </a:ext>
            </a:extLst>
          </p:cNvPr>
          <p:cNvSpPr>
            <a:spLocks noGrp="1"/>
          </p:cNvSpPr>
          <p:nvPr>
            <p:ph type="body" idx="1"/>
          </p:nvPr>
        </p:nvSpPr>
        <p:spPr/>
        <p:txBody>
          <a:bodyPr/>
          <a:lstStyle/>
          <a:p>
            <a:r>
              <a:rPr lang="en-US" b="1" dirty="0"/>
              <a:t>How close we are to finish line</a:t>
            </a:r>
            <a:endParaRPr lang="en-US" dirty="0"/>
          </a:p>
        </p:txBody>
      </p:sp>
      <p:sp>
        <p:nvSpPr>
          <p:cNvPr id="4" name="Slide Number Placeholder 3">
            <a:extLst>
              <a:ext uri="{FF2B5EF4-FFF2-40B4-BE49-F238E27FC236}">
                <a16:creationId xmlns:a16="http://schemas.microsoft.com/office/drawing/2014/main" id="{AC76E945-EC96-85B8-E3D4-326B3B4449BE}"/>
              </a:ext>
            </a:extLst>
          </p:cNvPr>
          <p:cNvSpPr>
            <a:spLocks noGrp="1"/>
          </p:cNvSpPr>
          <p:nvPr>
            <p:ph type="sldNum" sz="quarter" idx="5"/>
          </p:nvPr>
        </p:nvSpPr>
        <p:spPr/>
        <p:txBody>
          <a:bodyPr/>
          <a:lstStyle/>
          <a:p>
            <a:fld id="{955D7972-3D0C-4FE3-9B76-3CD89F8C94A1}" type="slidenum">
              <a:rPr lang="en-PH" smtClean="0"/>
              <a:t>57</a:t>
            </a:fld>
            <a:endParaRPr lang="en-PH"/>
          </a:p>
        </p:txBody>
      </p:sp>
    </p:spTree>
    <p:extLst>
      <p:ext uri="{BB962C8B-B14F-4D97-AF65-F5344CB8AC3E}">
        <p14:creationId xmlns:p14="http://schemas.microsoft.com/office/powerpoint/2010/main" val="19247559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D5A55-2400-7450-990F-3DAA50C95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C50B6-5165-BCE9-5937-007ABB23D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1FC1B3-5C4B-B9AE-3D22-609E968CD550}"/>
              </a:ext>
            </a:extLst>
          </p:cNvPr>
          <p:cNvSpPr>
            <a:spLocks noGrp="1"/>
          </p:cNvSpPr>
          <p:nvPr>
            <p:ph type="body" idx="1"/>
          </p:nvPr>
        </p:nvSpPr>
        <p:spPr/>
        <p:txBody>
          <a:bodyPr/>
          <a:lstStyle/>
          <a:p>
            <a:r>
              <a:rPr lang="en-US" b="1" dirty="0"/>
              <a:t>Goal-Gradient Effect:</a:t>
            </a:r>
            <a:r>
              <a:rPr lang="en-US" dirty="0"/>
              <a:t> people increase effort and motivation as they get closer to a goal. In UX, showing progress toward a target (even small cues) makes users act faster, stick around, and finish tasks.</a:t>
            </a:r>
          </a:p>
          <a:p>
            <a:r>
              <a:rPr lang="en-US" dirty="0"/>
              <a:t>Think of it as human motivation on espresso: the nearer the finish line, the faster we sprint.</a:t>
            </a:r>
          </a:p>
          <a:p>
            <a:endParaRPr lang="en-US" dirty="0"/>
          </a:p>
          <a:p>
            <a:r>
              <a:rPr lang="en-US" sz="1200" b="1" i="0" kern="1200" dirty="0">
                <a:solidFill>
                  <a:schemeClr val="tx1"/>
                </a:solidFill>
                <a:effectLst/>
                <a:latin typeface="+mn-lt"/>
                <a:ea typeface="+mn-ea"/>
                <a:cs typeface="+mn-cs"/>
                <a:hlinkClick r:id="rId3"/>
              </a:rPr>
              <a:t>Progress Bars and Visual Indicators</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Showing a "90% complete" bar encourages players to finish the remaining 10%.</a:t>
            </a:r>
          </a:p>
          <a:p>
            <a:r>
              <a:rPr lang="en-US" sz="1200" b="1" i="0" kern="1200" dirty="0">
                <a:solidFill>
                  <a:schemeClr val="tx1"/>
                </a:solidFill>
                <a:effectLst/>
                <a:latin typeface="+mn-lt"/>
                <a:ea typeface="+mn-ea"/>
                <a:cs typeface="+mn-cs"/>
                <a:hlinkClick r:id="rId4"/>
              </a:rPr>
              <a:t>Achievement/Badge Systems</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Clearly displaying missing items for a set (e.g., "Collect 9/10 stars") triggers the desire to finish.</a:t>
            </a:r>
          </a:p>
          <a:p>
            <a:r>
              <a:rPr lang="en-US" sz="1200" b="1" i="0" kern="1200" dirty="0">
                <a:solidFill>
                  <a:schemeClr val="tx1"/>
                </a:solidFill>
                <a:effectLst/>
                <a:latin typeface="+mn-lt"/>
                <a:ea typeface="+mn-ea"/>
                <a:cs typeface="+mn-cs"/>
                <a:hlinkClick r:id="rId5"/>
              </a:rPr>
              <a:t>Level Design</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Breaking long tasks into smaller, visible steps (e.g., quests, chapters) helps players feel they are constantly getting closer.</a:t>
            </a:r>
          </a:p>
          <a:p>
            <a:r>
              <a:rPr lang="en-US" sz="1200" b="1" i="0" kern="1200" dirty="0">
                <a:solidFill>
                  <a:schemeClr val="tx1"/>
                </a:solidFill>
                <a:effectLst/>
                <a:latin typeface="+mn-lt"/>
                <a:ea typeface="+mn-ea"/>
                <a:cs typeface="+mn-cs"/>
                <a:hlinkClick r:id="rId6"/>
              </a:rPr>
              <a:t>Visualizing the Goal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Showing the finish line or the reward in sight increases speed and effort, akin to rats running faster for food in a maze.</a:t>
            </a:r>
          </a:p>
          <a:p>
            <a:r>
              <a:rPr lang="en-US" sz="1200" b="1" i="0" kern="1200" dirty="0">
                <a:solidFill>
                  <a:schemeClr val="tx1"/>
                </a:solidFill>
                <a:effectLst/>
                <a:latin typeface="+mn-lt"/>
                <a:ea typeface="+mn-ea"/>
                <a:cs typeface="+mn-cs"/>
                <a:hlinkClick r:id="rId7"/>
              </a:rPr>
              <a:t>Illusion of Progress</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Providing a "head start" (e.g., a 10-step loyalty card with 2 stamps already filled) makes the goal feel closer and more attainable. </a:t>
            </a:r>
          </a:p>
          <a:p>
            <a:r>
              <a:rPr lang="en-US" sz="1200" b="1" i="0" kern="1200" dirty="0">
                <a:solidFill>
                  <a:schemeClr val="tx1"/>
                </a:solidFill>
                <a:effectLst/>
                <a:latin typeface="+mn-lt"/>
                <a:ea typeface="+mn-ea"/>
                <a:cs typeface="+mn-cs"/>
              </a:rPr>
              <a:t>Benefits of the Goal Gradient Effect:</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Higher Engagement:</a:t>
            </a:r>
            <a:r>
              <a:rPr lang="en-US" sz="1200" b="0" i="0" kern="1200" dirty="0">
                <a:solidFill>
                  <a:schemeClr val="tx1"/>
                </a:solidFill>
                <a:effectLst/>
                <a:latin typeface="+mn-lt"/>
                <a:ea typeface="+mn-ea"/>
                <a:cs typeface="+mn-cs"/>
              </a:rPr>
              <a:t> Reduces player drop-off because the nearing goal makes the effort feel worthwhile.</a:t>
            </a:r>
          </a:p>
          <a:p>
            <a:r>
              <a:rPr lang="en-US" sz="1200" b="1" i="0" kern="1200" dirty="0">
                <a:solidFill>
                  <a:schemeClr val="tx1"/>
                </a:solidFill>
                <a:effectLst/>
                <a:latin typeface="+mn-lt"/>
                <a:ea typeface="+mn-ea"/>
                <a:cs typeface="+mn-cs"/>
              </a:rPr>
              <a:t>Increased Retention:</a:t>
            </a:r>
            <a:r>
              <a:rPr lang="en-US" sz="1200" b="0" i="0" kern="1200" dirty="0">
                <a:solidFill>
                  <a:schemeClr val="tx1"/>
                </a:solidFill>
                <a:effectLst/>
                <a:latin typeface="+mn-lt"/>
                <a:ea typeface="+mn-ea"/>
                <a:cs typeface="+mn-cs"/>
              </a:rPr>
              <a:t> Regular, small, and visible milestones keep users returning.</a:t>
            </a:r>
          </a:p>
          <a:p>
            <a:r>
              <a:rPr lang="en-US" sz="1200" b="1" i="0" kern="1200" dirty="0">
                <a:solidFill>
                  <a:schemeClr val="tx1"/>
                </a:solidFill>
                <a:effectLst/>
                <a:latin typeface="+mn-lt"/>
                <a:ea typeface="+mn-ea"/>
                <a:cs typeface="+mn-cs"/>
              </a:rPr>
              <a:t>Enhanced Motivation:</a:t>
            </a:r>
            <a:r>
              <a:rPr lang="en-US" sz="1200" b="0" i="0" kern="1200" dirty="0">
                <a:solidFill>
                  <a:schemeClr val="tx1"/>
                </a:solidFill>
                <a:effectLst/>
                <a:latin typeface="+mn-lt"/>
                <a:ea typeface="+mn-ea"/>
                <a:cs typeface="+mn-cs"/>
              </a:rPr>
              <a:t> Motivates players to invest more effort, particularly when they see they are close. </a:t>
            </a:r>
          </a:p>
          <a:p>
            <a:endParaRPr lang="en-US" dirty="0"/>
          </a:p>
        </p:txBody>
      </p:sp>
      <p:sp>
        <p:nvSpPr>
          <p:cNvPr id="4" name="Slide Number Placeholder 3">
            <a:extLst>
              <a:ext uri="{FF2B5EF4-FFF2-40B4-BE49-F238E27FC236}">
                <a16:creationId xmlns:a16="http://schemas.microsoft.com/office/drawing/2014/main" id="{5492898E-2780-1F86-1A70-22CB07A40AF3}"/>
              </a:ext>
            </a:extLst>
          </p:cNvPr>
          <p:cNvSpPr>
            <a:spLocks noGrp="1"/>
          </p:cNvSpPr>
          <p:nvPr>
            <p:ph type="sldNum" sz="quarter" idx="5"/>
          </p:nvPr>
        </p:nvSpPr>
        <p:spPr/>
        <p:txBody>
          <a:bodyPr/>
          <a:lstStyle/>
          <a:p>
            <a:fld id="{955D7972-3D0C-4FE3-9B76-3CD89F8C94A1}" type="slidenum">
              <a:rPr lang="en-PH" smtClean="0"/>
              <a:t>58</a:t>
            </a:fld>
            <a:endParaRPr lang="en-PH"/>
          </a:p>
        </p:txBody>
      </p:sp>
    </p:spTree>
    <p:extLst>
      <p:ext uri="{BB962C8B-B14F-4D97-AF65-F5344CB8AC3E}">
        <p14:creationId xmlns:p14="http://schemas.microsoft.com/office/powerpoint/2010/main" val="39143179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F4DBB-BFEC-4D2A-DFB3-D6EDE8BA6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860B6-F0BA-7D31-1543-034276AA91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224E81-74DB-29E5-C36F-80EE7B1BAA3D}"/>
              </a:ext>
            </a:extLst>
          </p:cNvPr>
          <p:cNvSpPr>
            <a:spLocks noGrp="1"/>
          </p:cNvSpPr>
          <p:nvPr>
            <p:ph type="body" idx="1"/>
          </p:nvPr>
        </p:nvSpPr>
        <p:spPr/>
        <p:txBody>
          <a:bodyPr/>
          <a:lstStyle/>
          <a:p>
            <a:r>
              <a:rPr lang="en-US" b="1" dirty="0"/>
              <a:t>Definition:</a:t>
            </a:r>
            <a:r>
              <a:rPr lang="en-US" dirty="0"/>
              <a:t> The time it takes to make a decision increases with the number and complexity of choices.</a:t>
            </a:r>
          </a:p>
          <a:p>
            <a:r>
              <a:rPr lang="en-US" b="1" dirty="0"/>
              <a:t>Simplified Rule:</a:t>
            </a:r>
            <a:r>
              <a:rPr lang="en-US" dirty="0"/>
              <a:t> </a:t>
            </a:r>
            <a:r>
              <a:rPr lang="en-US" i="1" dirty="0"/>
              <a:t>More options = slower decision-making.</a:t>
            </a:r>
            <a:endParaRPr lang="en-US" dirty="0"/>
          </a:p>
          <a:p>
            <a:r>
              <a:rPr lang="en-US" b="1" dirty="0"/>
              <a:t>UX Goal:</a:t>
            </a:r>
            <a:r>
              <a:rPr lang="en-US" dirty="0"/>
              <a:t> Reduce decision fatigue by </a:t>
            </a:r>
            <a:r>
              <a:rPr lang="en-US" b="1" dirty="0"/>
              <a:t>limiting, grouping, or prioritizing options</a:t>
            </a:r>
            <a:r>
              <a:rPr lang="en-US" dirty="0"/>
              <a:t> so users choose faster.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3A55E694-D78F-3F1F-4CDB-6C591E747550}"/>
              </a:ext>
            </a:extLst>
          </p:cNvPr>
          <p:cNvSpPr>
            <a:spLocks noGrp="1"/>
          </p:cNvSpPr>
          <p:nvPr>
            <p:ph type="sldNum" sz="quarter" idx="5"/>
          </p:nvPr>
        </p:nvSpPr>
        <p:spPr/>
        <p:txBody>
          <a:bodyPr/>
          <a:lstStyle/>
          <a:p>
            <a:fld id="{955D7972-3D0C-4FE3-9B76-3CD89F8C94A1}" type="slidenum">
              <a:rPr lang="en-PH" smtClean="0"/>
              <a:t>59</a:t>
            </a:fld>
            <a:endParaRPr lang="en-PH"/>
          </a:p>
        </p:txBody>
      </p:sp>
    </p:spTree>
    <p:extLst>
      <p:ext uri="{BB962C8B-B14F-4D97-AF65-F5344CB8AC3E}">
        <p14:creationId xmlns:p14="http://schemas.microsoft.com/office/powerpoint/2010/main" val="20022406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60424-5581-C5F5-F7E8-B5ADC51D7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8E9F1-1B5B-335F-7411-E80E1C308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7E66BD-10AB-E6FF-0129-0747700337B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When response time is critical, keep the number of options small. One to five is a good rule of thumb.</a:t>
            </a:r>
          </a:p>
          <a:p>
            <a:r>
              <a:rPr lang="en-US" sz="1200" b="0" i="0" kern="1200" dirty="0">
                <a:solidFill>
                  <a:schemeClr val="tx1"/>
                </a:solidFill>
                <a:effectLst/>
                <a:latin typeface="+mn-lt"/>
                <a:ea typeface="+mn-ea"/>
                <a:cs typeface="+mn-cs"/>
              </a:rPr>
              <a:t>Humans are strange. We like to say we want as much options as possible. When we get them…we get confused and can’t take a decision.</a:t>
            </a:r>
          </a:p>
        </p:txBody>
      </p:sp>
      <p:sp>
        <p:nvSpPr>
          <p:cNvPr id="4" name="Slide Number Placeholder 3">
            <a:extLst>
              <a:ext uri="{FF2B5EF4-FFF2-40B4-BE49-F238E27FC236}">
                <a16:creationId xmlns:a16="http://schemas.microsoft.com/office/drawing/2014/main" id="{DFC83971-7A73-70CC-A28B-A575480CB9D7}"/>
              </a:ext>
            </a:extLst>
          </p:cNvPr>
          <p:cNvSpPr>
            <a:spLocks noGrp="1"/>
          </p:cNvSpPr>
          <p:nvPr>
            <p:ph type="sldNum" sz="quarter" idx="5"/>
          </p:nvPr>
        </p:nvSpPr>
        <p:spPr/>
        <p:txBody>
          <a:bodyPr/>
          <a:lstStyle/>
          <a:p>
            <a:fld id="{955D7972-3D0C-4FE3-9B76-3CD89F8C94A1}" type="slidenum">
              <a:rPr lang="en-PH" smtClean="0"/>
              <a:t>60</a:t>
            </a:fld>
            <a:endParaRPr lang="en-PH"/>
          </a:p>
        </p:txBody>
      </p:sp>
    </p:spTree>
    <p:extLst>
      <p:ext uri="{BB962C8B-B14F-4D97-AF65-F5344CB8AC3E}">
        <p14:creationId xmlns:p14="http://schemas.microsoft.com/office/powerpoint/2010/main" val="22391490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Hick’s Law (or the Hick-Hyman Law) states that the more choices a person is presented with, the </a:t>
            </a:r>
            <a:r>
              <a:rPr lang="en-US" sz="1200" b="0" i="1" kern="1200" dirty="0">
                <a:solidFill>
                  <a:schemeClr val="tx1"/>
                </a:solidFill>
                <a:effectLst/>
                <a:latin typeface="+mn-lt"/>
                <a:ea typeface="+mn-ea"/>
                <a:cs typeface="+mn-cs"/>
              </a:rPr>
              <a:t>longer</a:t>
            </a:r>
            <a:r>
              <a:rPr lang="en-US" sz="1200" b="0" i="0" kern="1200" dirty="0">
                <a:solidFill>
                  <a:schemeClr val="tx1"/>
                </a:solidFill>
                <a:effectLst/>
                <a:latin typeface="+mn-lt"/>
                <a:ea typeface="+mn-ea"/>
                <a:cs typeface="+mn-cs"/>
              </a:rPr>
              <a:t> the person will take to reach a decision. Named after psychologists William Edmund Hick and Ray Hyman, Hick’s Law finds frequent application in </a:t>
            </a:r>
            <a:r>
              <a:rPr lang="en-US" sz="1200" b="0" i="0" u="sng" kern="1200" dirty="0">
                <a:solidFill>
                  <a:schemeClr val="tx1"/>
                </a:solidFill>
                <a:effectLst/>
                <a:latin typeface="+mn-lt"/>
                <a:ea typeface="+mn-ea"/>
                <a:cs typeface="+mn-cs"/>
                <a:hlinkClick r:id="rId3" tooltip="What is User Experience Design?"/>
              </a:rPr>
              <a:t>user experience (UX) design</a:t>
            </a:r>
            <a:r>
              <a:rPr lang="en-US" sz="1200" b="0" i="0" kern="1200" dirty="0">
                <a:solidFill>
                  <a:schemeClr val="tx1"/>
                </a:solidFill>
                <a:effectLst/>
                <a:latin typeface="+mn-lt"/>
                <a:ea typeface="+mn-ea"/>
                <a:cs typeface="+mn-cs"/>
              </a:rPr>
              <a:t>—namely, to avoid overwhelming users with too many choices, thereby keeping them engaged.</a:t>
            </a:r>
            <a:endParaRPr lang="en-PH" dirty="0"/>
          </a:p>
        </p:txBody>
      </p:sp>
      <p:sp>
        <p:nvSpPr>
          <p:cNvPr id="4" name="Slide Number Placeholder 3"/>
          <p:cNvSpPr>
            <a:spLocks noGrp="1"/>
          </p:cNvSpPr>
          <p:nvPr>
            <p:ph type="sldNum" sz="quarter" idx="5"/>
          </p:nvPr>
        </p:nvSpPr>
        <p:spPr/>
        <p:txBody>
          <a:bodyPr/>
          <a:lstStyle/>
          <a:p>
            <a:fld id="{B57C6CB2-E430-4DB7-B81D-FA9ABB178DBD}" type="slidenum">
              <a:rPr lang="en-PH" smtClean="0"/>
              <a:t>61</a:t>
            </a:fld>
            <a:endParaRPr lang="en-PH"/>
          </a:p>
        </p:txBody>
      </p:sp>
    </p:spTree>
    <p:extLst>
      <p:ext uri="{BB962C8B-B14F-4D97-AF65-F5344CB8AC3E}">
        <p14:creationId xmlns:p14="http://schemas.microsoft.com/office/powerpoint/2010/main" val="207251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Hick’s Law Keeps it Simple and Straightforward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When Time is Critical, Decisions Should be Simple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Simplify Tasks by Breaking Them Down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PH" dirty="0"/>
          </a:p>
        </p:txBody>
      </p:sp>
      <p:sp>
        <p:nvSpPr>
          <p:cNvPr id="4" name="Slide Number Placeholder 3"/>
          <p:cNvSpPr>
            <a:spLocks noGrp="1"/>
          </p:cNvSpPr>
          <p:nvPr>
            <p:ph type="sldNum" sz="quarter" idx="5"/>
          </p:nvPr>
        </p:nvSpPr>
        <p:spPr/>
        <p:txBody>
          <a:bodyPr/>
          <a:lstStyle/>
          <a:p>
            <a:fld id="{955D7972-3D0C-4FE3-9B76-3CD89F8C94A1}" type="slidenum">
              <a:rPr lang="en-PH" smtClean="0"/>
              <a:t>62</a:t>
            </a:fld>
            <a:endParaRPr lang="en-PH"/>
          </a:p>
        </p:txBody>
      </p:sp>
    </p:spTree>
    <p:extLst>
      <p:ext uri="{BB962C8B-B14F-4D97-AF65-F5344CB8AC3E}">
        <p14:creationId xmlns:p14="http://schemas.microsoft.com/office/powerpoint/2010/main" val="41171349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B6E72-C2CD-6432-456F-C2F5DAAF6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976D2-1AAC-A248-E4A9-08B702708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929407-3CF4-D4D9-6EC0-F01BAB8C5F2D}"/>
              </a:ext>
            </a:extLst>
          </p:cNvPr>
          <p:cNvSpPr>
            <a:spLocks noGrp="1"/>
          </p:cNvSpPr>
          <p:nvPr>
            <p:ph type="body" idx="1"/>
          </p:nvPr>
        </p:nvSpPr>
        <p:spPr/>
        <p:txBody>
          <a:bodyPr/>
          <a:lstStyle/>
          <a:p>
            <a:r>
              <a:t>Definition: users spend most of their time on other sites and apps, so they expect yours to work the same way as the ones they already know.</a:t>
            </a:r>
          </a:p>
          <a:p>
            <a:r>
              <a:t>Translation: don't reinvent the wheel. Stick to familiar patterns.</a:t>
            </a:r>
          </a:p>
          <a:p/>
          <a:p>
            <a:r>
              <a:t>1. Consistency is key.</a:t>
            </a:r>
          </a:p>
          <a:p>
            <a:r>
              <a:t>2. Design with the users' mental models in mind.</a:t>
            </a:r>
          </a:p>
          <a:p>
            <a:r>
              <a:t>3. Focus on simplicity; adopt established interaction patterns.</a:t>
            </a:r>
          </a:p>
          <a:p/>
          <a:p>
            <a:r>
              <a:t>Place buttons where users expect them so they can act without friction, e.g., a navigation bar at the bottom of a mobile app.</a:t>
            </a:r>
          </a:p>
        </p:txBody>
      </p:sp>
      <p:sp>
        <p:nvSpPr>
          <p:cNvPr id="4" name="Slide Number Placeholder 3">
            <a:extLst>
              <a:ext uri="{FF2B5EF4-FFF2-40B4-BE49-F238E27FC236}">
                <a16:creationId xmlns:a16="http://schemas.microsoft.com/office/drawing/2014/main" id="{B3E20D88-64DA-2FC2-3F50-A28DA7317EED}"/>
              </a:ext>
            </a:extLst>
          </p:cNvPr>
          <p:cNvSpPr>
            <a:spLocks noGrp="1"/>
          </p:cNvSpPr>
          <p:nvPr>
            <p:ph type="sldNum" sz="quarter" idx="5"/>
          </p:nvPr>
        </p:nvSpPr>
        <p:spPr/>
        <p:txBody>
          <a:bodyPr/>
          <a:lstStyle/>
          <a:p>
            <a:fld id="{955D7972-3D0C-4FE3-9B76-3CD89F8C94A1}" type="slidenum">
              <a:rPr lang="en-PH" smtClean="0"/>
              <a:t>63</a:t>
            </a:fld>
            <a:endParaRPr lang="en-PH"/>
          </a:p>
        </p:txBody>
      </p:sp>
    </p:spTree>
    <p:extLst>
      <p:ext uri="{BB962C8B-B14F-4D97-AF65-F5344CB8AC3E}">
        <p14:creationId xmlns:p14="http://schemas.microsoft.com/office/powerpoint/2010/main" val="39220039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E6C41-EAEB-585C-AAAD-43EBB54FC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330B4-5BA0-079E-7BB0-927AEA20E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0A58D-5A62-F144-1DEC-A9E4A9E3B205}"/>
              </a:ext>
            </a:extLst>
          </p:cNvPr>
          <p:cNvSpPr>
            <a:spLocks noGrp="1"/>
          </p:cNvSpPr>
          <p:nvPr>
            <p:ph type="body" idx="1"/>
          </p:nvPr>
        </p:nvSpPr>
        <p:spPr/>
        <p:txBody>
          <a:bodyPr/>
          <a:lstStyle/>
          <a:p>
            <a:r>
              <a:rPr lang="en-US" dirty="0"/>
              <a:t>The </a:t>
            </a:r>
            <a:r>
              <a:rPr lang="en-US" b="1" dirty="0"/>
              <a:t>Law of Common Region</a:t>
            </a:r>
            <a:r>
              <a:rPr lang="en-US" dirty="0"/>
              <a:t> in UX states that </a:t>
            </a:r>
            <a:r>
              <a:rPr lang="en-US" i="1" dirty="0"/>
              <a:t>elements are perceived as grouped together if they share an area with a clearly defined boundary.</a:t>
            </a:r>
            <a:endParaRPr lang="en-US" dirty="0"/>
          </a:p>
          <a:p>
            <a:r>
              <a:rPr lang="en-US" dirty="0"/>
              <a:t>👉 In simple terms: if you put things inside the same "box" or visual container, users will assume they belong together—even if they’re not closest to each other.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5D7C2F51-354E-EAEB-06FA-3DF6C26E423D}"/>
              </a:ext>
            </a:extLst>
          </p:cNvPr>
          <p:cNvSpPr>
            <a:spLocks noGrp="1"/>
          </p:cNvSpPr>
          <p:nvPr>
            <p:ph type="sldNum" sz="quarter" idx="5"/>
          </p:nvPr>
        </p:nvSpPr>
        <p:spPr/>
        <p:txBody>
          <a:bodyPr/>
          <a:lstStyle/>
          <a:p>
            <a:fld id="{955D7972-3D0C-4FE3-9B76-3CD89F8C94A1}" type="slidenum">
              <a:rPr lang="en-PH" smtClean="0"/>
              <a:t>66</a:t>
            </a:fld>
            <a:endParaRPr lang="en-PH"/>
          </a:p>
        </p:txBody>
      </p:sp>
    </p:spTree>
    <p:extLst>
      <p:ext uri="{BB962C8B-B14F-4D97-AF65-F5344CB8AC3E}">
        <p14:creationId xmlns:p14="http://schemas.microsoft.com/office/powerpoint/2010/main" val="27852514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E1BD1-EDA6-9BB8-D2C8-B11B7D02D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01992-8C91-8988-CB00-35B1DFA1E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3D095-4299-9E67-D017-6A76DA15CCA5}"/>
              </a:ext>
            </a:extLst>
          </p:cNvPr>
          <p:cNvSpPr>
            <a:spLocks noGrp="1"/>
          </p:cNvSpPr>
          <p:nvPr>
            <p:ph type="body" idx="1"/>
          </p:nvPr>
        </p:nvSpPr>
        <p:spPr/>
        <p:txBody>
          <a:bodyPr/>
          <a:lstStyle/>
          <a:p>
            <a:r>
              <a:t>The Law of Proximity says that objects placed close to each other are perceived as related or belonging to the same group, even without borders or colors.</a:t>
            </a:r>
          </a:p>
        </p:txBody>
      </p:sp>
      <p:sp>
        <p:nvSpPr>
          <p:cNvPr id="4" name="Slide Number Placeholder 3">
            <a:extLst>
              <a:ext uri="{FF2B5EF4-FFF2-40B4-BE49-F238E27FC236}">
                <a16:creationId xmlns:a16="http://schemas.microsoft.com/office/drawing/2014/main" id="{0FAC762D-63B8-589B-DF9B-27C40098203B}"/>
              </a:ext>
            </a:extLst>
          </p:cNvPr>
          <p:cNvSpPr>
            <a:spLocks noGrp="1"/>
          </p:cNvSpPr>
          <p:nvPr>
            <p:ph type="sldNum" sz="quarter" idx="5"/>
          </p:nvPr>
        </p:nvSpPr>
        <p:spPr/>
        <p:txBody>
          <a:bodyPr/>
          <a:lstStyle/>
          <a:p>
            <a:fld id="{955D7972-3D0C-4FE3-9B76-3CD89F8C94A1}" type="slidenum">
              <a:rPr lang="en-PH" smtClean="0"/>
              <a:t>67</a:t>
            </a:fld>
            <a:endParaRPr lang="en-PH"/>
          </a:p>
        </p:txBody>
      </p:sp>
    </p:spTree>
    <p:extLst>
      <p:ext uri="{BB962C8B-B14F-4D97-AF65-F5344CB8AC3E}">
        <p14:creationId xmlns:p14="http://schemas.microsoft.com/office/powerpoint/2010/main" val="32350285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F7F17-6D19-318E-5E18-51EFD4728F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58D16-E25E-E2AF-95FA-EDACA30958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231A67-C66E-4401-250A-BA36D4038BFA}"/>
              </a:ext>
            </a:extLst>
          </p:cNvPr>
          <p:cNvSpPr>
            <a:spLocks noGrp="1"/>
          </p:cNvSpPr>
          <p:nvPr>
            <p:ph type="body" idx="1"/>
          </p:nvPr>
        </p:nvSpPr>
        <p:spPr/>
        <p:txBody>
          <a:bodyPr/>
          <a:lstStyle/>
          <a:p>
            <a:r>
              <a:t>The Law of Prägnanz (also called the Law of Good Figure or Law of Simplicity) is one of the most important Gestalt principles.</a:t>
            </a:r>
          </a:p>
          <a:p/>
          <a:p>
            <a:r>
              <a:t>The human brain perceives complex or ambiguous images in the simplest, most stable and orderly form possible. This reduces cognitive load: we see a simple circle instead of a fragmented polygon, or animals and faces in clouds.</a:t>
            </a:r>
          </a:p>
          <a:p/>
          <a:p>
            <a:r>
              <a:t>"Prägnanz" is German for "pithiness" or "conciseness": the mind organizes what it sees into "good figures" that are easy to interpret.</a:t>
            </a:r>
          </a:p>
        </p:txBody>
      </p:sp>
      <p:sp>
        <p:nvSpPr>
          <p:cNvPr id="4" name="Slide Number Placeholder 3">
            <a:extLst>
              <a:ext uri="{FF2B5EF4-FFF2-40B4-BE49-F238E27FC236}">
                <a16:creationId xmlns:a16="http://schemas.microsoft.com/office/drawing/2014/main" id="{00C052D0-677B-C256-9375-C0C546C87162}"/>
              </a:ext>
            </a:extLst>
          </p:cNvPr>
          <p:cNvSpPr>
            <a:spLocks noGrp="1"/>
          </p:cNvSpPr>
          <p:nvPr>
            <p:ph type="sldNum" sz="quarter" idx="5"/>
          </p:nvPr>
        </p:nvSpPr>
        <p:spPr/>
        <p:txBody>
          <a:bodyPr/>
          <a:lstStyle/>
          <a:p>
            <a:fld id="{955D7972-3D0C-4FE3-9B76-3CD89F8C94A1}" type="slidenum">
              <a:rPr lang="en-PH" smtClean="0"/>
              <a:t>68</a:t>
            </a:fld>
            <a:endParaRPr lang="en-PH"/>
          </a:p>
        </p:txBody>
      </p:sp>
    </p:spTree>
    <p:extLst>
      <p:ext uri="{BB962C8B-B14F-4D97-AF65-F5344CB8AC3E}">
        <p14:creationId xmlns:p14="http://schemas.microsoft.com/office/powerpoint/2010/main" val="40520193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7696E-A618-603C-9CFB-C6B5FABC7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4E2AD-FAF0-BDFD-D0C5-669D676C8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92C71-C53F-4EF0-BB6B-2504A748615A}"/>
              </a:ext>
            </a:extLst>
          </p:cNvPr>
          <p:cNvSpPr>
            <a:spLocks noGrp="1"/>
          </p:cNvSpPr>
          <p:nvPr>
            <p:ph type="body" idx="1"/>
          </p:nvPr>
        </p:nvSpPr>
        <p:spPr/>
        <p:txBody>
          <a:bodyPr/>
          <a:lstStyle/>
          <a:p>
            <a:r>
              <a:t>The Law of Prägnanz (also called the Law of Good Figure or Law of Simplicity) is one of the most important Gestalt principles.</a:t>
            </a:r>
          </a:p>
          <a:p/>
          <a:p>
            <a:r>
              <a:t>The human brain perceives complex or ambiguous images in the simplest, most stable and orderly form possible. This reduces cognitive load: we see a simple circle instead of a fragmented polygon, or animals and faces in clouds.</a:t>
            </a:r>
          </a:p>
          <a:p/>
          <a:p>
            <a:r>
              <a:t>"Prägnanz" is German for "pithiness" or "conciseness": the mind organizes what it sees into "good figures" that are easy to interpret.</a:t>
            </a:r>
          </a:p>
        </p:txBody>
      </p:sp>
      <p:sp>
        <p:nvSpPr>
          <p:cNvPr id="4" name="Slide Number Placeholder 3">
            <a:extLst>
              <a:ext uri="{FF2B5EF4-FFF2-40B4-BE49-F238E27FC236}">
                <a16:creationId xmlns:a16="http://schemas.microsoft.com/office/drawing/2014/main" id="{B6205B87-98EB-066D-A596-E5C332484D4E}"/>
              </a:ext>
            </a:extLst>
          </p:cNvPr>
          <p:cNvSpPr>
            <a:spLocks noGrp="1"/>
          </p:cNvSpPr>
          <p:nvPr>
            <p:ph type="sldNum" sz="quarter" idx="5"/>
          </p:nvPr>
        </p:nvSpPr>
        <p:spPr/>
        <p:txBody>
          <a:bodyPr/>
          <a:lstStyle/>
          <a:p>
            <a:fld id="{955D7972-3D0C-4FE3-9B76-3CD89F8C94A1}" type="slidenum">
              <a:rPr lang="en-PH" smtClean="0"/>
              <a:t>69</a:t>
            </a:fld>
            <a:endParaRPr lang="en-PH"/>
          </a:p>
        </p:txBody>
      </p:sp>
    </p:spTree>
    <p:extLst>
      <p:ext uri="{BB962C8B-B14F-4D97-AF65-F5344CB8AC3E}">
        <p14:creationId xmlns:p14="http://schemas.microsoft.com/office/powerpoint/2010/main" val="13898459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55D7972-3D0C-4FE3-9B76-3CD89F8C94A1}" type="slidenum">
              <a:rPr lang="en-PH" smtClean="0"/>
              <a:t>71</a:t>
            </a:fld>
            <a:endParaRPr lang="en-PH"/>
          </a:p>
        </p:txBody>
      </p:sp>
    </p:spTree>
    <p:extLst>
      <p:ext uri="{BB962C8B-B14F-4D97-AF65-F5344CB8AC3E}">
        <p14:creationId xmlns:p14="http://schemas.microsoft.com/office/powerpoint/2010/main" val="37745242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7C55E-E64F-8A9E-7295-3FF5F9051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E184D-67A7-2513-87DD-C4C6CAA28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3F86B6-4AA2-58CD-86F9-F6403759317A}"/>
              </a:ext>
            </a:extLst>
          </p:cNvPr>
          <p:cNvSpPr>
            <a:spLocks noGrp="1"/>
          </p:cNvSpPr>
          <p:nvPr>
            <p:ph type="body" idx="1"/>
          </p:nvPr>
        </p:nvSpPr>
        <p:spPr/>
        <p:txBody>
          <a:bodyPr/>
          <a:lstStyle/>
          <a:p>
            <a:r>
              <a:t>The Law of Similarity says that objects that look alike (color, shape, size, font or style) are perceived as belonging together, even if they're not physically close.</a:t>
            </a:r>
          </a:p>
        </p:txBody>
      </p:sp>
      <p:sp>
        <p:nvSpPr>
          <p:cNvPr id="4" name="Slide Number Placeholder 3">
            <a:extLst>
              <a:ext uri="{FF2B5EF4-FFF2-40B4-BE49-F238E27FC236}">
                <a16:creationId xmlns:a16="http://schemas.microsoft.com/office/drawing/2014/main" id="{34F10E19-108C-B740-39A6-04C0A66692C0}"/>
              </a:ext>
            </a:extLst>
          </p:cNvPr>
          <p:cNvSpPr>
            <a:spLocks noGrp="1"/>
          </p:cNvSpPr>
          <p:nvPr>
            <p:ph type="sldNum" sz="quarter" idx="5"/>
          </p:nvPr>
        </p:nvSpPr>
        <p:spPr/>
        <p:txBody>
          <a:bodyPr/>
          <a:lstStyle/>
          <a:p>
            <a:fld id="{955D7972-3D0C-4FE3-9B76-3CD89F8C94A1}" type="slidenum">
              <a:rPr lang="en-PH" smtClean="0"/>
              <a:t>72</a:t>
            </a:fld>
            <a:endParaRPr lang="en-PH"/>
          </a:p>
        </p:txBody>
      </p:sp>
    </p:spTree>
    <p:extLst>
      <p:ext uri="{BB962C8B-B14F-4D97-AF65-F5344CB8AC3E}">
        <p14:creationId xmlns:p14="http://schemas.microsoft.com/office/powerpoint/2010/main" val="30000701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4442F-9A3B-0428-7FAD-738BAFB85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854D5-F617-1680-EAD6-6064F0AB27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71434-0CE4-FAD9-2973-9E43D04B4705}"/>
              </a:ext>
            </a:extLst>
          </p:cNvPr>
          <p:cNvSpPr>
            <a:spLocks noGrp="1"/>
          </p:cNvSpPr>
          <p:nvPr>
            <p:ph type="body" idx="1"/>
          </p:nvPr>
        </p:nvSpPr>
        <p:spPr/>
        <p:txBody>
          <a:bodyPr/>
          <a:lstStyle/>
          <a:p>
            <a:r>
              <a:t>The Law of Similarity says that objects that look alike (color, shape, size, font or style) are perceived as belonging together, even if they're not physically close.</a:t>
            </a:r>
          </a:p>
        </p:txBody>
      </p:sp>
      <p:sp>
        <p:nvSpPr>
          <p:cNvPr id="4" name="Slide Number Placeholder 3">
            <a:extLst>
              <a:ext uri="{FF2B5EF4-FFF2-40B4-BE49-F238E27FC236}">
                <a16:creationId xmlns:a16="http://schemas.microsoft.com/office/drawing/2014/main" id="{DB61D4A3-EF09-3DE4-8639-18838937C10C}"/>
              </a:ext>
            </a:extLst>
          </p:cNvPr>
          <p:cNvSpPr>
            <a:spLocks noGrp="1"/>
          </p:cNvSpPr>
          <p:nvPr>
            <p:ph type="sldNum" sz="quarter" idx="5"/>
          </p:nvPr>
        </p:nvSpPr>
        <p:spPr/>
        <p:txBody>
          <a:bodyPr/>
          <a:lstStyle/>
          <a:p>
            <a:fld id="{955D7972-3D0C-4FE3-9B76-3CD89F8C94A1}" type="slidenum">
              <a:rPr lang="en-PH" smtClean="0"/>
              <a:t>73</a:t>
            </a:fld>
            <a:endParaRPr lang="en-PH"/>
          </a:p>
        </p:txBody>
      </p:sp>
    </p:spTree>
    <p:extLst>
      <p:ext uri="{BB962C8B-B14F-4D97-AF65-F5344CB8AC3E}">
        <p14:creationId xmlns:p14="http://schemas.microsoft.com/office/powerpoint/2010/main" val="28052212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F553C-6A4F-E3EE-D5C6-15C3CBD95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62635A-3E31-7521-4E32-22E9477AE0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26897A-A47D-A50B-51D9-9AE52C9AB3C0}"/>
              </a:ext>
            </a:extLst>
          </p:cNvPr>
          <p:cNvSpPr>
            <a:spLocks noGrp="1"/>
          </p:cNvSpPr>
          <p:nvPr>
            <p:ph type="body" idx="1"/>
          </p:nvPr>
        </p:nvSpPr>
        <p:spPr/>
        <p:txBody>
          <a:bodyPr/>
          <a:lstStyle/>
          <a:p>
            <a:r>
              <a:t>The Law of Similarity says that objects that look alike (color, shape, size, font or style) are perceived as belonging together, even if they're not physically close.</a:t>
            </a:r>
          </a:p>
        </p:txBody>
      </p:sp>
      <p:sp>
        <p:nvSpPr>
          <p:cNvPr id="4" name="Slide Number Placeholder 3">
            <a:extLst>
              <a:ext uri="{FF2B5EF4-FFF2-40B4-BE49-F238E27FC236}">
                <a16:creationId xmlns:a16="http://schemas.microsoft.com/office/drawing/2014/main" id="{2E78FA7D-EEDB-423B-207E-365A4C0CE2A7}"/>
              </a:ext>
            </a:extLst>
          </p:cNvPr>
          <p:cNvSpPr>
            <a:spLocks noGrp="1"/>
          </p:cNvSpPr>
          <p:nvPr>
            <p:ph type="sldNum" sz="quarter" idx="5"/>
          </p:nvPr>
        </p:nvSpPr>
        <p:spPr/>
        <p:txBody>
          <a:bodyPr/>
          <a:lstStyle/>
          <a:p>
            <a:fld id="{955D7972-3D0C-4FE3-9B76-3CD89F8C94A1}" type="slidenum">
              <a:rPr lang="en-PH" smtClean="0"/>
              <a:t>74</a:t>
            </a:fld>
            <a:endParaRPr lang="en-PH"/>
          </a:p>
        </p:txBody>
      </p:sp>
    </p:spTree>
    <p:extLst>
      <p:ext uri="{BB962C8B-B14F-4D97-AF65-F5344CB8AC3E}">
        <p14:creationId xmlns:p14="http://schemas.microsoft.com/office/powerpoint/2010/main" val="30212744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C7D4E-F718-7104-15B6-B9674F82D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CBA626-5F5E-DAC1-DAB1-27A18CF04C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6885B-FAEE-99C9-62DF-B4450EACCE0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Group functions of a similar nature so they are visually connected via </a:t>
            </a:r>
            <a:r>
              <a:rPr lang="en-US" sz="1200" b="1" i="0" kern="1200" dirty="0">
                <a:solidFill>
                  <a:schemeClr val="tx1"/>
                </a:solidFill>
                <a:effectLst/>
                <a:latin typeface="+mn-lt"/>
                <a:ea typeface="+mn-ea"/>
                <a:cs typeface="+mn-cs"/>
              </a:rPr>
              <a:t>colors, lines, frames, or other shapes.</a:t>
            </a:r>
          </a:p>
          <a:p>
            <a:r>
              <a:rPr lang="en-US" sz="1200" b="0" i="0" kern="1200" dirty="0">
                <a:solidFill>
                  <a:schemeClr val="tx1"/>
                </a:solidFill>
                <a:effectLst/>
                <a:latin typeface="+mn-lt"/>
                <a:ea typeface="+mn-ea"/>
                <a:cs typeface="+mn-cs"/>
              </a:rPr>
              <a:t>Alternately, you can use a tangible connecting reference (line, arrow,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 from one element to the next to also create a visual connection.</a:t>
            </a:r>
          </a:p>
          <a:p>
            <a:r>
              <a:rPr lang="en-US" sz="1200" b="0" i="0" kern="1200" dirty="0">
                <a:solidFill>
                  <a:schemeClr val="tx1"/>
                </a:solidFill>
                <a:effectLst/>
                <a:latin typeface="+mn-lt"/>
                <a:ea typeface="+mn-ea"/>
                <a:cs typeface="+mn-cs"/>
              </a:rPr>
              <a:t>Use uniform connectedness to show context or to emphasize the relationship between similar items.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DD5A3013-2594-BEB2-BF46-55A1D7375E9C}"/>
              </a:ext>
            </a:extLst>
          </p:cNvPr>
          <p:cNvSpPr>
            <a:spLocks noGrp="1"/>
          </p:cNvSpPr>
          <p:nvPr>
            <p:ph type="sldNum" sz="quarter" idx="5"/>
          </p:nvPr>
        </p:nvSpPr>
        <p:spPr/>
        <p:txBody>
          <a:bodyPr/>
          <a:lstStyle/>
          <a:p>
            <a:fld id="{955D7972-3D0C-4FE3-9B76-3CD89F8C94A1}" type="slidenum">
              <a:rPr lang="en-PH" smtClean="0"/>
              <a:t>75</a:t>
            </a:fld>
            <a:endParaRPr lang="en-PH"/>
          </a:p>
        </p:txBody>
      </p:sp>
    </p:spTree>
    <p:extLst>
      <p:ext uri="{BB962C8B-B14F-4D97-AF65-F5344CB8AC3E}">
        <p14:creationId xmlns:p14="http://schemas.microsoft.com/office/powerpoint/2010/main" val="32720954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4D4A0-0094-8690-1381-A1E100BAC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42847-093E-9EDA-51B7-5D1991F9F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891A20-3AAF-92AB-BA25-87E9F54A12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Related to Jakob’s Law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a:p>
            <a:pPr marL="228600" indent="-228600">
              <a:buFont typeface="+mj-lt"/>
              <a:buAutoNum type="arabicPeriod"/>
            </a:pPr>
            <a:r>
              <a:rPr lang="en-US" sz="1200" b="0" i="0" kern="1200" dirty="0">
                <a:solidFill>
                  <a:schemeClr val="tx1"/>
                </a:solidFill>
                <a:effectLst/>
                <a:latin typeface="+mn-lt"/>
                <a:ea typeface="+mn-ea"/>
                <a:cs typeface="+mn-cs"/>
              </a:rPr>
              <a:t>We form a working model in our minds around what we think we know about a system, especially about how it works, and then we apply that model to new situations where the system is similar.</a:t>
            </a:r>
          </a:p>
          <a:p>
            <a:pPr marL="228600" indent="-228600">
              <a:buFont typeface="+mj-lt"/>
              <a:buAutoNum type="arabicPeriod"/>
            </a:pPr>
            <a:r>
              <a:rPr lang="en-US" sz="1200" b="0" i="0" kern="1200" dirty="0">
                <a:solidFill>
                  <a:schemeClr val="tx1"/>
                </a:solidFill>
                <a:effectLst/>
                <a:latin typeface="+mn-lt"/>
                <a:ea typeface="+mn-ea"/>
                <a:cs typeface="+mn-cs"/>
              </a:rPr>
              <a:t>Match designs to the users’ mental models to improve their experience. This enables them to easily transfer their knowledge from one product or experience to another, without the need to first take the time to understand how the new system works.</a:t>
            </a:r>
          </a:p>
          <a:p>
            <a:pPr marL="228600" indent="-228600">
              <a:buFont typeface="+mj-lt"/>
              <a:buAutoNum type="arabicPeriod"/>
            </a:pPr>
            <a:r>
              <a:rPr lang="en-US" sz="1200" b="0" i="0" kern="1200" dirty="0">
                <a:solidFill>
                  <a:schemeClr val="tx1"/>
                </a:solidFill>
                <a:effectLst/>
                <a:latin typeface="+mn-lt"/>
                <a:ea typeface="+mn-ea"/>
                <a:cs typeface="+mn-cs"/>
              </a:rPr>
              <a:t>Good user experiences are made possible when the design of a product or service is in alignment with the user’s mental model. Take for example e-commerce websites, which use consistent patterns and conventions such product cards, virtual carts and checkout flows in order to conform to users’ expectations.</a:t>
            </a:r>
          </a:p>
          <a:p>
            <a:pPr marL="228600" indent="-228600">
              <a:buFont typeface="+mj-lt"/>
              <a:buAutoNum type="arabicPeriod"/>
            </a:pPr>
            <a:r>
              <a:rPr lang="en-US" sz="1200" b="0" i="0" kern="1200" dirty="0">
                <a:solidFill>
                  <a:schemeClr val="tx1"/>
                </a:solidFill>
                <a:effectLst/>
                <a:latin typeface="+mn-lt"/>
                <a:ea typeface="+mn-ea"/>
                <a:cs typeface="+mn-cs"/>
              </a:rPr>
              <a:t>The task of shrinking the gap between our own mental models and those of the users is one of the biggest challenges we face, and to achieve this goal we use a variety of user research methods (e.g. user interviews, personas, journey maps, empathy maps).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p:txBody>
      </p:sp>
      <p:sp>
        <p:nvSpPr>
          <p:cNvPr id="4" name="Slide Number Placeholder 3">
            <a:extLst>
              <a:ext uri="{FF2B5EF4-FFF2-40B4-BE49-F238E27FC236}">
                <a16:creationId xmlns:a16="http://schemas.microsoft.com/office/drawing/2014/main" id="{A9F4707C-3E66-F6AC-392D-D01F3A6AB857}"/>
              </a:ext>
            </a:extLst>
          </p:cNvPr>
          <p:cNvSpPr>
            <a:spLocks noGrp="1"/>
          </p:cNvSpPr>
          <p:nvPr>
            <p:ph type="sldNum" sz="quarter" idx="5"/>
          </p:nvPr>
        </p:nvSpPr>
        <p:spPr/>
        <p:txBody>
          <a:bodyPr/>
          <a:lstStyle/>
          <a:p>
            <a:fld id="{955D7972-3D0C-4FE3-9B76-3CD89F8C94A1}" type="slidenum">
              <a:rPr lang="en-PH" smtClean="0"/>
              <a:t>76</a:t>
            </a:fld>
            <a:endParaRPr lang="en-PH"/>
          </a:p>
        </p:txBody>
      </p:sp>
    </p:spTree>
    <p:extLst>
      <p:ext uri="{BB962C8B-B14F-4D97-AF65-F5344CB8AC3E}">
        <p14:creationId xmlns:p14="http://schemas.microsoft.com/office/powerpoint/2010/main" val="39051271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91C05-4C3D-4D2F-BD3D-5118F8F35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C67E5-9BF8-3164-EDBF-3E78138F1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ABEC63-723B-19BA-8B02-51842654937B}"/>
              </a:ext>
            </a:extLst>
          </p:cNvPr>
          <p:cNvSpPr>
            <a:spLocks noGrp="1"/>
          </p:cNvSpPr>
          <p:nvPr>
            <p:ph type="body" idx="1"/>
          </p:nvPr>
        </p:nvSpPr>
        <p:spPr/>
        <p:txBody>
          <a:bodyPr/>
          <a:lstStyle/>
          <a:p>
            <a:r>
              <a:t>Miller's Law: the average person can keep about 7 (plus or minus 2) items in working memory. Later research suggests the real limit is closer to 4 chunks.</a:t>
            </a:r>
          </a:p>
          <a:p/>
          <a:p>
            <a:r>
              <a:t>Use it as a reason to chunk information, not as a strict rule on how many menu items you may have.</a:t>
            </a:r>
          </a:p>
        </p:txBody>
      </p:sp>
      <p:sp>
        <p:nvSpPr>
          <p:cNvPr id="4" name="Slide Number Placeholder 3">
            <a:extLst>
              <a:ext uri="{FF2B5EF4-FFF2-40B4-BE49-F238E27FC236}">
                <a16:creationId xmlns:a16="http://schemas.microsoft.com/office/drawing/2014/main" id="{3255BBA8-3DC7-2CDD-1580-5DB086D87964}"/>
              </a:ext>
            </a:extLst>
          </p:cNvPr>
          <p:cNvSpPr>
            <a:spLocks noGrp="1"/>
          </p:cNvSpPr>
          <p:nvPr>
            <p:ph type="sldNum" sz="quarter" idx="5"/>
          </p:nvPr>
        </p:nvSpPr>
        <p:spPr/>
        <p:txBody>
          <a:bodyPr/>
          <a:lstStyle/>
          <a:p>
            <a:fld id="{955D7972-3D0C-4FE3-9B76-3CD89F8C94A1}" type="slidenum">
              <a:rPr lang="en-PH" smtClean="0"/>
              <a:t>77</a:t>
            </a:fld>
            <a:endParaRPr lang="en-PH"/>
          </a:p>
        </p:txBody>
      </p:sp>
    </p:spTree>
    <p:extLst>
      <p:ext uri="{BB962C8B-B14F-4D97-AF65-F5344CB8AC3E}">
        <p14:creationId xmlns:p14="http://schemas.microsoft.com/office/powerpoint/2010/main" val="49659877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C3563-9E9B-7D3F-085F-D17AF6BF9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7A779-6D5F-5FDF-DA7C-068BDDEDDB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ECDD31-38E1-42DA-682E-10D1CD3222AB}"/>
              </a:ext>
            </a:extLst>
          </p:cNvPr>
          <p:cNvSpPr>
            <a:spLocks noGrp="1"/>
          </p:cNvSpPr>
          <p:nvPr>
            <p:ph type="body" idx="1"/>
          </p:nvPr>
        </p:nvSpPr>
        <p:spPr/>
        <p:txBody>
          <a:bodyPr/>
          <a:lstStyle/>
          <a:p>
            <a:r>
              <a:t>Occam's Razor: among competing hypotheses that predict equally well, the one with the fewest assumptions should be selected. Named after the medieval philosopher William of Ockham: when there are several explanations, the simplest one is usually right.</a:t>
            </a:r>
          </a:p>
          <a:p/>
          <a:p>
            <a:r>
              <a:t>In interface design, simplicity reigns. Avoid cluttered menus and convoluted navigation, keep steps and choices to a minimum, and remove anything that doesn't help the user's goal. Google and Airbnb use clean, straightforward interfaces that let users find what they need with little effort.</a:t>
            </a:r>
          </a:p>
        </p:txBody>
      </p:sp>
      <p:sp>
        <p:nvSpPr>
          <p:cNvPr id="4" name="Slide Number Placeholder 3">
            <a:extLst>
              <a:ext uri="{FF2B5EF4-FFF2-40B4-BE49-F238E27FC236}">
                <a16:creationId xmlns:a16="http://schemas.microsoft.com/office/drawing/2014/main" id="{52C61FB7-4232-E2B2-DBAF-9DEEA3EA6A07}"/>
              </a:ext>
            </a:extLst>
          </p:cNvPr>
          <p:cNvSpPr>
            <a:spLocks noGrp="1"/>
          </p:cNvSpPr>
          <p:nvPr>
            <p:ph type="sldNum" sz="quarter" idx="5"/>
          </p:nvPr>
        </p:nvSpPr>
        <p:spPr/>
        <p:txBody>
          <a:bodyPr/>
          <a:lstStyle/>
          <a:p>
            <a:fld id="{955D7972-3D0C-4FE3-9B76-3CD89F8C94A1}" type="slidenum">
              <a:rPr lang="en-PH" smtClean="0"/>
              <a:t>78</a:t>
            </a:fld>
            <a:endParaRPr lang="en-PH"/>
          </a:p>
        </p:txBody>
      </p:sp>
    </p:spTree>
    <p:extLst>
      <p:ext uri="{BB962C8B-B14F-4D97-AF65-F5344CB8AC3E}">
        <p14:creationId xmlns:p14="http://schemas.microsoft.com/office/powerpoint/2010/main" val="42336322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E0FF9-4A72-D501-4F62-837A9DB03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3F1C4-F4BA-2916-B582-41B030382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DEEB5C-DAD3-940C-ADD2-09F6515D9E11}"/>
              </a:ext>
            </a:extLst>
          </p:cNvPr>
          <p:cNvSpPr>
            <a:spLocks noGrp="1"/>
          </p:cNvSpPr>
          <p:nvPr>
            <p:ph type="body" idx="1"/>
          </p:nvPr>
        </p:nvSpPr>
        <p:spPr/>
        <p:txBody>
          <a:bodyPr/>
          <a:lstStyle/>
          <a:p>
            <a:r>
              <a:t>Users never read manuals; they start using the software immediately. They want to finish their task now, so they skip tutorials, even though learning the system would save them time later.</a:t>
            </a:r>
          </a:p>
          <a:p/>
          <a:p>
            <a:r>
              <a:t>Ask the class: How many apps you signed up for had a guided tour? How many tours did you actually finish?</a:t>
            </a:r>
          </a:p>
          <a:p/>
          <a:p>
            <a:r>
              <a:t>Takeaways:</a:t>
            </a:r>
          </a:p>
          <a:p>
            <a:r>
              <a:t>- Make the interface self-explanatory: clear labels, visual cues, familiar patterns.</a:t>
            </a:r>
          </a:p>
          <a:p>
            <a:r>
              <a:t>- Put help inside the experience, where and when it's needed (tooltips, inline tips, checklists), instead of in a manual.</a:t>
            </a:r>
          </a:p>
          <a:p/>
          <a:p>
            <a:r>
              <a:t>Everyday example: a new Discord server shows a short "get started" checklist right inside the server, so people learn while doing.</a:t>
            </a:r>
          </a:p>
        </p:txBody>
      </p:sp>
      <p:sp>
        <p:nvSpPr>
          <p:cNvPr id="4" name="Slide Number Placeholder 3">
            <a:extLst>
              <a:ext uri="{FF2B5EF4-FFF2-40B4-BE49-F238E27FC236}">
                <a16:creationId xmlns:a16="http://schemas.microsoft.com/office/drawing/2014/main" id="{7C788A2F-3504-A86B-1C66-3C48EA5AA699}"/>
              </a:ext>
            </a:extLst>
          </p:cNvPr>
          <p:cNvSpPr>
            <a:spLocks noGrp="1"/>
          </p:cNvSpPr>
          <p:nvPr>
            <p:ph type="sldNum" sz="quarter" idx="5"/>
          </p:nvPr>
        </p:nvSpPr>
        <p:spPr/>
        <p:txBody>
          <a:bodyPr/>
          <a:lstStyle/>
          <a:p>
            <a:fld id="{955D7972-3D0C-4FE3-9B76-3CD89F8C94A1}" type="slidenum">
              <a:rPr lang="en-PH" smtClean="0"/>
              <a:t>79</a:t>
            </a:fld>
            <a:endParaRPr lang="en-PH"/>
          </a:p>
        </p:txBody>
      </p:sp>
    </p:spTree>
    <p:extLst>
      <p:ext uri="{BB962C8B-B14F-4D97-AF65-F5344CB8AC3E}">
        <p14:creationId xmlns:p14="http://schemas.microsoft.com/office/powerpoint/2010/main" val="19761236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42501-BDE8-E456-3AAC-EAFB93728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33522-C62E-A280-8E2B-AB64AD199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7A9070-CFBE-E012-1498-D3125F1A17E1}"/>
              </a:ext>
            </a:extLst>
          </p:cNvPr>
          <p:cNvSpPr>
            <a:spLocks noGrp="1"/>
          </p:cNvSpPr>
          <p:nvPr>
            <p:ph type="body" idx="1"/>
          </p:nvPr>
        </p:nvSpPr>
        <p:spPr/>
        <p:txBody>
          <a:bodyPr/>
          <a:lstStyle/>
          <a:p>
            <a:r>
              <a:t>The Pareto principle states that, for many events, roughly 80% of the effects come from 20% of the causes. In UX: a small set of features gets most of the use, so make those fast and visible, and tuck the rest away.</a:t>
            </a:r>
          </a:p>
          <a:p/>
          <a:p>
            <a:r>
              <a:t>Everyday example: Instagram. Most time goes to scrolling, searching, posting, Reels and your profile, so those five get the bottom tabs. The dozens of settings are behind the menu.</a:t>
            </a:r>
          </a:p>
        </p:txBody>
      </p:sp>
      <p:sp>
        <p:nvSpPr>
          <p:cNvPr id="4" name="Slide Number Placeholder 3">
            <a:extLst>
              <a:ext uri="{FF2B5EF4-FFF2-40B4-BE49-F238E27FC236}">
                <a16:creationId xmlns:a16="http://schemas.microsoft.com/office/drawing/2014/main" id="{F6534C80-EA99-BFFD-C0A9-848073DA533B}"/>
              </a:ext>
            </a:extLst>
          </p:cNvPr>
          <p:cNvSpPr>
            <a:spLocks noGrp="1"/>
          </p:cNvSpPr>
          <p:nvPr>
            <p:ph type="sldNum" sz="quarter" idx="5"/>
          </p:nvPr>
        </p:nvSpPr>
        <p:spPr/>
        <p:txBody>
          <a:bodyPr/>
          <a:lstStyle/>
          <a:p>
            <a:fld id="{955D7972-3D0C-4FE3-9B76-3CD89F8C94A1}" type="slidenum">
              <a:rPr lang="en-PH" smtClean="0"/>
              <a:t>80</a:t>
            </a:fld>
            <a:endParaRPr lang="en-PH"/>
          </a:p>
        </p:txBody>
      </p:sp>
    </p:spTree>
    <p:extLst>
      <p:ext uri="{BB962C8B-B14F-4D97-AF65-F5344CB8AC3E}">
        <p14:creationId xmlns:p14="http://schemas.microsoft.com/office/powerpoint/2010/main" val="35360455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76287-50CC-DB14-F2F6-235C2BD9B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5F4B5-6901-256B-F502-A07894C2B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7FAB04-1F81-DA55-5319-E3EBFAB21608}"/>
              </a:ext>
            </a:extLst>
          </p:cNvPr>
          <p:cNvSpPr>
            <a:spLocks noGrp="1"/>
          </p:cNvSpPr>
          <p:nvPr>
            <p:ph type="body" idx="1"/>
          </p:nvPr>
        </p:nvSpPr>
        <p:spPr/>
        <p:txBody>
          <a:bodyPr/>
          <a:lstStyle/>
          <a:p>
            <a:r>
              <a:t>Parkinson's Law: any task will inflate until all of the available time is spent.</a:t>
            </a:r>
          </a:p>
          <a:p/>
          <a:p>
            <a:r>
              <a:t>In UX: keep a task within the time users expect, or shorter. Autofill, saved logins and remembered details shrink the task so it never drags.</a:t>
            </a:r>
          </a:p>
          <a:p/>
          <a:p>
            <a:r>
              <a:t>Everyday example: Facebook remembers your account, so logging back in can be one tap instead of typing an email and password.</a:t>
            </a:r>
          </a:p>
        </p:txBody>
      </p:sp>
      <p:sp>
        <p:nvSpPr>
          <p:cNvPr id="4" name="Slide Number Placeholder 3">
            <a:extLst>
              <a:ext uri="{FF2B5EF4-FFF2-40B4-BE49-F238E27FC236}">
                <a16:creationId xmlns:a16="http://schemas.microsoft.com/office/drawing/2014/main" id="{F716107C-B376-B10B-9B73-761BC49A51E9}"/>
              </a:ext>
            </a:extLst>
          </p:cNvPr>
          <p:cNvSpPr>
            <a:spLocks noGrp="1"/>
          </p:cNvSpPr>
          <p:nvPr>
            <p:ph type="sldNum" sz="quarter" idx="5"/>
          </p:nvPr>
        </p:nvSpPr>
        <p:spPr/>
        <p:txBody>
          <a:bodyPr/>
          <a:lstStyle/>
          <a:p>
            <a:fld id="{955D7972-3D0C-4FE3-9B76-3CD89F8C94A1}" type="slidenum">
              <a:rPr lang="en-PH" smtClean="0"/>
              <a:t>81</a:t>
            </a:fld>
            <a:endParaRPr lang="en-PH"/>
          </a:p>
        </p:txBody>
      </p:sp>
    </p:spTree>
    <p:extLst>
      <p:ext uri="{BB962C8B-B14F-4D97-AF65-F5344CB8AC3E}">
        <p14:creationId xmlns:p14="http://schemas.microsoft.com/office/powerpoint/2010/main" val="11353061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D770A-A613-0843-6DF2-1A6211774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2E574-5600-3A3B-4AD3-3E18C62BB0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A14C1-0A6C-8688-5CA9-8CAA37B3C234}"/>
              </a:ext>
            </a:extLst>
          </p:cNvPr>
          <p:cNvSpPr>
            <a:spLocks noGrp="1"/>
          </p:cNvSpPr>
          <p:nvPr>
            <p:ph type="body" idx="1"/>
          </p:nvPr>
        </p:nvSpPr>
        <p:spPr/>
        <p:txBody>
          <a:bodyPr/>
          <a:lstStyle/>
          <a:p>
            <a:r>
              <a:t>Peak-End Rule: people judge an experience largely by how they felt at its peak (most intense moment) and at its end, rather than by the average of every moment.</a:t>
            </a:r>
          </a:p>
          <a:p/>
          <a:p>
            <a:r>
              <a:t>Design the most intense moment and the final moment with care. A payment that ends with a clear, friendly success screen (amount, recipient, reference number) feels smooth even if one step was slow.</a:t>
            </a:r>
          </a:p>
          <a:p/>
          <a:p>
            <a:r>
              <a:t>When things go wrong, the error screen becomes the "end" users remember, so make it helpful.</a:t>
            </a:r>
          </a:p>
        </p:txBody>
      </p:sp>
      <p:sp>
        <p:nvSpPr>
          <p:cNvPr id="4" name="Slide Number Placeholder 3">
            <a:extLst>
              <a:ext uri="{FF2B5EF4-FFF2-40B4-BE49-F238E27FC236}">
                <a16:creationId xmlns:a16="http://schemas.microsoft.com/office/drawing/2014/main" id="{2124BB43-6979-8CE4-FB3B-E77D041F388E}"/>
              </a:ext>
            </a:extLst>
          </p:cNvPr>
          <p:cNvSpPr>
            <a:spLocks noGrp="1"/>
          </p:cNvSpPr>
          <p:nvPr>
            <p:ph type="sldNum" sz="quarter" idx="5"/>
          </p:nvPr>
        </p:nvSpPr>
        <p:spPr/>
        <p:txBody>
          <a:bodyPr/>
          <a:lstStyle/>
          <a:p>
            <a:fld id="{955D7972-3D0C-4FE3-9B76-3CD89F8C94A1}" type="slidenum">
              <a:rPr lang="en-PH" smtClean="0"/>
              <a:t>82</a:t>
            </a:fld>
            <a:endParaRPr lang="en-PH"/>
          </a:p>
        </p:txBody>
      </p:sp>
    </p:spTree>
    <p:extLst>
      <p:ext uri="{BB962C8B-B14F-4D97-AF65-F5344CB8AC3E}">
        <p14:creationId xmlns:p14="http://schemas.microsoft.com/office/powerpoint/2010/main" val="12703569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FCD3B-96C6-1F57-D1DB-A3965BBFF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57D33-A142-78D0-D984-351055E78E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B6DC0-ED5B-A73F-1E96-08B4C4E69751}"/>
              </a:ext>
            </a:extLst>
          </p:cNvPr>
          <p:cNvSpPr>
            <a:spLocks noGrp="1"/>
          </p:cNvSpPr>
          <p:nvPr>
            <p:ph type="body" idx="1"/>
          </p:nvPr>
        </p:nvSpPr>
        <p:spPr/>
        <p:txBody>
          <a:bodyPr/>
          <a:lstStyle/>
          <a:p>
            <a:r>
              <a:t>Postel's Law (the robustness principle): be liberal in what you accept, and conservative in what you send. Accept many kinds of input, then give back clean, consistent output.</a:t>
            </a:r>
          </a:p>
          <a:p/>
          <a:p>
            <a:r>
              <a:t>Example: a send-money form should accept 0917 123 4567, +63 917 123 4567 or 917-123-4567 and quietly convert them to one format, instead of showing "Invalid number".</a:t>
            </a:r>
          </a:p>
        </p:txBody>
      </p:sp>
      <p:sp>
        <p:nvSpPr>
          <p:cNvPr id="4" name="Slide Number Placeholder 3">
            <a:extLst>
              <a:ext uri="{FF2B5EF4-FFF2-40B4-BE49-F238E27FC236}">
                <a16:creationId xmlns:a16="http://schemas.microsoft.com/office/drawing/2014/main" id="{A3C887E9-CC3F-2CB4-8CE4-51ED5929E3F7}"/>
              </a:ext>
            </a:extLst>
          </p:cNvPr>
          <p:cNvSpPr>
            <a:spLocks noGrp="1"/>
          </p:cNvSpPr>
          <p:nvPr>
            <p:ph type="sldNum" sz="quarter" idx="5"/>
          </p:nvPr>
        </p:nvSpPr>
        <p:spPr/>
        <p:txBody>
          <a:bodyPr/>
          <a:lstStyle/>
          <a:p>
            <a:fld id="{955D7972-3D0C-4FE3-9B76-3CD89F8C94A1}" type="slidenum">
              <a:rPr lang="en-PH" smtClean="0"/>
              <a:t>83</a:t>
            </a:fld>
            <a:endParaRPr lang="en-PH"/>
          </a:p>
        </p:txBody>
      </p:sp>
    </p:spTree>
    <p:extLst>
      <p:ext uri="{BB962C8B-B14F-4D97-AF65-F5344CB8AC3E}">
        <p14:creationId xmlns:p14="http://schemas.microsoft.com/office/powerpoint/2010/main" val="3651723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AA9B4-4A56-2BB8-AEDB-F87B30EFC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CC722-32E9-8416-2DE3-BF582E2B2A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9F6D2-E482-D03F-31DB-FD5D665B8E48}"/>
              </a:ext>
            </a:extLst>
          </p:cNvPr>
          <p:cNvSpPr>
            <a:spLocks noGrp="1"/>
          </p:cNvSpPr>
          <p:nvPr>
            <p:ph type="body" idx="1"/>
          </p:nvPr>
        </p:nvSpPr>
        <p:spPr/>
        <p:txBody>
          <a:bodyPr/>
          <a:lstStyle/>
          <a:p>
            <a:r>
              <a:t>Selective attention: the process of focusing our attention on only a subset of stimuli in an environment, usually those related to our goals.</a:t>
            </a:r>
          </a:p>
          <a:p/>
          <a:p>
            <a:r>
              <a:t>Banner blindness: users learn to ignore anything that looks like an ad. On Facebook, posts marked "Sponsored" are often scrolled past without being read.</a:t>
            </a:r>
          </a:p>
          <a:p/>
          <a:p>
            <a:r>
              <a:t>Design lesson: don't make important content look like an ad, and don't fight for attention with flashing elements; guide it with clear visual hierarchy.</a:t>
            </a:r>
          </a:p>
        </p:txBody>
      </p:sp>
      <p:sp>
        <p:nvSpPr>
          <p:cNvPr id="4" name="Slide Number Placeholder 3">
            <a:extLst>
              <a:ext uri="{FF2B5EF4-FFF2-40B4-BE49-F238E27FC236}">
                <a16:creationId xmlns:a16="http://schemas.microsoft.com/office/drawing/2014/main" id="{BF3C72CD-C1A0-030A-AF5C-4DC5C1C17E0D}"/>
              </a:ext>
            </a:extLst>
          </p:cNvPr>
          <p:cNvSpPr>
            <a:spLocks noGrp="1"/>
          </p:cNvSpPr>
          <p:nvPr>
            <p:ph type="sldNum" sz="quarter" idx="5"/>
          </p:nvPr>
        </p:nvSpPr>
        <p:spPr/>
        <p:txBody>
          <a:bodyPr/>
          <a:lstStyle/>
          <a:p>
            <a:fld id="{955D7972-3D0C-4FE3-9B76-3CD89F8C94A1}" type="slidenum">
              <a:rPr lang="en-PH" smtClean="0"/>
              <a:t>84</a:t>
            </a:fld>
            <a:endParaRPr lang="en-PH"/>
          </a:p>
        </p:txBody>
      </p:sp>
    </p:spTree>
    <p:extLst>
      <p:ext uri="{BB962C8B-B14F-4D97-AF65-F5344CB8AC3E}">
        <p14:creationId xmlns:p14="http://schemas.microsoft.com/office/powerpoint/2010/main" val="32597545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53C91-3F6C-3BE7-A990-C7F6C560A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6638B-AE95-D22D-C7DA-16C9C24A62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413B0-0829-5105-E0B5-2DE75285AA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Close your eyes and try to remember. Chances are, you'll remember the first few items and the last few items better than the ones in the middle.</a:t>
            </a:r>
            <a:endParaRPr lang="en-PH" dirty="0"/>
          </a:p>
        </p:txBody>
      </p:sp>
      <p:sp>
        <p:nvSpPr>
          <p:cNvPr id="4" name="Slide Number Placeholder 3">
            <a:extLst>
              <a:ext uri="{FF2B5EF4-FFF2-40B4-BE49-F238E27FC236}">
                <a16:creationId xmlns:a16="http://schemas.microsoft.com/office/drawing/2014/main" id="{836E0511-5EFA-5B0B-E577-5ABADD13F579}"/>
              </a:ext>
            </a:extLst>
          </p:cNvPr>
          <p:cNvSpPr>
            <a:spLocks noGrp="1"/>
          </p:cNvSpPr>
          <p:nvPr>
            <p:ph type="sldNum" sz="quarter" idx="5"/>
          </p:nvPr>
        </p:nvSpPr>
        <p:spPr/>
        <p:txBody>
          <a:bodyPr/>
          <a:lstStyle/>
          <a:p>
            <a:fld id="{955D7972-3D0C-4FE3-9B76-3CD89F8C94A1}" type="slidenum">
              <a:rPr lang="en-PH" smtClean="0"/>
              <a:t>85</a:t>
            </a:fld>
            <a:endParaRPr lang="en-PH"/>
          </a:p>
        </p:txBody>
      </p:sp>
    </p:spTree>
    <p:extLst>
      <p:ext uri="{BB962C8B-B14F-4D97-AF65-F5344CB8AC3E}">
        <p14:creationId xmlns:p14="http://schemas.microsoft.com/office/powerpoint/2010/main" val="2324784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507F9-A424-5119-510E-4E980A23E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118E2-7976-B71A-F58E-35B77A800B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4296D-7BCE-6D4A-3ABA-A925F9FA6872}"/>
              </a:ext>
            </a:extLst>
          </p:cNvPr>
          <p:cNvSpPr>
            <a:spLocks noGrp="1"/>
          </p:cNvSpPr>
          <p:nvPr>
            <p:ph type="body" idx="1"/>
          </p:nvPr>
        </p:nvSpPr>
        <p:spPr/>
        <p:txBody>
          <a:bodyPr/>
          <a:lstStyle/>
          <a:p>
            <a:r>
              <a:t>Tesler's Law (Law of Conservation of Complexity): every system has a certain amount of complexity that cannot be removed. The only question is who deals with it: the user or the system.</a:t>
            </a:r>
          </a:p>
          <a:p/>
          <a:p>
            <a:r>
              <a:t>Good design moves complexity to the system, e.g., tax software asks simple questions and does the calculations itself.</a:t>
            </a:r>
          </a:p>
        </p:txBody>
      </p:sp>
      <p:sp>
        <p:nvSpPr>
          <p:cNvPr id="4" name="Slide Number Placeholder 3">
            <a:extLst>
              <a:ext uri="{FF2B5EF4-FFF2-40B4-BE49-F238E27FC236}">
                <a16:creationId xmlns:a16="http://schemas.microsoft.com/office/drawing/2014/main" id="{6D070535-81BD-7BA9-000A-580AB8EB1E2C}"/>
              </a:ext>
            </a:extLst>
          </p:cNvPr>
          <p:cNvSpPr>
            <a:spLocks noGrp="1"/>
          </p:cNvSpPr>
          <p:nvPr>
            <p:ph type="sldNum" sz="quarter" idx="5"/>
          </p:nvPr>
        </p:nvSpPr>
        <p:spPr/>
        <p:txBody>
          <a:bodyPr/>
          <a:lstStyle/>
          <a:p>
            <a:fld id="{955D7972-3D0C-4FE3-9B76-3CD89F8C94A1}" type="slidenum">
              <a:rPr lang="en-PH" smtClean="0"/>
              <a:t>86</a:t>
            </a:fld>
            <a:endParaRPr lang="en-PH"/>
          </a:p>
        </p:txBody>
      </p:sp>
    </p:spTree>
    <p:extLst>
      <p:ext uri="{BB962C8B-B14F-4D97-AF65-F5344CB8AC3E}">
        <p14:creationId xmlns:p14="http://schemas.microsoft.com/office/powerpoint/2010/main" val="199332938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EFA0A-2F8A-A546-0038-2C1B0011D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B17E0-552C-615E-4A8A-72F7759CA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6493E-C455-2584-72DB-DDF8360E1BFC}"/>
              </a:ext>
            </a:extLst>
          </p:cNvPr>
          <p:cNvSpPr>
            <a:spLocks noGrp="1"/>
          </p:cNvSpPr>
          <p:nvPr>
            <p:ph type="body" idx="1"/>
          </p:nvPr>
        </p:nvSpPr>
        <p:spPr/>
        <p:txBody>
          <a:bodyPr/>
          <a:lstStyle/>
          <a:p>
            <a:r>
              <a:t>The Von Restorff Effect (isolation effect): when several similar objects are present, the one that differs from the rest is most likely to be remembered.</a:t>
            </a:r>
          </a:p>
          <a:p/>
          <a:p>
            <a:r>
              <a:t>Use it to make the key action or information stand out, but sparingly: if everything is highlighted, nothing stands out. Don't rely on color alone (some users are color-blind); also use size, shape or a label.</a:t>
            </a:r>
          </a:p>
        </p:txBody>
      </p:sp>
      <p:sp>
        <p:nvSpPr>
          <p:cNvPr id="4" name="Slide Number Placeholder 3">
            <a:extLst>
              <a:ext uri="{FF2B5EF4-FFF2-40B4-BE49-F238E27FC236}">
                <a16:creationId xmlns:a16="http://schemas.microsoft.com/office/drawing/2014/main" id="{FF08F0B4-A281-B6DD-2FA4-080CF420D376}"/>
              </a:ext>
            </a:extLst>
          </p:cNvPr>
          <p:cNvSpPr>
            <a:spLocks noGrp="1"/>
          </p:cNvSpPr>
          <p:nvPr>
            <p:ph type="sldNum" sz="quarter" idx="5"/>
          </p:nvPr>
        </p:nvSpPr>
        <p:spPr/>
        <p:txBody>
          <a:bodyPr/>
          <a:lstStyle/>
          <a:p>
            <a:fld id="{955D7972-3D0C-4FE3-9B76-3CD89F8C94A1}" type="slidenum">
              <a:rPr lang="en-PH" smtClean="0"/>
              <a:t>87</a:t>
            </a:fld>
            <a:endParaRPr lang="en-PH"/>
          </a:p>
        </p:txBody>
      </p:sp>
    </p:spTree>
    <p:extLst>
      <p:ext uri="{BB962C8B-B14F-4D97-AF65-F5344CB8AC3E}">
        <p14:creationId xmlns:p14="http://schemas.microsoft.com/office/powerpoint/2010/main" val="105024375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2723F-72C1-63C3-5CC2-F478E9CFA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E8EAD7-D2A8-7F8A-EEA1-DA11885C8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040CE-A57E-8F41-1855-928E770DC6D0}"/>
              </a:ext>
            </a:extLst>
          </p:cNvPr>
          <p:cNvSpPr>
            <a:spLocks noGrp="1"/>
          </p:cNvSpPr>
          <p:nvPr>
            <p:ph type="body" idx="1"/>
          </p:nvPr>
        </p:nvSpPr>
        <p:spPr/>
        <p:txBody>
          <a:bodyPr/>
          <a:lstStyle/>
          <a:p>
            <a:r>
              <a:t>Working memory: a cognitive system that temporarily holds and manipulates the information needed to complete a task. It is small and fades within seconds.</a:t>
            </a:r>
          </a:p>
          <a:p/>
          <a:p>
            <a:r>
              <a:t>Design so users don't have to keep things in their heads: show what they need, where they need it (recognition over recall).</a:t>
            </a:r>
          </a:p>
          <a:p/>
          <a:p>
            <a:r>
              <a:t>Everyday example: replying to a message in Discord or Messenger shows the original message right above your reply.</a:t>
            </a:r>
          </a:p>
        </p:txBody>
      </p:sp>
      <p:sp>
        <p:nvSpPr>
          <p:cNvPr id="4" name="Slide Number Placeholder 3">
            <a:extLst>
              <a:ext uri="{FF2B5EF4-FFF2-40B4-BE49-F238E27FC236}">
                <a16:creationId xmlns:a16="http://schemas.microsoft.com/office/drawing/2014/main" id="{6F3D56BD-25C9-D40D-8515-8249DC783A0A}"/>
              </a:ext>
            </a:extLst>
          </p:cNvPr>
          <p:cNvSpPr>
            <a:spLocks noGrp="1"/>
          </p:cNvSpPr>
          <p:nvPr>
            <p:ph type="sldNum" sz="quarter" idx="5"/>
          </p:nvPr>
        </p:nvSpPr>
        <p:spPr/>
        <p:txBody>
          <a:bodyPr/>
          <a:lstStyle/>
          <a:p>
            <a:fld id="{955D7972-3D0C-4FE3-9B76-3CD89F8C94A1}" type="slidenum">
              <a:rPr lang="en-PH" smtClean="0"/>
              <a:t>88</a:t>
            </a:fld>
            <a:endParaRPr lang="en-PH"/>
          </a:p>
        </p:txBody>
      </p:sp>
    </p:spTree>
    <p:extLst>
      <p:ext uri="{BB962C8B-B14F-4D97-AF65-F5344CB8AC3E}">
        <p14:creationId xmlns:p14="http://schemas.microsoft.com/office/powerpoint/2010/main" val="92109199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BD98D-C2C1-5386-F6F1-49069E6AE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6806B-04C4-4241-A7FD-EA14D6BCBF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B8ABE3-BC32-07C0-BA7C-781AB1954E87}"/>
              </a:ext>
            </a:extLst>
          </p:cNvPr>
          <p:cNvSpPr>
            <a:spLocks noGrp="1"/>
          </p:cNvSpPr>
          <p:nvPr>
            <p:ph type="body" idx="1"/>
          </p:nvPr>
        </p:nvSpPr>
        <p:spPr/>
        <p:txBody>
          <a:bodyPr/>
          <a:lstStyle/>
          <a:p>
            <a:r>
              <a:t>Zeigarnik Effect: people remember uncompleted or interrupted tasks better than completed ones.</a:t>
            </a:r>
          </a:p>
          <a:p/>
          <a:p>
            <a:r>
              <a:t>Takeaways:</a:t>
            </a:r>
          </a:p>
          <a:p>
            <a:r>
              <a:t>- Invite content discovery with clear signs of more content.</a:t>
            </a:r>
          </a:p>
          <a:p>
            <a:r>
              <a:t>- Artificial progress toward a goal makes users more motivated to complete it.</a:t>
            </a:r>
          </a:p>
          <a:p>
            <a:r>
              <a:t>- Show clear progress to motivate users to finish tasks.</a:t>
            </a:r>
          </a:p>
          <a:p/>
          <a:p>
            <a:r>
              <a:t>Everyday examples:</a:t>
            </a:r>
          </a:p>
          <a:p>
            <a:r>
              <a:t>- Instagram keeps an unfinished post as a draft, waiting for you.</a:t>
            </a:r>
          </a:p>
          <a:p>
            <a:r>
              <a:t>- TV shows end on cliffhangers so viewers come back for the next episode.</a:t>
            </a:r>
          </a:p>
          <a:p>
            <a:r>
              <a:t>- To-do lists: you remember unfinished tasks more than finished ones.</a:t>
            </a:r>
          </a:p>
          <a:p>
            <a:r>
              <a:t>- Games: an unfinished level sticks in your mind.</a:t>
            </a:r>
          </a:p>
        </p:txBody>
      </p:sp>
      <p:sp>
        <p:nvSpPr>
          <p:cNvPr id="4" name="Slide Number Placeholder 3">
            <a:extLst>
              <a:ext uri="{FF2B5EF4-FFF2-40B4-BE49-F238E27FC236}">
                <a16:creationId xmlns:a16="http://schemas.microsoft.com/office/drawing/2014/main" id="{9563B755-D1F4-479B-AB05-565123469221}"/>
              </a:ext>
            </a:extLst>
          </p:cNvPr>
          <p:cNvSpPr>
            <a:spLocks noGrp="1"/>
          </p:cNvSpPr>
          <p:nvPr>
            <p:ph type="sldNum" sz="quarter" idx="5"/>
          </p:nvPr>
        </p:nvSpPr>
        <p:spPr/>
        <p:txBody>
          <a:bodyPr/>
          <a:lstStyle/>
          <a:p>
            <a:fld id="{955D7972-3D0C-4FE3-9B76-3CD89F8C94A1}" type="slidenum">
              <a:rPr lang="en-PH" smtClean="0"/>
              <a:t>89</a:t>
            </a:fld>
            <a:endParaRPr lang="en-PH"/>
          </a:p>
        </p:txBody>
      </p:sp>
    </p:spTree>
    <p:extLst>
      <p:ext uri="{BB962C8B-B14F-4D97-AF65-F5344CB8AC3E}">
        <p14:creationId xmlns:p14="http://schemas.microsoft.com/office/powerpoint/2010/main" val="120589647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55D7972-3D0C-4FE3-9B76-3CD89F8C94A1}" type="slidenum">
              <a:rPr lang="en-PH" smtClean="0"/>
              <a:t>90</a:t>
            </a:fld>
            <a:endParaRPr lang="en-PH"/>
          </a:p>
        </p:txBody>
      </p:sp>
    </p:spTree>
    <p:extLst>
      <p:ext uri="{BB962C8B-B14F-4D97-AF65-F5344CB8AC3E}">
        <p14:creationId xmlns:p14="http://schemas.microsoft.com/office/powerpoint/2010/main" val="145654612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C81BA-C988-7159-A835-4E9C7F4B7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476472-CCDA-D539-F3B2-811B1228A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38B85C-6133-5CDA-D234-E6781A82D64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FA88426-6C7C-49B9-632A-AE780A0D0D1D}"/>
              </a:ext>
            </a:extLst>
          </p:cNvPr>
          <p:cNvSpPr>
            <a:spLocks noGrp="1"/>
          </p:cNvSpPr>
          <p:nvPr>
            <p:ph type="sldNum" sz="quarter" idx="5"/>
          </p:nvPr>
        </p:nvSpPr>
        <p:spPr/>
        <p:txBody>
          <a:bodyPr/>
          <a:lstStyle/>
          <a:p>
            <a:fld id="{955D7972-3D0C-4FE3-9B76-3CD89F8C94A1}" type="slidenum">
              <a:rPr lang="en-PH" smtClean="0"/>
              <a:t>91</a:t>
            </a:fld>
            <a:endParaRPr lang="en-PH"/>
          </a:p>
        </p:txBody>
      </p:sp>
    </p:spTree>
    <p:extLst>
      <p:ext uri="{BB962C8B-B14F-4D97-AF65-F5344CB8AC3E}">
        <p14:creationId xmlns:p14="http://schemas.microsoft.com/office/powerpoint/2010/main" val="361381903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0ED72-CAED-F136-B63C-C51F8386E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55AA9-4116-2825-9A57-F4B1FABE7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8E088A-AE8C-871B-5F61-4ED89C4B8A3F}"/>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13C2B20-F4EF-2488-87CE-0A7D987662F2}"/>
              </a:ext>
            </a:extLst>
          </p:cNvPr>
          <p:cNvSpPr>
            <a:spLocks noGrp="1"/>
          </p:cNvSpPr>
          <p:nvPr>
            <p:ph type="sldNum" sz="quarter" idx="5"/>
          </p:nvPr>
        </p:nvSpPr>
        <p:spPr/>
        <p:txBody>
          <a:bodyPr/>
          <a:lstStyle/>
          <a:p>
            <a:fld id="{955D7972-3D0C-4FE3-9B76-3CD89F8C94A1}" type="slidenum">
              <a:rPr lang="en-PH" smtClean="0"/>
              <a:t>92</a:t>
            </a:fld>
            <a:endParaRPr lang="en-PH"/>
          </a:p>
        </p:txBody>
      </p:sp>
    </p:spTree>
    <p:extLst>
      <p:ext uri="{BB962C8B-B14F-4D97-AF65-F5344CB8AC3E}">
        <p14:creationId xmlns:p14="http://schemas.microsoft.com/office/powerpoint/2010/main" val="114908477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B110D-A3E0-7C55-5096-3F3DB8D32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29FB4-79E9-EA2A-E2C3-F612A8F97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97C462-4944-EC73-7970-9EEC90D4DE4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1194784-EB70-A6AA-F2F0-4CA40879E0B9}"/>
              </a:ext>
            </a:extLst>
          </p:cNvPr>
          <p:cNvSpPr>
            <a:spLocks noGrp="1"/>
          </p:cNvSpPr>
          <p:nvPr>
            <p:ph type="sldNum" sz="quarter" idx="5"/>
          </p:nvPr>
        </p:nvSpPr>
        <p:spPr/>
        <p:txBody>
          <a:bodyPr/>
          <a:lstStyle/>
          <a:p>
            <a:fld id="{955D7972-3D0C-4FE3-9B76-3CD89F8C94A1}" type="slidenum">
              <a:rPr lang="en-PH" smtClean="0"/>
              <a:t>93</a:t>
            </a:fld>
            <a:endParaRPr lang="en-PH"/>
          </a:p>
        </p:txBody>
      </p:sp>
    </p:spTree>
    <p:extLst>
      <p:ext uri="{BB962C8B-B14F-4D97-AF65-F5344CB8AC3E}">
        <p14:creationId xmlns:p14="http://schemas.microsoft.com/office/powerpoint/2010/main" val="424306245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83A7F-9148-D020-DBE2-131375F8DF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FE864-DA74-3A0E-E745-95E5FEB97B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AB48C-6BE9-05E4-EB3F-65D8CB4D2D58}"/>
              </a:ext>
            </a:extLst>
          </p:cNvPr>
          <p:cNvSpPr>
            <a:spLocks noGrp="1"/>
          </p:cNvSpPr>
          <p:nvPr>
            <p:ph type="body" idx="1"/>
          </p:nvPr>
        </p:nvSpPr>
        <p:spPr/>
        <p:txBody>
          <a:bodyPr/>
          <a:lstStyle/>
          <a:p>
            <a:endParaRPr lang="en-PH" sz="2000" kern="1200" dirty="0">
              <a:solidFill>
                <a:schemeClr val="dk1"/>
              </a:solidFill>
              <a:latin typeface="Libre Baskerville" panose="02000000000000000000" pitchFamily="2" charset="0"/>
              <a:ea typeface="+mn-ea"/>
              <a:cs typeface="+mn-cs"/>
            </a:endParaRPr>
          </a:p>
        </p:txBody>
      </p:sp>
      <p:sp>
        <p:nvSpPr>
          <p:cNvPr id="4" name="Slide Number Placeholder 3">
            <a:extLst>
              <a:ext uri="{FF2B5EF4-FFF2-40B4-BE49-F238E27FC236}">
                <a16:creationId xmlns:a16="http://schemas.microsoft.com/office/drawing/2014/main" id="{1A10404E-1631-99C4-945B-88BF07D09404}"/>
              </a:ext>
            </a:extLst>
          </p:cNvPr>
          <p:cNvSpPr>
            <a:spLocks noGrp="1"/>
          </p:cNvSpPr>
          <p:nvPr>
            <p:ph type="sldNum" sz="quarter" idx="5"/>
          </p:nvPr>
        </p:nvSpPr>
        <p:spPr/>
        <p:txBody>
          <a:bodyPr/>
          <a:lstStyle/>
          <a:p>
            <a:fld id="{955D7972-3D0C-4FE3-9B76-3CD89F8C94A1}" type="slidenum">
              <a:rPr lang="en-PH" smtClean="0"/>
              <a:t>94</a:t>
            </a:fld>
            <a:endParaRPr lang="en-PH"/>
          </a:p>
        </p:txBody>
      </p:sp>
    </p:spTree>
    <p:extLst>
      <p:ext uri="{BB962C8B-B14F-4D97-AF65-F5344CB8AC3E}">
        <p14:creationId xmlns:p14="http://schemas.microsoft.com/office/powerpoint/2010/main" val="36100744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41C10-965A-DE60-18BF-4245556E6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E5455-CE28-B533-A5F5-D5432F3CC7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674DD-3502-048E-FF97-EA327439CD5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AD8174AF-6FBD-39A0-B62E-8BF45CB3803E}"/>
              </a:ext>
            </a:extLst>
          </p:cNvPr>
          <p:cNvSpPr>
            <a:spLocks noGrp="1"/>
          </p:cNvSpPr>
          <p:nvPr>
            <p:ph type="sldNum" sz="quarter" idx="5"/>
          </p:nvPr>
        </p:nvSpPr>
        <p:spPr/>
        <p:txBody>
          <a:bodyPr/>
          <a:lstStyle/>
          <a:p>
            <a:fld id="{955D7972-3D0C-4FE3-9B76-3CD89F8C94A1}" type="slidenum">
              <a:rPr lang="en-PH" smtClean="0"/>
              <a:t>95</a:t>
            </a:fld>
            <a:endParaRPr lang="en-PH"/>
          </a:p>
        </p:txBody>
      </p:sp>
    </p:spTree>
    <p:extLst>
      <p:ext uri="{BB962C8B-B14F-4D97-AF65-F5344CB8AC3E}">
        <p14:creationId xmlns:p14="http://schemas.microsoft.com/office/powerpoint/2010/main" val="25726193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3B77A-7726-0AEC-05AE-435F88C11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4C6953-E7E0-5299-5CE9-E6E0582816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8B1C3-CBFE-21FC-92C0-2EBDD15FA7DF}"/>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E8BADD6C-7915-0EDF-11AC-F09A0CB83EB7}"/>
              </a:ext>
            </a:extLst>
          </p:cNvPr>
          <p:cNvSpPr>
            <a:spLocks noGrp="1"/>
          </p:cNvSpPr>
          <p:nvPr>
            <p:ph type="sldNum" sz="quarter" idx="5"/>
          </p:nvPr>
        </p:nvSpPr>
        <p:spPr/>
        <p:txBody>
          <a:bodyPr/>
          <a:lstStyle/>
          <a:p>
            <a:fld id="{955D7972-3D0C-4FE3-9B76-3CD89F8C94A1}" type="slidenum">
              <a:rPr lang="en-PH" smtClean="0"/>
              <a:t>96</a:t>
            </a:fld>
            <a:endParaRPr lang="en-PH"/>
          </a:p>
        </p:txBody>
      </p:sp>
    </p:spTree>
    <p:extLst>
      <p:ext uri="{BB962C8B-B14F-4D97-AF65-F5344CB8AC3E}">
        <p14:creationId xmlns:p14="http://schemas.microsoft.com/office/powerpoint/2010/main" val="15489684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8FDF0-F60C-03E2-4222-83B7E363E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5B484D-2DB4-E1E0-BFC3-180623264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8C12A2-A269-F3BB-F805-D8B0275E9E5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74A7FAD-FFC8-F01F-E417-1FD3C11C8509}"/>
              </a:ext>
            </a:extLst>
          </p:cNvPr>
          <p:cNvSpPr>
            <a:spLocks noGrp="1"/>
          </p:cNvSpPr>
          <p:nvPr>
            <p:ph type="sldNum" sz="quarter" idx="5"/>
          </p:nvPr>
        </p:nvSpPr>
        <p:spPr/>
        <p:txBody>
          <a:bodyPr/>
          <a:lstStyle/>
          <a:p>
            <a:fld id="{955D7972-3D0C-4FE3-9B76-3CD89F8C94A1}" type="slidenum">
              <a:rPr lang="en-PH" smtClean="0"/>
              <a:t>97</a:t>
            </a:fld>
            <a:endParaRPr lang="en-PH"/>
          </a:p>
        </p:txBody>
      </p:sp>
    </p:spTree>
    <p:extLst>
      <p:ext uri="{BB962C8B-B14F-4D97-AF65-F5344CB8AC3E}">
        <p14:creationId xmlns:p14="http://schemas.microsoft.com/office/powerpoint/2010/main" val="1172207465"/>
      </p:ext>
    </p:extLst>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Confirmation bias: we look for, notice and trust information that supports what we already believe. Designers fall into it when they only hear the feedback that agrees with their design.</a:t>
            </a:r>
          </a:p>
          <a:p/>
          <a:p>
            <a:r>
              <a:t>False consensus effect: we assume other people think like us ("surely 90% of users would do it my way"). This is why we test with real users instead of assuming.</a:t>
            </a:r>
          </a:p>
          <a:p/>
          <a:p>
            <a:r>
              <a:t>Framing effect: the same fact, presented differently, changes decisions. "90% survival rate" and "10% mortality rate" mean exactly the same thing, yet most people prefer the treatment described as 90% survival. In UX, the wording of buttons, prices and warnings frames the user's choice.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example: Messenger. When you tap Send, your bubble appears immediately, and "Sent" follows a split second later. The typing dots tell you the other person is replying. Every step answers within a fraction of a second, so the chat feels instant.</a:t>
            </a:r>
          </a:p>
          <a:p/>
          <a:p>
            <a:r>
              <a:t>Rule of thumb: respond in under 0.4 seconds; if something takes over a second, show progress.</a:t>
            </a:r>
          </a:p>
          <a:p/>
          <a:p>
            <a:r>
              <a:t>Ask the class: What do you do when an app shows a spinner for 5 seconds or more?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example: Instagram. To like a post you can double-tap anywhere on the photo, a target far bigger than the small heart icon. The main tabs (Home, Search, Post, Reels, Profile) sit in the bottom bar, the easiest area to reach with one thumb.</a:t>
            </a:r>
          </a:p>
          <a:p/>
          <a:p>
            <a:r>
              <a:t>Ask the class: Which buttons in your favorite app are hard to reach with one hand?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example: GCash account verification. Breaking it into a few short steps and showing "2 of 3 steps done" makes the finish line feel close, so users push to complete it.</a:t>
            </a:r>
          </a:p>
          <a:p/>
          <a:p>
            <a:r>
              <a:t>A head start works too: counting a step already done (like the mobile number you signed up with) as progress makes the goal feel nearer.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example: Facebook reactions. Pressing and holding Like shows only 7 reactions instead of the full emoji keyboard, so people choose almost instantly. Fewer, clearer choices mean faster decisions.</a:t>
            </a:r>
          </a:p>
          <a:p/>
          <a:p>
            <a:r>
              <a:t>Ask the class: Where have you seen too many choices slow you down? (Food delivery menus, Netflix, game shops.)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example: bottom navigation. Instagram, Facebook, GCash and Discord look nothing alike, but Home is the first tab and your profile or menu is at the far end. Users learned this pattern from other apps, so they can use a new app without thinking.</a:t>
            </a:r>
          </a:p>
          <a:p/>
          <a:p>
            <a:r>
              <a:t>Ask the class: Have you ever been confused by an app that put things in an unusual place?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example: the Facebook feed. Each post sits on its own white card against a grey background. Even though posts are stacked close together, the card boundary tells you which photo, likes and comments belong together.</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example: Instagram. Like, Comment and Share are grouped on the left; Save sits alone on the right. The spacing tells you, without labels, that the first three are about interacting with others and Save is just for you. The like count and caption sit right under the photo they describe.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Law of Similarity says that objects that look alike (color, shape, size, font or style) are perceived as belonging together, even if they're not physically close.</a:t>
            </a:r>
          </a:p>
          <a:p/>
          <a:p>
            <a:r>
              <a:t>Everyday example: Messenger. Your messages are blue bubbles on the right and your friend's are grey bubbles on the left. You never read names; color and position tell you who said what.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example: phone and reference numbers. 0917 123 4567 is much easier to read, check and remember than 09171234567. Chunking long numbers helps people catch a wrong digit before they send money to the wrong person.</a:t>
            </a:r>
          </a:p>
          <a:p/>
          <a:p>
            <a:r>
              <a:t>Other examples: OTP codes, card numbers, student numbers.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example: paying with a QR code. The account number, bank and merchant name are still needed, but the app reads them from the code instead of making the user type them. The complexity didn't disappear; it moved from the user to the system.</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example: Discord. In a long list of grey servers and channels, the one with a red badge pops out, so you notice it first. Discord keeps red for mentions and unread counts, which keeps it meaningful.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b="1"/>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rgbClr val="002060"/>
                </a:solidFill>
                <a:latin typeface="Candara" panose="020E0502030303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790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7799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87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8699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2565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1068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6454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8556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3992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8501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105216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7011580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57200" rtl="0" eaLnBrk="1" latinLnBrk="0" hangingPunct="1">
        <a:spcBef>
          <a:spcPct val="0"/>
        </a:spcBef>
        <a:buNone/>
        <a:defRPr sz="4400" b="1"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webdesignmuseum.org/gallery/google-1998" TargetMode="External"/><Relationship Id="rId3" Type="http://schemas.openxmlformats.org/officeDocument/2006/relationships/image" Target="../media/image6.tm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tm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hyperlink" Target="https://freepngimg.com/png/88452-standing-human-business-question-mark-behavior" TargetMode="External"/><Relationship Id="rId5" Type="http://schemas.openxmlformats.org/officeDocument/2006/relationships/hyperlink" Target="https://creativecommons.org/licenses/by-nc/3.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lawsofux.com/" TargetMode="External"/><Relationship Id="rId4" Type="http://schemas.openxmlformats.org/officeDocument/2006/relationships/image" Target="../media/image21.png"/><Relationship Id="rId5" Type="http://schemas.microsoft.com/office/2007/relationships/hdphoto" Target="../media/hdphoto1.wdp"/><Relationship Id="rId6" Type="http://schemas.openxmlformats.org/officeDocument/2006/relationships/image" Target="../media/image13.png"/><Relationship Id="rId7" Type="http://schemas.openxmlformats.org/officeDocument/2006/relationships/hyperlink" Target="https://freepngimg.com/png/88452-standing-human-business-question-mark-behavior"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lawsofux.com/" TargetMode="External"/><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hyperlink" Target="https://freepngimg.com/png/88452-standing-human-business-question-mark-behavior"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lawsofux.com/" TargetMode="External"/><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hyperlink" Target="https://freepngimg.com/png/88452-standing-human-business-question-mark-behavior"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lawsofux.com/" TargetMode="External"/><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hyperlink" Target="https://freepngimg.com/png/88452-standing-human-business-question-mark-behavior"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4.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27.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7.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8.tmp"/><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8.tmp"/><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3.tmp"/><Relationship Id="rId4" Type="http://schemas.openxmlformats.org/officeDocument/2006/relationships/image" Target="../media/image34.jpeg"/><Relationship Id="rId5" Type="http://schemas.openxmlformats.org/officeDocument/2006/relationships/image" Target="../media/image35.png"/><Relationship Id="rId6" Type="http://schemas.microsoft.com/office/2007/relationships/hdphoto" Target="../media/hdphoto2.wdp"/></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3.tmp"/><Relationship Id="rId4" Type="http://schemas.openxmlformats.org/officeDocument/2006/relationships/image" Target="../media/image34.jpeg"/><Relationship Id="rId5" Type="http://schemas.openxmlformats.org/officeDocument/2006/relationships/image" Target="../media/image35.png"/><Relationship Id="rId6" Type="http://schemas.microsoft.com/office/2007/relationships/hdphoto" Target="../media/hdphoto2.wdp"/></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6.tmp"/><Relationship Id="rId4" Type="http://schemas.openxmlformats.org/officeDocument/2006/relationships/image" Target="../media/image37.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6.tmp"/><Relationship Id="rId4" Type="http://schemas.openxmlformats.org/officeDocument/2006/relationships/image" Target="../media/image38.gi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6.tmp"/><Relationship Id="rId4" Type="http://schemas.openxmlformats.org/officeDocument/2006/relationships/image" Target="../media/image39.gi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6.tmp"/><Relationship Id="rId4" Type="http://schemas.openxmlformats.org/officeDocument/2006/relationships/image" Target="../media/image40.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6.tmp"/><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36.tmp"/><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2.png"/><Relationship Id="rId4" Type="http://schemas.openxmlformats.org/officeDocument/2006/relationships/image" Target="../media/image43.jpeg"/><Relationship Id="rId5"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2.png"/><Relationship Id="rId4" Type="http://schemas.openxmlformats.org/officeDocument/2006/relationships/image" Target="../media/image43.jpeg"/><Relationship Id="rId5" Type="http://schemas.openxmlformats.org/officeDocument/2006/relationships/hyperlink" Target="https://blog.yarsalabs.com/fittss-law-in-ux-design-navigating-the-world-of-precision-and-efficiency/" TargetMode="External"/><Relationship Id="rId6"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2.png"/><Relationship Id="rId4" Type="http://schemas.openxmlformats.org/officeDocument/2006/relationships/image" Target="../media/image43.jpeg"/><Relationship Id="rId5"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2.png"/><Relationship Id="rId4" Type="http://schemas.openxmlformats.org/officeDocument/2006/relationships/image" Target="../media/image43.jpeg"/><Relationship Id="rId5" Type="http://schemas.openxmlformats.org/officeDocument/2006/relationships/image" Target="../media/image4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8.tmp"/><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8.tmp"/><Relationship Id="rId4"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0.tmp"/><Relationship Id="rId4" Type="http://schemas.openxmlformats.org/officeDocument/2006/relationships/image" Target="../media/image5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0.tmp"/><Relationship Id="rId4" Type="http://schemas.openxmlformats.org/officeDocument/2006/relationships/image" Target="../media/image5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50.tmp"/><Relationship Id="rId4" Type="http://schemas.openxmlformats.org/officeDocument/2006/relationships/image" Target="../media/image5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3.tmp"/><Relationship Id="rId4" Type="http://schemas.openxmlformats.org/officeDocument/2006/relationships/image" Target="../media/image5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6.tmp"/><Relationship Id="rId4" Type="http://schemas.openxmlformats.org/officeDocument/2006/relationships/image" Target="../media/image57.tmp"/></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8.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53.tmp"/><Relationship Id="rId4" Type="http://schemas.openxmlformats.org/officeDocument/2006/relationships/image" Target="../media/image5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9.tmp"/><Relationship Id="rId4" Type="http://schemas.openxmlformats.org/officeDocument/2006/relationships/image" Target="../media/image6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59.tmp"/><Relationship Id="rId4" Type="http://schemas.openxmlformats.org/officeDocument/2006/relationships/image" Target="../media/image6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1.tmp"/><Relationship Id="rId4" Type="http://schemas.openxmlformats.org/officeDocument/2006/relationships/image" Target="../media/image6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61.tmp"/><Relationship Id="rId4" Type="http://schemas.openxmlformats.org/officeDocument/2006/relationships/image" Target="../media/image6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63.png"/><Relationship Id="rId4" Type="http://schemas.openxmlformats.org/officeDocument/2006/relationships/image" Target="../media/image6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63.png"/><Relationship Id="rId4" Type="http://schemas.openxmlformats.org/officeDocument/2006/relationships/image" Target="../media/image6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5.tmp"/><Relationship Id="rId4" Type="http://schemas.openxmlformats.org/officeDocument/2006/relationships/image" Target="../media/image6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5.tmp"/><Relationship Id="rId4" Type="http://schemas.openxmlformats.org/officeDocument/2006/relationships/image" Target="../media/image6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hyperlink" Target="https://www.mrmattdavies.me/post/the-law-of-pr%C3%A4gnanz"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68.tmp"/><Relationship Id="rId4" Type="http://schemas.openxmlformats.org/officeDocument/2006/relationships/image" Target="../media/image69.tmp"/></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68.tmp"/><Relationship Id="rId4" Type="http://schemas.openxmlformats.org/officeDocument/2006/relationships/image" Target="../media/image7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68.tmp"/><Relationship Id="rId4" Type="http://schemas.openxmlformats.org/officeDocument/2006/relationships/image" Target="../media/image71.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 Id="rId3" Type="http://schemas.openxmlformats.org/officeDocument/2006/relationships/image" Target="../media/image68.tmp"/><Relationship Id="rId4" Type="http://schemas.openxmlformats.org/officeDocument/2006/relationships/image" Target="../media/image71.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72.tmp"/><Relationship Id="rId4" Type="http://schemas.openxmlformats.org/officeDocument/2006/relationships/image" Target="../media/image7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74.tmp"/><Relationship Id="rId4" Type="http://schemas.openxmlformats.org/officeDocument/2006/relationships/image" Target="../media/image7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76.tmp"/><Relationship Id="rId4" Type="http://schemas.openxmlformats.org/officeDocument/2006/relationships/image" Target="../media/image7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 Id="rId3" Type="http://schemas.openxmlformats.org/officeDocument/2006/relationships/image" Target="../media/image76.tmp"/><Relationship Id="rId4" Type="http://schemas.openxmlformats.org/officeDocument/2006/relationships/image" Target="../media/image7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78.tmp"/><Relationship Id="rId4" Type="http://schemas.openxmlformats.org/officeDocument/2006/relationships/image" Target="../media/image7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80.tmp"/></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81.tmp"/></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82.tmp"/></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83.tmp"/></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84.tmp"/></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85.tmp"/></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 Id="rId3" Type="http://schemas.openxmlformats.org/officeDocument/2006/relationships/image" Target="../media/image86.tmp"/></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image" Target="../media/image87.tmp"/><Relationship Id="rId4" Type="http://schemas.openxmlformats.org/officeDocument/2006/relationships/image" Target="../media/image8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 Id="rId3" Type="http://schemas.openxmlformats.org/officeDocument/2006/relationships/image" Target="../media/image87.tmp"/><Relationship Id="rId4" Type="http://schemas.openxmlformats.org/officeDocument/2006/relationships/image" Target="../media/image8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 Id="rId3" Type="http://schemas.openxmlformats.org/officeDocument/2006/relationships/image" Target="../media/image89.tmp"/><Relationship Id="rId4" Type="http://schemas.openxmlformats.org/officeDocument/2006/relationships/image" Target="../media/image9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 Id="rId3" Type="http://schemas.openxmlformats.org/officeDocument/2006/relationships/image" Target="../media/image89.tmp"/><Relationship Id="rId4" Type="http://schemas.openxmlformats.org/officeDocument/2006/relationships/image" Target="../media/image90.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 Id="rId3" Type="http://schemas.openxmlformats.org/officeDocument/2006/relationships/image" Target="../media/image91.tmp"/></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 Id="rId3" Type="http://schemas.openxmlformats.org/officeDocument/2006/relationships/image" Target="../media/image92.tmp"/></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38908-F87F-9EDF-920E-C68DFB51127C}"/>
              </a:ext>
            </a:extLst>
          </p:cNvPr>
          <p:cNvSpPr>
            <a:spLocks noGrp="1"/>
          </p:cNvSpPr>
          <p:nvPr>
            <p:ph type="ctrTitle"/>
          </p:nvPr>
        </p:nvSpPr>
        <p:spPr/>
        <p:txBody>
          <a:bodyPr/>
          <a:lstStyle/>
          <a:p>
            <a:r>
              <a:rPr lang="en-US" b="1" dirty="0"/>
              <a:t>Human Factors and Cognitive Psychology</a:t>
            </a:r>
            <a:endParaRPr lang="en-PH" b="1" dirty="0"/>
          </a:p>
        </p:txBody>
      </p:sp>
    </p:spTree>
    <p:extLst>
      <p:ext uri="{BB962C8B-B14F-4D97-AF65-F5344CB8AC3E}">
        <p14:creationId xmlns:p14="http://schemas.microsoft.com/office/powerpoint/2010/main" val="2265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82199-8A0A-A61A-5366-916EEE9F0A4D}"/>
              </a:ext>
            </a:extLst>
          </p:cNvPr>
          <p:cNvSpPr>
            <a:spLocks noGrp="1"/>
          </p:cNvSpPr>
          <p:nvPr>
            <p:ph type="title"/>
          </p:nvPr>
        </p:nvSpPr>
        <p:spPr/>
        <p:txBody>
          <a:bodyPr/>
          <a:lstStyle/>
          <a:p>
            <a:r>
              <a:rPr lang="en-PH" b="1" dirty="0"/>
              <a:t>Learning Objectives</a:t>
            </a:r>
          </a:p>
        </p:txBody>
      </p:sp>
      <p:graphicFrame>
        <p:nvGraphicFramePr>
          <p:cNvPr id="6" name="Rectangle 1">
            <a:extLst>
              <a:ext uri="{FF2B5EF4-FFF2-40B4-BE49-F238E27FC236}">
                <a16:creationId xmlns:a16="http://schemas.microsoft.com/office/drawing/2014/main" id="{9C7C250E-0F7D-CC5C-46EA-187C8FF6266E}"/>
              </a:ext>
            </a:extLst>
          </p:cNvPr>
          <p:cNvGraphicFramePr>
            <a:graphicFrameLocks noGrp="1"/>
          </p:cNvGraphicFramePr>
          <p:nvPr>
            <p:ph idx="1"/>
            <p:extLst>
              <p:ext uri="{D42A27DB-BD31-4B8C-83A1-F6EECF244321}">
                <p14:modId xmlns:p14="http://schemas.microsoft.com/office/powerpoint/2010/main" val="222983461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6976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ABC961-B07F-EB27-23AA-06D525D2B3CA}"/>
              </a:ext>
            </a:extLst>
          </p:cNvPr>
          <p:cNvSpPr>
            <a:spLocks noGrp="1"/>
          </p:cNvSpPr>
          <p:nvPr>
            <p:ph type="title"/>
          </p:nvPr>
        </p:nvSpPr>
        <p:spPr/>
        <p:txBody>
          <a:bodyPr/>
          <a:lstStyle/>
          <a:p>
            <a:pPr algn="ctr"/>
            <a:r>
              <a:rPr lang="en-PH" b="1" dirty="0"/>
              <a:t>Why Psychology Matters in HCI</a:t>
            </a:r>
            <a:endParaRPr lang="en-PH" dirty="0"/>
          </a:p>
        </p:txBody>
      </p:sp>
      <p:sp>
        <p:nvSpPr>
          <p:cNvPr id="3" name="Content Placeholder 2">
            <a:extLst>
              <a:ext uri="{FF2B5EF4-FFF2-40B4-BE49-F238E27FC236}">
                <a16:creationId xmlns:a16="http://schemas.microsoft.com/office/drawing/2014/main" id="{06FA7D27-3D1B-5146-F0FF-985B9D936783}"/>
              </a:ext>
            </a:extLst>
          </p:cNvPr>
          <p:cNvSpPr>
            <a:spLocks noGrp="1"/>
          </p:cNvSpPr>
          <p:nvPr>
            <p:ph idx="1"/>
          </p:nvPr>
        </p:nvSpPr>
        <p:spPr>
          <a:xfrm>
            <a:off x="838200" y="2758992"/>
            <a:ext cx="10515600" cy="2832184"/>
          </a:xfrm>
        </p:spPr>
        <p:txBody>
          <a:bodyPr/>
          <a:lstStyle/>
          <a:p>
            <a:pPr marL="0" indent="0" algn="ctr">
              <a:buNone/>
            </a:pPr>
            <a:r>
              <a:rPr lang="en-US" dirty="0">
                <a:latin typeface="Century Gothic" panose="020B0502020202020204" pitchFamily="34" charset="0"/>
              </a:rPr>
              <a:t>Human Factors + Cognitive Psychology help us design systems that match </a:t>
            </a:r>
            <a:r>
              <a:rPr lang="en-US" b="1" dirty="0">
                <a:latin typeface="Century Gothic" panose="020B0502020202020204" pitchFamily="34" charset="0"/>
              </a:rPr>
              <a:t>how people actually think</a:t>
            </a:r>
            <a:r>
              <a:rPr lang="en-US" dirty="0">
                <a:latin typeface="Century Gothic" panose="020B0502020202020204" pitchFamily="34" charset="0"/>
              </a:rPr>
              <a:t>, not how engineers </a:t>
            </a:r>
            <a:r>
              <a:rPr lang="en-US" i="1" dirty="0">
                <a:latin typeface="Century Gothic" panose="020B0502020202020204" pitchFamily="34" charset="0"/>
              </a:rPr>
              <a:t>wish</a:t>
            </a:r>
            <a:r>
              <a:rPr lang="en-US" dirty="0">
                <a:latin typeface="Century Gothic" panose="020B0502020202020204" pitchFamily="34" charset="0"/>
              </a:rPr>
              <a:t> they thought.</a:t>
            </a:r>
            <a:endParaRPr lang="en-PH" dirty="0">
              <a:latin typeface="Century Gothic" panose="020B0502020202020204" pitchFamily="34" charset="0"/>
            </a:endParaRPr>
          </a:p>
        </p:txBody>
      </p:sp>
    </p:spTree>
    <p:extLst>
      <p:ext uri="{BB962C8B-B14F-4D97-AF65-F5344CB8AC3E}">
        <p14:creationId xmlns:p14="http://schemas.microsoft.com/office/powerpoint/2010/main" val="683317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B03E6-B5DE-CF7B-6DDD-C4F2C6E9ACC4}"/>
              </a:ext>
            </a:extLst>
          </p:cNvPr>
          <p:cNvSpPr>
            <a:spLocks noGrp="1"/>
          </p:cNvSpPr>
          <p:nvPr>
            <p:ph type="title"/>
          </p:nvPr>
        </p:nvSpPr>
        <p:spPr/>
        <p:txBody>
          <a:bodyPr/>
          <a:lstStyle/>
          <a:p>
            <a:r>
              <a:rPr lang="en-PH" dirty="0"/>
              <a:t>What Are Human Factors?</a:t>
            </a:r>
          </a:p>
        </p:txBody>
      </p:sp>
      <p:sp>
        <p:nvSpPr>
          <p:cNvPr id="3" name="Content Placeholder 2">
            <a:extLst>
              <a:ext uri="{FF2B5EF4-FFF2-40B4-BE49-F238E27FC236}">
                <a16:creationId xmlns:a16="http://schemas.microsoft.com/office/drawing/2014/main" id="{AC90A803-A1C3-623B-0D33-09BDDDD1B825}"/>
              </a:ext>
            </a:extLst>
          </p:cNvPr>
          <p:cNvSpPr>
            <a:spLocks noGrp="1"/>
          </p:cNvSpPr>
          <p:nvPr>
            <p:ph idx="1"/>
          </p:nvPr>
        </p:nvSpPr>
        <p:spPr>
          <a:xfrm>
            <a:off x="838200" y="1672217"/>
            <a:ext cx="10515600" cy="3014004"/>
          </a:xfrm>
        </p:spPr>
        <p:txBody>
          <a:bodyPr>
            <a:normAutofit fontScale="92500" lnSpcReduction="10000"/>
          </a:bodyPr>
          <a:lstStyle/>
          <a:p>
            <a:pPr marL="0" indent="0">
              <a:buNone/>
            </a:pPr>
            <a:r>
              <a:rPr lang="en-US" b="1" dirty="0">
                <a:latin typeface="Century Gothic" panose="020B0502020202020204" pitchFamily="34" charset="0"/>
              </a:rPr>
              <a:t>Human Factors</a:t>
            </a:r>
            <a:r>
              <a:rPr lang="en-US" dirty="0">
                <a:latin typeface="Century Gothic" panose="020B0502020202020204" pitchFamily="34" charset="0"/>
              </a:rPr>
              <a:t> = designing systems that fit </a:t>
            </a:r>
            <a:r>
              <a:rPr lang="en-US" b="1" dirty="0">
                <a:latin typeface="Century Gothic" panose="020B0502020202020204" pitchFamily="34" charset="0"/>
              </a:rPr>
              <a:t>human abilities and limitations</a:t>
            </a:r>
            <a:endParaRPr lang="en-US" dirty="0">
              <a:latin typeface="Century Gothic" panose="020B0502020202020204" pitchFamily="34" charset="0"/>
            </a:endParaRPr>
          </a:p>
          <a:p>
            <a:pPr marL="0" indent="0">
              <a:buNone/>
            </a:pPr>
            <a:r>
              <a:rPr lang="en-US" dirty="0">
                <a:latin typeface="Century Gothic" panose="020B0502020202020204" pitchFamily="34" charset="0"/>
              </a:rPr>
              <a:t>It studies:</a:t>
            </a:r>
          </a:p>
          <a:p>
            <a:r>
              <a:rPr lang="en-US" dirty="0">
                <a:latin typeface="Century Gothic" panose="020B0502020202020204" pitchFamily="34" charset="0"/>
              </a:rPr>
              <a:t>Physical abilities (vision, motor skills)</a:t>
            </a:r>
          </a:p>
          <a:p>
            <a:r>
              <a:rPr lang="en-US" dirty="0">
                <a:latin typeface="Century Gothic" panose="020B0502020202020204" pitchFamily="34" charset="0"/>
              </a:rPr>
              <a:t>Mental abilities (memory, attention, decision-making)</a:t>
            </a:r>
          </a:p>
          <a:p>
            <a:r>
              <a:rPr lang="en-US" dirty="0">
                <a:latin typeface="Century Gothic" panose="020B0502020202020204" pitchFamily="34" charset="0"/>
              </a:rPr>
              <a:t>Emotional responses (stress, frustration, trust)</a:t>
            </a:r>
          </a:p>
          <a:p>
            <a:endParaRPr lang="en-US" dirty="0">
              <a:latin typeface="Century Gothic" panose="020B0502020202020204" pitchFamily="34" charset="0"/>
            </a:endParaRPr>
          </a:p>
          <a:p>
            <a:pPr marL="0" indent="0">
              <a:buNone/>
            </a:pPr>
            <a:endParaRPr lang="en-US" dirty="0">
              <a:latin typeface="Century Gothic" panose="020B0502020202020204" pitchFamily="34" charset="0"/>
            </a:endParaRPr>
          </a:p>
          <a:p>
            <a:pPr marL="0" indent="0">
              <a:buNone/>
            </a:pPr>
            <a:endParaRPr lang="en-PH" dirty="0">
              <a:latin typeface="Century Gothic" panose="020B0502020202020204" pitchFamily="34" charset="0"/>
            </a:endParaRPr>
          </a:p>
        </p:txBody>
      </p:sp>
      <p:sp>
        <p:nvSpPr>
          <p:cNvPr id="4" name="Content Placeholder 2">
            <a:extLst>
              <a:ext uri="{FF2B5EF4-FFF2-40B4-BE49-F238E27FC236}">
                <a16:creationId xmlns:a16="http://schemas.microsoft.com/office/drawing/2014/main" id="{435741CF-DD9A-4F4B-6E82-3B0996202FCE}"/>
              </a:ext>
            </a:extLst>
          </p:cNvPr>
          <p:cNvSpPr txBox="1">
            <a:spLocks/>
          </p:cNvSpPr>
          <p:nvPr/>
        </p:nvSpPr>
        <p:spPr>
          <a:xfrm>
            <a:off x="0" y="4974566"/>
            <a:ext cx="12192000" cy="1660410"/>
          </a:xfrm>
          <a:prstGeom prst="rect">
            <a:avLst/>
          </a:prstGeom>
          <a:solidFill>
            <a:schemeClr val="bg1">
              <a:lumMod val="6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300" b="1" u="sng" dirty="0"/>
          </a:p>
          <a:p>
            <a:pPr marL="0" indent="0" algn="ctr">
              <a:buFont typeface="Arial" panose="020B0604020202020204" pitchFamily="34" charset="0"/>
              <a:buNone/>
            </a:pPr>
            <a:r>
              <a:rPr lang="en-US" sz="2000" b="1" u="sng" dirty="0"/>
              <a:t>GOAL</a:t>
            </a:r>
            <a:endParaRPr lang="en-US" sz="3200" b="1" u="sng" dirty="0"/>
          </a:p>
          <a:p>
            <a:pPr marL="0" indent="0" algn="ctr">
              <a:buFont typeface="Arial" panose="020B0604020202020204" pitchFamily="34" charset="0"/>
              <a:buNone/>
            </a:pPr>
            <a:r>
              <a:rPr lang="en-US" sz="3200" b="1" dirty="0">
                <a:latin typeface="Century Gothic" panose="020B0502020202020204" pitchFamily="34" charset="0"/>
              </a:rPr>
              <a:t>Reduce human error and increase </a:t>
            </a:r>
            <a:r>
              <a:rPr lang="en-US" sz="3200" b="1" u="sng" dirty="0">
                <a:latin typeface="Century Gothic" panose="020B0502020202020204" pitchFamily="34" charset="0"/>
              </a:rPr>
              <a:t>efficiency, safety, and satisfaction.</a:t>
            </a:r>
          </a:p>
        </p:txBody>
      </p:sp>
    </p:spTree>
    <p:extLst>
      <p:ext uri="{BB962C8B-B14F-4D97-AF65-F5344CB8AC3E}">
        <p14:creationId xmlns:p14="http://schemas.microsoft.com/office/powerpoint/2010/main" val="904875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5A9F8-1473-6531-D068-4D3BA2272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3EA57-D284-73F9-10CE-05E6F44095ED}"/>
              </a:ext>
            </a:extLst>
          </p:cNvPr>
          <p:cNvSpPr>
            <a:spLocks noGrp="1"/>
          </p:cNvSpPr>
          <p:nvPr>
            <p:ph type="title"/>
          </p:nvPr>
        </p:nvSpPr>
        <p:spPr/>
        <p:txBody>
          <a:bodyPr/>
          <a:lstStyle/>
          <a:p>
            <a:r>
              <a:rPr lang="en-PH" dirty="0"/>
              <a:t>Cognitive Psychology</a:t>
            </a:r>
          </a:p>
        </p:txBody>
      </p:sp>
      <p:sp>
        <p:nvSpPr>
          <p:cNvPr id="3" name="Content Placeholder 2">
            <a:extLst>
              <a:ext uri="{FF2B5EF4-FFF2-40B4-BE49-F238E27FC236}">
                <a16:creationId xmlns:a16="http://schemas.microsoft.com/office/drawing/2014/main" id="{66A6FBBA-6A5F-06F3-AFEC-05292ACCF80B}"/>
              </a:ext>
            </a:extLst>
          </p:cNvPr>
          <p:cNvSpPr>
            <a:spLocks noGrp="1"/>
          </p:cNvSpPr>
          <p:nvPr>
            <p:ph idx="1"/>
          </p:nvPr>
        </p:nvSpPr>
        <p:spPr>
          <a:xfrm>
            <a:off x="838200" y="1403930"/>
            <a:ext cx="10515600" cy="3014004"/>
          </a:xfrm>
        </p:spPr>
        <p:txBody>
          <a:bodyPr/>
          <a:lstStyle/>
          <a:p>
            <a:pPr marL="0" indent="0">
              <a:buNone/>
            </a:pPr>
            <a:r>
              <a:rPr lang="en-US" b="1" dirty="0">
                <a:latin typeface="Century Gothic" panose="020B0502020202020204" pitchFamily="34" charset="0"/>
              </a:rPr>
              <a:t>Cognitive psychology focuses on </a:t>
            </a:r>
            <a:r>
              <a:rPr lang="en-US" b="1" u="sng" dirty="0">
                <a:latin typeface="Century Gothic" panose="020B0502020202020204" pitchFamily="34" charset="0"/>
              </a:rPr>
              <a:t>how the mind processes information.</a:t>
            </a:r>
          </a:p>
          <a:p>
            <a:pPr marL="0" indent="0">
              <a:buNone/>
            </a:pPr>
            <a:endParaRPr lang="en-US" dirty="0">
              <a:latin typeface="Century Gothic" panose="020B0502020202020204" pitchFamily="34" charset="0"/>
            </a:endParaRPr>
          </a:p>
          <a:p>
            <a:pPr marL="0" indent="0">
              <a:buNone/>
            </a:pPr>
            <a:endParaRPr lang="en-US" dirty="0">
              <a:latin typeface="Century Gothic" panose="020B0502020202020204" pitchFamily="34" charset="0"/>
            </a:endParaRPr>
          </a:p>
          <a:p>
            <a:pPr marL="0" indent="0">
              <a:buNone/>
            </a:pPr>
            <a:endParaRPr lang="en-PH" dirty="0">
              <a:latin typeface="Century Gothic" panose="020B0502020202020204" pitchFamily="34" charset="0"/>
            </a:endParaRPr>
          </a:p>
        </p:txBody>
      </p:sp>
      <p:graphicFrame>
        <p:nvGraphicFramePr>
          <p:cNvPr id="5" name="Table 4">
            <a:extLst>
              <a:ext uri="{FF2B5EF4-FFF2-40B4-BE49-F238E27FC236}">
                <a16:creationId xmlns:a16="http://schemas.microsoft.com/office/drawing/2014/main" id="{7BE8CCE6-9A06-A17B-239C-94A0D8064B6F}"/>
              </a:ext>
            </a:extLst>
          </p:cNvPr>
          <p:cNvGraphicFramePr>
            <a:graphicFrameLocks noGrp="1"/>
          </p:cNvGraphicFramePr>
          <p:nvPr>
            <p:extLst>
              <p:ext uri="{D42A27DB-BD31-4B8C-83A1-F6EECF244321}">
                <p14:modId xmlns:p14="http://schemas.microsoft.com/office/powerpoint/2010/main" val="123538656"/>
              </p:ext>
            </p:extLst>
          </p:nvPr>
        </p:nvGraphicFramePr>
        <p:xfrm>
          <a:off x="838200" y="2650812"/>
          <a:ext cx="10515600" cy="3841902"/>
        </p:xfrm>
        <a:graphic>
          <a:graphicData uri="http://schemas.openxmlformats.org/drawingml/2006/table">
            <a:tbl>
              <a:tblPr/>
              <a:tblGrid>
                <a:gridCol w="2390775">
                  <a:extLst>
                    <a:ext uri="{9D8B030D-6E8A-4147-A177-3AD203B41FA5}">
                      <a16:colId xmlns:a16="http://schemas.microsoft.com/office/drawing/2014/main" val="1238091021"/>
                    </a:ext>
                  </a:extLst>
                </a:gridCol>
                <a:gridCol w="4329113">
                  <a:extLst>
                    <a:ext uri="{9D8B030D-6E8A-4147-A177-3AD203B41FA5}">
                      <a16:colId xmlns:a16="http://schemas.microsoft.com/office/drawing/2014/main" val="1780654580"/>
                    </a:ext>
                  </a:extLst>
                </a:gridCol>
                <a:gridCol w="3795712">
                  <a:extLst>
                    <a:ext uri="{9D8B030D-6E8A-4147-A177-3AD203B41FA5}">
                      <a16:colId xmlns:a16="http://schemas.microsoft.com/office/drawing/2014/main" val="1459843358"/>
                    </a:ext>
                  </a:extLst>
                </a:gridCol>
              </a:tblGrid>
              <a:tr h="457674">
                <a:tc>
                  <a:txBody>
                    <a:bodyPr/>
                    <a:lstStyle/>
                    <a:p>
                      <a:pPr algn="ctr">
                        <a:buNone/>
                      </a:pPr>
                      <a:r>
                        <a:rPr lang="en-PH" b="1" dirty="0">
                          <a:latin typeface="Century Gothic" panose="020B0502020202020204" pitchFamily="34" charset="0"/>
                        </a:rPr>
                        <a:t>Process</a:t>
                      </a:r>
                    </a:p>
                  </a:txBody>
                  <a:tcPr anchor="ctr">
                    <a:lnL>
                      <a:noFill/>
                    </a:lnL>
                    <a:lnR>
                      <a:noFill/>
                    </a:lnR>
                    <a:lnT>
                      <a:noFill/>
                    </a:lnT>
                    <a:lnB>
                      <a:noFill/>
                    </a:lnB>
                    <a:solidFill>
                      <a:schemeClr val="bg1">
                        <a:lumMod val="85000"/>
                      </a:schemeClr>
                    </a:solidFill>
                  </a:tcPr>
                </a:tc>
                <a:tc>
                  <a:txBody>
                    <a:bodyPr/>
                    <a:lstStyle/>
                    <a:p>
                      <a:pPr algn="ctr">
                        <a:buNone/>
                      </a:pPr>
                      <a:r>
                        <a:rPr lang="en-PH" b="1" dirty="0">
                          <a:latin typeface="Century Gothic" panose="020B0502020202020204" pitchFamily="34" charset="0"/>
                        </a:rPr>
                        <a:t>What It Means</a:t>
                      </a:r>
                    </a:p>
                  </a:txBody>
                  <a:tcPr anchor="ctr">
                    <a:lnL>
                      <a:noFill/>
                    </a:lnL>
                    <a:lnR>
                      <a:noFill/>
                    </a:lnR>
                    <a:lnT>
                      <a:noFill/>
                    </a:lnT>
                    <a:lnB>
                      <a:noFill/>
                    </a:lnB>
                    <a:solidFill>
                      <a:schemeClr val="bg1">
                        <a:lumMod val="85000"/>
                      </a:schemeClr>
                    </a:solidFill>
                  </a:tcPr>
                </a:tc>
                <a:tc>
                  <a:txBody>
                    <a:bodyPr/>
                    <a:lstStyle/>
                    <a:p>
                      <a:pPr algn="ctr">
                        <a:buNone/>
                      </a:pPr>
                      <a:r>
                        <a:rPr lang="en-PH" b="1" dirty="0">
                          <a:latin typeface="Century Gothic" panose="020B0502020202020204" pitchFamily="34" charset="0"/>
                        </a:rPr>
                        <a:t>Design Impact</a:t>
                      </a:r>
                    </a:p>
                  </a:txBody>
                  <a:tcPr anchor="ctr">
                    <a:lnL>
                      <a:noFill/>
                    </a:lnL>
                    <a:lnR>
                      <a:noFill/>
                    </a:lnR>
                    <a:lnT>
                      <a:noFill/>
                    </a:lnT>
                    <a:lnB>
                      <a:noFill/>
                    </a:lnB>
                    <a:solidFill>
                      <a:schemeClr val="bg1">
                        <a:lumMod val="85000"/>
                      </a:schemeClr>
                    </a:solidFill>
                  </a:tcPr>
                </a:tc>
                <a:extLst>
                  <a:ext uri="{0D108BD9-81ED-4DB2-BD59-A6C34878D82A}">
                    <a16:rowId xmlns:a16="http://schemas.microsoft.com/office/drawing/2014/main" val="866612233"/>
                  </a:ext>
                </a:extLst>
              </a:tr>
              <a:tr h="457674">
                <a:tc>
                  <a:txBody>
                    <a:bodyPr/>
                    <a:lstStyle/>
                    <a:p>
                      <a:pPr>
                        <a:buNone/>
                      </a:pPr>
                      <a:r>
                        <a:rPr lang="en-PH" sz="2400" b="1" dirty="0">
                          <a:latin typeface="Century Gothic" panose="020B0502020202020204" pitchFamily="34" charset="0"/>
                        </a:rPr>
                        <a:t>Perception</a:t>
                      </a:r>
                    </a:p>
                  </a:txBody>
                  <a:tcPr anchor="ctr">
                    <a:lnL>
                      <a:noFill/>
                    </a:lnL>
                    <a:lnR>
                      <a:noFill/>
                    </a:lnR>
                    <a:lnT>
                      <a:noFill/>
                    </a:lnT>
                    <a:lnB>
                      <a:noFill/>
                    </a:lnB>
                    <a:noFill/>
                  </a:tcPr>
                </a:tc>
                <a:tc>
                  <a:txBody>
                    <a:bodyPr/>
                    <a:lstStyle/>
                    <a:p>
                      <a:pPr>
                        <a:buNone/>
                      </a:pPr>
                      <a:r>
                        <a:rPr lang="en-US" sz="2400" dirty="0">
                          <a:latin typeface="Century Gothic" panose="020B0502020202020204" pitchFamily="34" charset="0"/>
                        </a:rPr>
                        <a:t>How users interpret visual info</a:t>
                      </a:r>
                    </a:p>
                  </a:txBody>
                  <a:tcPr anchor="ctr">
                    <a:lnL>
                      <a:noFill/>
                    </a:lnL>
                    <a:lnR>
                      <a:noFill/>
                    </a:lnR>
                    <a:lnT>
                      <a:noFill/>
                    </a:lnT>
                    <a:lnB>
                      <a:noFill/>
                    </a:lnB>
                    <a:noFill/>
                  </a:tcPr>
                </a:tc>
                <a:tc>
                  <a:txBody>
                    <a:bodyPr/>
                    <a:lstStyle/>
                    <a:p>
                      <a:pPr>
                        <a:buNone/>
                      </a:pPr>
                      <a:r>
                        <a:rPr lang="en-PH" sz="2400" dirty="0">
                          <a:latin typeface="Century Gothic" panose="020B0502020202020204" pitchFamily="34" charset="0"/>
                        </a:rPr>
                        <a:t>Color, contrast, layout matter</a:t>
                      </a:r>
                    </a:p>
                  </a:txBody>
                  <a:tcPr anchor="ctr">
                    <a:lnL>
                      <a:noFill/>
                    </a:lnL>
                    <a:lnR>
                      <a:noFill/>
                    </a:lnR>
                    <a:lnT>
                      <a:noFill/>
                    </a:lnT>
                    <a:lnB>
                      <a:noFill/>
                    </a:lnB>
                    <a:noFill/>
                  </a:tcPr>
                </a:tc>
                <a:extLst>
                  <a:ext uri="{0D108BD9-81ED-4DB2-BD59-A6C34878D82A}">
                    <a16:rowId xmlns:a16="http://schemas.microsoft.com/office/drawing/2014/main" val="2563972563"/>
                  </a:ext>
                </a:extLst>
              </a:tr>
              <a:tr h="457674">
                <a:tc>
                  <a:txBody>
                    <a:bodyPr/>
                    <a:lstStyle/>
                    <a:p>
                      <a:pPr>
                        <a:buNone/>
                      </a:pPr>
                      <a:r>
                        <a:rPr lang="en-PH" sz="2400" b="1" dirty="0">
                          <a:latin typeface="Century Gothic" panose="020B0502020202020204" pitchFamily="34" charset="0"/>
                        </a:rPr>
                        <a:t>Attention</a:t>
                      </a:r>
                    </a:p>
                  </a:txBody>
                  <a:tcPr anchor="ctr">
                    <a:lnL>
                      <a:noFill/>
                    </a:lnL>
                    <a:lnR>
                      <a:noFill/>
                    </a:lnR>
                    <a:lnT>
                      <a:noFill/>
                    </a:lnT>
                    <a:lnB>
                      <a:noFill/>
                    </a:lnB>
                    <a:noFill/>
                  </a:tcPr>
                </a:tc>
                <a:tc>
                  <a:txBody>
                    <a:bodyPr/>
                    <a:lstStyle/>
                    <a:p>
                      <a:pPr>
                        <a:buNone/>
                      </a:pPr>
                      <a:r>
                        <a:rPr lang="en-PH" sz="2400" dirty="0">
                          <a:latin typeface="Century Gothic" panose="020B0502020202020204" pitchFamily="34" charset="0"/>
                        </a:rPr>
                        <a:t>What users focus on</a:t>
                      </a:r>
                    </a:p>
                  </a:txBody>
                  <a:tcPr anchor="ctr">
                    <a:lnL>
                      <a:noFill/>
                    </a:lnL>
                    <a:lnR>
                      <a:noFill/>
                    </a:lnR>
                    <a:lnT>
                      <a:noFill/>
                    </a:lnT>
                    <a:lnB>
                      <a:noFill/>
                    </a:lnB>
                    <a:noFill/>
                  </a:tcPr>
                </a:tc>
                <a:tc>
                  <a:txBody>
                    <a:bodyPr/>
                    <a:lstStyle/>
                    <a:p>
                      <a:pPr>
                        <a:buNone/>
                      </a:pPr>
                      <a:r>
                        <a:rPr lang="en-PH" sz="2400">
                          <a:latin typeface="Century Gothic" panose="020B0502020202020204" pitchFamily="34" charset="0"/>
                        </a:rPr>
                        <a:t>Avoid clutter</a:t>
                      </a:r>
                    </a:p>
                  </a:txBody>
                  <a:tcPr anchor="ctr">
                    <a:lnL>
                      <a:noFill/>
                    </a:lnL>
                    <a:lnR>
                      <a:noFill/>
                    </a:lnR>
                    <a:lnT>
                      <a:noFill/>
                    </a:lnT>
                    <a:lnB>
                      <a:noFill/>
                    </a:lnB>
                    <a:noFill/>
                  </a:tcPr>
                </a:tc>
                <a:extLst>
                  <a:ext uri="{0D108BD9-81ED-4DB2-BD59-A6C34878D82A}">
                    <a16:rowId xmlns:a16="http://schemas.microsoft.com/office/drawing/2014/main" val="3946791214"/>
                  </a:ext>
                </a:extLst>
              </a:tr>
              <a:tr h="457674">
                <a:tc>
                  <a:txBody>
                    <a:bodyPr/>
                    <a:lstStyle/>
                    <a:p>
                      <a:pPr>
                        <a:buNone/>
                      </a:pPr>
                      <a:r>
                        <a:rPr lang="en-PH" sz="2400" b="1" dirty="0">
                          <a:latin typeface="Century Gothic" panose="020B0502020202020204" pitchFamily="34" charset="0"/>
                        </a:rPr>
                        <a:t>Memory</a:t>
                      </a:r>
                    </a:p>
                  </a:txBody>
                  <a:tcPr anchor="ctr">
                    <a:lnL>
                      <a:noFill/>
                    </a:lnL>
                    <a:lnR>
                      <a:noFill/>
                    </a:lnR>
                    <a:lnT>
                      <a:noFill/>
                    </a:lnT>
                    <a:lnB>
                      <a:noFill/>
                    </a:lnB>
                    <a:noFill/>
                  </a:tcPr>
                </a:tc>
                <a:tc>
                  <a:txBody>
                    <a:bodyPr/>
                    <a:lstStyle/>
                    <a:p>
                      <a:pPr>
                        <a:buNone/>
                      </a:pPr>
                      <a:r>
                        <a:rPr lang="en-PH" sz="2400" dirty="0">
                          <a:latin typeface="Century Gothic" panose="020B0502020202020204" pitchFamily="34" charset="0"/>
                        </a:rPr>
                        <a:t>How users remember info</a:t>
                      </a:r>
                    </a:p>
                  </a:txBody>
                  <a:tcPr anchor="ctr">
                    <a:lnL>
                      <a:noFill/>
                    </a:lnL>
                    <a:lnR>
                      <a:noFill/>
                    </a:lnR>
                    <a:lnT>
                      <a:noFill/>
                    </a:lnT>
                    <a:lnB>
                      <a:noFill/>
                    </a:lnB>
                    <a:noFill/>
                  </a:tcPr>
                </a:tc>
                <a:tc>
                  <a:txBody>
                    <a:bodyPr/>
                    <a:lstStyle/>
                    <a:p>
                      <a:pPr>
                        <a:buNone/>
                      </a:pPr>
                      <a:r>
                        <a:rPr lang="en-PH" sz="2400" dirty="0">
                          <a:latin typeface="Century Gothic" panose="020B0502020202020204" pitchFamily="34" charset="0"/>
                        </a:rPr>
                        <a:t>Don’t overload memory</a:t>
                      </a:r>
                    </a:p>
                  </a:txBody>
                  <a:tcPr anchor="ctr">
                    <a:lnL>
                      <a:noFill/>
                    </a:lnL>
                    <a:lnR>
                      <a:noFill/>
                    </a:lnR>
                    <a:lnT>
                      <a:noFill/>
                    </a:lnT>
                    <a:lnB>
                      <a:noFill/>
                    </a:lnB>
                    <a:noFill/>
                  </a:tcPr>
                </a:tc>
                <a:extLst>
                  <a:ext uri="{0D108BD9-81ED-4DB2-BD59-A6C34878D82A}">
                    <a16:rowId xmlns:a16="http://schemas.microsoft.com/office/drawing/2014/main" val="3597424367"/>
                  </a:ext>
                </a:extLst>
              </a:tr>
              <a:tr h="599858">
                <a:tc>
                  <a:txBody>
                    <a:bodyPr/>
                    <a:lstStyle/>
                    <a:p>
                      <a:pPr>
                        <a:buNone/>
                      </a:pPr>
                      <a:r>
                        <a:rPr lang="en-PH" sz="2400" b="1" dirty="0">
                          <a:latin typeface="Century Gothic" panose="020B0502020202020204" pitchFamily="34" charset="0"/>
                        </a:rPr>
                        <a:t>Learning</a:t>
                      </a:r>
                    </a:p>
                  </a:txBody>
                  <a:tcPr anchor="ctr">
                    <a:lnL>
                      <a:noFill/>
                    </a:lnL>
                    <a:lnR>
                      <a:noFill/>
                    </a:lnR>
                    <a:lnT>
                      <a:noFill/>
                    </a:lnT>
                    <a:lnB>
                      <a:noFill/>
                    </a:lnB>
                    <a:noFill/>
                  </a:tcPr>
                </a:tc>
                <a:tc>
                  <a:txBody>
                    <a:bodyPr/>
                    <a:lstStyle/>
                    <a:p>
                      <a:pPr>
                        <a:buNone/>
                      </a:pPr>
                      <a:r>
                        <a:rPr lang="en-US" sz="2400" dirty="0">
                          <a:latin typeface="Century Gothic" panose="020B0502020202020204" pitchFamily="34" charset="0"/>
                        </a:rPr>
                        <a:t>How users get better over time</a:t>
                      </a:r>
                    </a:p>
                  </a:txBody>
                  <a:tcPr anchor="ctr">
                    <a:lnL>
                      <a:noFill/>
                    </a:lnL>
                    <a:lnR>
                      <a:noFill/>
                    </a:lnR>
                    <a:lnT>
                      <a:noFill/>
                    </a:lnT>
                    <a:lnB>
                      <a:noFill/>
                    </a:lnB>
                    <a:noFill/>
                  </a:tcPr>
                </a:tc>
                <a:tc>
                  <a:txBody>
                    <a:bodyPr/>
                    <a:lstStyle/>
                    <a:p>
                      <a:pPr>
                        <a:buNone/>
                      </a:pPr>
                      <a:r>
                        <a:rPr lang="en-PH" sz="2400" dirty="0">
                          <a:latin typeface="Century Gothic" panose="020B0502020202020204" pitchFamily="34" charset="0"/>
                        </a:rPr>
                        <a:t>Make systems predictable</a:t>
                      </a:r>
                    </a:p>
                  </a:txBody>
                  <a:tcPr anchor="ctr">
                    <a:lnL>
                      <a:noFill/>
                    </a:lnL>
                    <a:lnR>
                      <a:noFill/>
                    </a:lnR>
                    <a:lnT>
                      <a:noFill/>
                    </a:lnT>
                    <a:lnB>
                      <a:noFill/>
                    </a:lnB>
                    <a:noFill/>
                  </a:tcPr>
                </a:tc>
                <a:extLst>
                  <a:ext uri="{0D108BD9-81ED-4DB2-BD59-A6C34878D82A}">
                    <a16:rowId xmlns:a16="http://schemas.microsoft.com/office/drawing/2014/main" val="17340409"/>
                  </a:ext>
                </a:extLst>
              </a:tr>
              <a:tr h="457674">
                <a:tc>
                  <a:txBody>
                    <a:bodyPr/>
                    <a:lstStyle/>
                    <a:p>
                      <a:pPr>
                        <a:buNone/>
                      </a:pPr>
                      <a:r>
                        <a:rPr lang="en-PH" sz="2400" b="1" dirty="0">
                          <a:latin typeface="Century Gothic" panose="020B0502020202020204" pitchFamily="34" charset="0"/>
                        </a:rPr>
                        <a:t>Decision-Making</a:t>
                      </a:r>
                    </a:p>
                  </a:txBody>
                  <a:tcPr anchor="ctr">
                    <a:lnL>
                      <a:noFill/>
                    </a:lnL>
                    <a:lnR>
                      <a:noFill/>
                    </a:lnR>
                    <a:lnT>
                      <a:noFill/>
                    </a:lnT>
                    <a:lnB>
                      <a:noFill/>
                    </a:lnB>
                    <a:noFill/>
                  </a:tcPr>
                </a:tc>
                <a:tc>
                  <a:txBody>
                    <a:bodyPr/>
                    <a:lstStyle/>
                    <a:p>
                      <a:pPr>
                        <a:buNone/>
                      </a:pPr>
                      <a:r>
                        <a:rPr lang="en-PH" sz="2400">
                          <a:latin typeface="Century Gothic" panose="020B0502020202020204" pitchFamily="34" charset="0"/>
                        </a:rPr>
                        <a:t>How users choose actions</a:t>
                      </a:r>
                    </a:p>
                  </a:txBody>
                  <a:tcPr anchor="ctr">
                    <a:lnL>
                      <a:noFill/>
                    </a:lnL>
                    <a:lnR>
                      <a:noFill/>
                    </a:lnR>
                    <a:lnT>
                      <a:noFill/>
                    </a:lnT>
                    <a:lnB>
                      <a:noFill/>
                    </a:lnB>
                    <a:noFill/>
                  </a:tcPr>
                </a:tc>
                <a:tc>
                  <a:txBody>
                    <a:bodyPr/>
                    <a:lstStyle/>
                    <a:p>
                      <a:pPr>
                        <a:buNone/>
                      </a:pPr>
                      <a:r>
                        <a:rPr lang="en-PH" sz="2400" dirty="0">
                          <a:latin typeface="Century Gothic" panose="020B0502020202020204" pitchFamily="34" charset="0"/>
                        </a:rPr>
                        <a:t>Clear options reduce errors</a:t>
                      </a:r>
                    </a:p>
                  </a:txBody>
                  <a:tcPr anchor="ctr">
                    <a:lnL>
                      <a:noFill/>
                    </a:lnL>
                    <a:lnR>
                      <a:noFill/>
                    </a:lnR>
                    <a:lnT>
                      <a:noFill/>
                    </a:lnT>
                    <a:lnB>
                      <a:noFill/>
                    </a:lnB>
                    <a:noFill/>
                  </a:tcPr>
                </a:tc>
                <a:extLst>
                  <a:ext uri="{0D108BD9-81ED-4DB2-BD59-A6C34878D82A}">
                    <a16:rowId xmlns:a16="http://schemas.microsoft.com/office/drawing/2014/main" val="1913677198"/>
                  </a:ext>
                </a:extLst>
              </a:tr>
            </a:tbl>
          </a:graphicData>
        </a:graphic>
      </p:graphicFrame>
    </p:spTree>
    <p:extLst>
      <p:ext uri="{BB962C8B-B14F-4D97-AF65-F5344CB8AC3E}">
        <p14:creationId xmlns:p14="http://schemas.microsoft.com/office/powerpoint/2010/main" val="2338815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23DCF-6E8F-1667-23F2-3443A6FB5516}"/>
              </a:ext>
            </a:extLst>
          </p:cNvPr>
          <p:cNvSpPr>
            <a:spLocks noGrp="1"/>
          </p:cNvSpPr>
          <p:nvPr>
            <p:ph type="title"/>
          </p:nvPr>
        </p:nvSpPr>
        <p:spPr/>
        <p:txBody>
          <a:bodyPr/>
          <a:lstStyle/>
          <a:p>
            <a:r>
              <a:rPr lang="en-US" dirty="0"/>
              <a:t>Human Memory</a:t>
            </a:r>
            <a:endParaRPr lang="en-PH" dirty="0"/>
          </a:p>
        </p:txBody>
      </p:sp>
      <p:graphicFrame>
        <p:nvGraphicFramePr>
          <p:cNvPr id="4" name="Table 3">
            <a:extLst>
              <a:ext uri="{FF2B5EF4-FFF2-40B4-BE49-F238E27FC236}">
                <a16:creationId xmlns:a16="http://schemas.microsoft.com/office/drawing/2014/main" id="{61517B3D-1D30-3CE3-05C4-1032B53C5B23}"/>
              </a:ext>
            </a:extLst>
          </p:cNvPr>
          <p:cNvGraphicFramePr>
            <a:graphicFrameLocks noGrp="1"/>
          </p:cNvGraphicFramePr>
          <p:nvPr>
            <p:extLst>
              <p:ext uri="{D42A27DB-BD31-4B8C-83A1-F6EECF244321}">
                <p14:modId xmlns:p14="http://schemas.microsoft.com/office/powerpoint/2010/main" val="2731328516"/>
              </p:ext>
            </p:extLst>
          </p:nvPr>
        </p:nvGraphicFramePr>
        <p:xfrm>
          <a:off x="838200" y="2029619"/>
          <a:ext cx="10515600" cy="3200400"/>
        </p:xfrm>
        <a:graphic>
          <a:graphicData uri="http://schemas.openxmlformats.org/drawingml/2006/table">
            <a:tbl>
              <a:tblPr/>
              <a:tblGrid>
                <a:gridCol w="2628900">
                  <a:extLst>
                    <a:ext uri="{9D8B030D-6E8A-4147-A177-3AD203B41FA5}">
                      <a16:colId xmlns:a16="http://schemas.microsoft.com/office/drawing/2014/main" val="4012039939"/>
                    </a:ext>
                  </a:extLst>
                </a:gridCol>
                <a:gridCol w="2105025">
                  <a:extLst>
                    <a:ext uri="{9D8B030D-6E8A-4147-A177-3AD203B41FA5}">
                      <a16:colId xmlns:a16="http://schemas.microsoft.com/office/drawing/2014/main" val="682394258"/>
                    </a:ext>
                  </a:extLst>
                </a:gridCol>
                <a:gridCol w="3152775">
                  <a:extLst>
                    <a:ext uri="{9D8B030D-6E8A-4147-A177-3AD203B41FA5}">
                      <a16:colId xmlns:a16="http://schemas.microsoft.com/office/drawing/2014/main" val="1121576492"/>
                    </a:ext>
                  </a:extLst>
                </a:gridCol>
                <a:gridCol w="2628900">
                  <a:extLst>
                    <a:ext uri="{9D8B030D-6E8A-4147-A177-3AD203B41FA5}">
                      <a16:colId xmlns:a16="http://schemas.microsoft.com/office/drawing/2014/main" val="697576315"/>
                    </a:ext>
                  </a:extLst>
                </a:gridCol>
              </a:tblGrid>
              <a:tr h="0">
                <a:tc>
                  <a:txBody>
                    <a:bodyPr/>
                    <a:lstStyle/>
                    <a:p>
                      <a:pPr>
                        <a:buNone/>
                      </a:pPr>
                      <a:r>
                        <a:rPr lang="en-PH" b="1" dirty="0">
                          <a:latin typeface="Century Gothic" panose="020B0502020202020204" pitchFamily="34" charset="0"/>
                        </a:rPr>
                        <a:t>Type</a:t>
                      </a:r>
                    </a:p>
                  </a:txBody>
                  <a:tcPr anchor="ctr">
                    <a:lnL>
                      <a:noFill/>
                    </a:lnL>
                    <a:lnR>
                      <a:noFill/>
                    </a:lnR>
                    <a:lnT>
                      <a:noFill/>
                    </a:lnT>
                    <a:lnB>
                      <a:noFill/>
                    </a:lnB>
                    <a:solidFill>
                      <a:schemeClr val="bg1">
                        <a:lumMod val="85000"/>
                      </a:schemeClr>
                    </a:solidFill>
                  </a:tcPr>
                </a:tc>
                <a:tc>
                  <a:txBody>
                    <a:bodyPr/>
                    <a:lstStyle/>
                    <a:p>
                      <a:pPr>
                        <a:buNone/>
                      </a:pPr>
                      <a:r>
                        <a:rPr lang="en-PH" b="1" dirty="0">
                          <a:latin typeface="Century Gothic" panose="020B0502020202020204" pitchFamily="34" charset="0"/>
                        </a:rPr>
                        <a:t>Duration</a:t>
                      </a:r>
                    </a:p>
                  </a:txBody>
                  <a:tcPr anchor="ctr">
                    <a:lnL>
                      <a:noFill/>
                    </a:lnL>
                    <a:lnR>
                      <a:noFill/>
                    </a:lnR>
                    <a:lnT>
                      <a:noFill/>
                    </a:lnT>
                    <a:lnB>
                      <a:noFill/>
                    </a:lnB>
                    <a:solidFill>
                      <a:schemeClr val="bg1">
                        <a:lumMod val="85000"/>
                      </a:schemeClr>
                    </a:solidFill>
                  </a:tcPr>
                </a:tc>
                <a:tc>
                  <a:txBody>
                    <a:bodyPr/>
                    <a:lstStyle/>
                    <a:p>
                      <a:pPr>
                        <a:buNone/>
                      </a:pPr>
                      <a:r>
                        <a:rPr lang="en-PH" b="1" dirty="0">
                          <a:latin typeface="Century Gothic" panose="020B0502020202020204" pitchFamily="34" charset="0"/>
                        </a:rPr>
                        <a:t>Example</a:t>
                      </a:r>
                    </a:p>
                  </a:txBody>
                  <a:tcPr anchor="ctr">
                    <a:lnL>
                      <a:noFill/>
                    </a:lnL>
                    <a:lnR>
                      <a:noFill/>
                    </a:lnR>
                    <a:lnT>
                      <a:noFill/>
                    </a:lnT>
                    <a:lnB>
                      <a:noFill/>
                    </a:lnB>
                    <a:solidFill>
                      <a:schemeClr val="bg1">
                        <a:lumMod val="85000"/>
                      </a:schemeClr>
                    </a:solidFill>
                  </a:tcPr>
                </a:tc>
                <a:tc>
                  <a:txBody>
                    <a:bodyPr/>
                    <a:lstStyle/>
                    <a:p>
                      <a:pPr>
                        <a:buNone/>
                      </a:pPr>
                      <a:r>
                        <a:rPr lang="en-PH" b="1" dirty="0">
                          <a:latin typeface="Century Gothic" panose="020B0502020202020204" pitchFamily="34" charset="0"/>
                        </a:rPr>
                        <a:t>HCI Design Tip</a:t>
                      </a:r>
                    </a:p>
                  </a:txBody>
                  <a:tcPr anchor="ctr">
                    <a:lnL>
                      <a:noFill/>
                    </a:lnL>
                    <a:lnR>
                      <a:noFill/>
                    </a:lnR>
                    <a:lnT>
                      <a:noFill/>
                    </a:lnT>
                    <a:lnB>
                      <a:noFill/>
                    </a:lnB>
                    <a:solidFill>
                      <a:schemeClr val="bg1">
                        <a:lumMod val="85000"/>
                      </a:schemeClr>
                    </a:solidFill>
                  </a:tcPr>
                </a:tc>
                <a:extLst>
                  <a:ext uri="{0D108BD9-81ED-4DB2-BD59-A6C34878D82A}">
                    <a16:rowId xmlns:a16="http://schemas.microsoft.com/office/drawing/2014/main" val="50946456"/>
                  </a:ext>
                </a:extLst>
              </a:tr>
              <a:tr h="0">
                <a:tc>
                  <a:txBody>
                    <a:bodyPr/>
                    <a:lstStyle/>
                    <a:p>
                      <a:pPr>
                        <a:buNone/>
                      </a:pPr>
                      <a:r>
                        <a:rPr lang="en-PH" sz="2400" dirty="0">
                          <a:latin typeface="Century Gothic" panose="020B0502020202020204" pitchFamily="34" charset="0"/>
                        </a:rPr>
                        <a:t>Sensory Memory</a:t>
                      </a:r>
                    </a:p>
                  </a:txBody>
                  <a:tcPr anchor="ctr">
                    <a:lnL>
                      <a:noFill/>
                    </a:lnL>
                    <a:lnR>
                      <a:noFill/>
                    </a:lnR>
                    <a:lnT>
                      <a:noFill/>
                    </a:lnT>
                    <a:lnB>
                      <a:noFill/>
                    </a:lnB>
                    <a:noFill/>
                  </a:tcPr>
                </a:tc>
                <a:tc>
                  <a:txBody>
                    <a:bodyPr/>
                    <a:lstStyle/>
                    <a:p>
                      <a:pPr>
                        <a:buNone/>
                      </a:pPr>
                      <a:r>
                        <a:rPr lang="en-PH" sz="2400" dirty="0">
                          <a:latin typeface="Century Gothic" panose="020B0502020202020204" pitchFamily="34" charset="0"/>
                        </a:rPr>
                        <a:t>milliseconds</a:t>
                      </a:r>
                    </a:p>
                  </a:txBody>
                  <a:tcPr anchor="ctr">
                    <a:lnL>
                      <a:noFill/>
                    </a:lnL>
                    <a:lnR>
                      <a:noFill/>
                    </a:lnR>
                    <a:lnT>
                      <a:noFill/>
                    </a:lnT>
                    <a:lnB>
                      <a:noFill/>
                    </a:lnB>
                    <a:noFill/>
                  </a:tcPr>
                </a:tc>
                <a:tc>
                  <a:txBody>
                    <a:bodyPr/>
                    <a:lstStyle/>
                    <a:p>
                      <a:pPr>
                        <a:buNone/>
                      </a:pPr>
                      <a:r>
                        <a:rPr lang="en-PH" sz="2400" dirty="0">
                          <a:latin typeface="Century Gothic" panose="020B0502020202020204" pitchFamily="34" charset="0"/>
                        </a:rPr>
                        <a:t>Seeing a notification flash</a:t>
                      </a:r>
                    </a:p>
                  </a:txBody>
                  <a:tcPr anchor="ctr">
                    <a:lnL>
                      <a:noFill/>
                    </a:lnL>
                    <a:lnR>
                      <a:noFill/>
                    </a:lnR>
                    <a:lnT>
                      <a:noFill/>
                    </a:lnT>
                    <a:lnB>
                      <a:noFill/>
                    </a:lnB>
                    <a:noFill/>
                  </a:tcPr>
                </a:tc>
                <a:tc>
                  <a:txBody>
                    <a:bodyPr/>
                    <a:lstStyle/>
                    <a:p>
                      <a:pPr>
                        <a:buNone/>
                      </a:pPr>
                      <a:r>
                        <a:rPr lang="en-PH" sz="2400">
                          <a:latin typeface="Century Gothic" panose="020B0502020202020204" pitchFamily="34" charset="0"/>
                        </a:rPr>
                        <a:t>Use visual cues effectively</a:t>
                      </a:r>
                    </a:p>
                  </a:txBody>
                  <a:tcPr anchor="ctr">
                    <a:lnL>
                      <a:noFill/>
                    </a:lnL>
                    <a:lnR>
                      <a:noFill/>
                    </a:lnR>
                    <a:lnT>
                      <a:noFill/>
                    </a:lnT>
                    <a:lnB>
                      <a:noFill/>
                    </a:lnB>
                    <a:noFill/>
                  </a:tcPr>
                </a:tc>
                <a:extLst>
                  <a:ext uri="{0D108BD9-81ED-4DB2-BD59-A6C34878D82A}">
                    <a16:rowId xmlns:a16="http://schemas.microsoft.com/office/drawing/2014/main" val="6325663"/>
                  </a:ext>
                </a:extLst>
              </a:tr>
              <a:tr h="0">
                <a:tc>
                  <a:txBody>
                    <a:bodyPr/>
                    <a:lstStyle/>
                    <a:p>
                      <a:pPr>
                        <a:buNone/>
                      </a:pPr>
                      <a:r>
                        <a:rPr lang="en-PH" sz="2400" dirty="0">
                          <a:latin typeface="Century Gothic" panose="020B0502020202020204" pitchFamily="34" charset="0"/>
                        </a:rPr>
                        <a:t>Short-Term (Working) Memory</a:t>
                      </a:r>
                    </a:p>
                  </a:txBody>
                  <a:tcPr anchor="ctr">
                    <a:lnL>
                      <a:noFill/>
                    </a:lnL>
                    <a:lnR>
                      <a:noFill/>
                    </a:lnR>
                    <a:lnT>
                      <a:noFill/>
                    </a:lnT>
                    <a:lnB>
                      <a:noFill/>
                    </a:lnB>
                    <a:noFill/>
                  </a:tcPr>
                </a:tc>
                <a:tc>
                  <a:txBody>
                    <a:bodyPr/>
                    <a:lstStyle/>
                    <a:p>
                      <a:pPr>
                        <a:buNone/>
                      </a:pPr>
                      <a:r>
                        <a:rPr lang="en-PH" sz="2400" dirty="0">
                          <a:latin typeface="Century Gothic" panose="020B0502020202020204" pitchFamily="34" charset="0"/>
                        </a:rPr>
                        <a:t>~20 seconds, 7±2 items</a:t>
                      </a:r>
                    </a:p>
                  </a:txBody>
                  <a:tcPr anchor="ctr">
                    <a:lnL>
                      <a:noFill/>
                    </a:lnL>
                    <a:lnR>
                      <a:noFill/>
                    </a:lnR>
                    <a:lnT>
                      <a:noFill/>
                    </a:lnT>
                    <a:lnB>
                      <a:noFill/>
                    </a:lnB>
                    <a:noFill/>
                  </a:tcPr>
                </a:tc>
                <a:tc>
                  <a:txBody>
                    <a:bodyPr/>
                    <a:lstStyle/>
                    <a:p>
                      <a:pPr>
                        <a:buNone/>
                      </a:pPr>
                      <a:r>
                        <a:rPr lang="en-PH" sz="2400" dirty="0">
                          <a:latin typeface="Century Gothic" panose="020B0502020202020204" pitchFamily="34" charset="0"/>
                        </a:rPr>
                        <a:t>Remembering a verification code</a:t>
                      </a:r>
                    </a:p>
                  </a:txBody>
                  <a:tcPr anchor="ctr">
                    <a:lnL>
                      <a:noFill/>
                    </a:lnL>
                    <a:lnR>
                      <a:noFill/>
                    </a:lnR>
                    <a:lnT>
                      <a:noFill/>
                    </a:lnT>
                    <a:lnB>
                      <a:noFill/>
                    </a:lnB>
                    <a:noFill/>
                  </a:tcPr>
                </a:tc>
                <a:tc>
                  <a:txBody>
                    <a:bodyPr/>
                    <a:lstStyle/>
                    <a:p>
                      <a:pPr>
                        <a:buNone/>
                      </a:pPr>
                      <a:r>
                        <a:rPr lang="en-PH" sz="2400">
                          <a:latin typeface="Century Gothic" panose="020B0502020202020204" pitchFamily="34" charset="0"/>
                        </a:rPr>
                        <a:t>Keep steps simple</a:t>
                      </a:r>
                    </a:p>
                  </a:txBody>
                  <a:tcPr anchor="ctr">
                    <a:lnL>
                      <a:noFill/>
                    </a:lnL>
                    <a:lnR>
                      <a:noFill/>
                    </a:lnR>
                    <a:lnT>
                      <a:noFill/>
                    </a:lnT>
                    <a:lnB>
                      <a:noFill/>
                    </a:lnB>
                    <a:noFill/>
                  </a:tcPr>
                </a:tc>
                <a:extLst>
                  <a:ext uri="{0D108BD9-81ED-4DB2-BD59-A6C34878D82A}">
                    <a16:rowId xmlns:a16="http://schemas.microsoft.com/office/drawing/2014/main" val="3409332582"/>
                  </a:ext>
                </a:extLst>
              </a:tr>
              <a:tr h="0">
                <a:tc>
                  <a:txBody>
                    <a:bodyPr/>
                    <a:lstStyle/>
                    <a:p>
                      <a:pPr>
                        <a:buNone/>
                      </a:pPr>
                      <a:r>
                        <a:rPr lang="en-PH" sz="2400" dirty="0">
                          <a:latin typeface="Century Gothic" panose="020B0502020202020204" pitchFamily="34" charset="0"/>
                        </a:rPr>
                        <a:t>Long-Term Memory</a:t>
                      </a:r>
                    </a:p>
                  </a:txBody>
                  <a:tcPr anchor="ctr">
                    <a:lnL>
                      <a:noFill/>
                    </a:lnL>
                    <a:lnR>
                      <a:noFill/>
                    </a:lnR>
                    <a:lnT>
                      <a:noFill/>
                    </a:lnT>
                    <a:lnB>
                      <a:noFill/>
                    </a:lnB>
                    <a:noFill/>
                  </a:tcPr>
                </a:tc>
                <a:tc>
                  <a:txBody>
                    <a:bodyPr/>
                    <a:lstStyle/>
                    <a:p>
                      <a:pPr>
                        <a:buNone/>
                      </a:pPr>
                      <a:r>
                        <a:rPr lang="en-PH" sz="2400">
                          <a:latin typeface="Century Gothic" panose="020B0502020202020204" pitchFamily="34" charset="0"/>
                        </a:rPr>
                        <a:t>Unlimited</a:t>
                      </a:r>
                    </a:p>
                  </a:txBody>
                  <a:tcPr anchor="ctr">
                    <a:lnL>
                      <a:noFill/>
                    </a:lnL>
                    <a:lnR>
                      <a:noFill/>
                    </a:lnR>
                    <a:lnT>
                      <a:noFill/>
                    </a:lnT>
                    <a:lnB>
                      <a:noFill/>
                    </a:lnB>
                    <a:noFill/>
                  </a:tcPr>
                </a:tc>
                <a:tc>
                  <a:txBody>
                    <a:bodyPr/>
                    <a:lstStyle/>
                    <a:p>
                      <a:pPr>
                        <a:buNone/>
                      </a:pPr>
                      <a:r>
                        <a:rPr lang="en-US" sz="2400" dirty="0">
                          <a:latin typeface="Century Gothic" panose="020B0502020202020204" pitchFamily="34" charset="0"/>
                        </a:rPr>
                        <a:t>Remembering how to use Facebook</a:t>
                      </a:r>
                    </a:p>
                  </a:txBody>
                  <a:tcPr anchor="ctr">
                    <a:lnL>
                      <a:noFill/>
                    </a:lnL>
                    <a:lnR>
                      <a:noFill/>
                    </a:lnR>
                    <a:lnT>
                      <a:noFill/>
                    </a:lnT>
                    <a:lnB>
                      <a:noFill/>
                    </a:lnB>
                    <a:noFill/>
                  </a:tcPr>
                </a:tc>
                <a:tc>
                  <a:txBody>
                    <a:bodyPr/>
                    <a:lstStyle/>
                    <a:p>
                      <a:pPr>
                        <a:buNone/>
                      </a:pPr>
                      <a:r>
                        <a:rPr lang="en-PH" sz="2400" dirty="0">
                          <a:latin typeface="Century Gothic" panose="020B0502020202020204" pitchFamily="34" charset="0"/>
                        </a:rPr>
                        <a:t>Use familiar patterns</a:t>
                      </a:r>
                    </a:p>
                  </a:txBody>
                  <a:tcPr anchor="ctr">
                    <a:lnL>
                      <a:noFill/>
                    </a:lnL>
                    <a:lnR>
                      <a:noFill/>
                    </a:lnR>
                    <a:lnT>
                      <a:noFill/>
                    </a:lnT>
                    <a:lnB>
                      <a:noFill/>
                    </a:lnB>
                    <a:noFill/>
                  </a:tcPr>
                </a:tc>
                <a:extLst>
                  <a:ext uri="{0D108BD9-81ED-4DB2-BD59-A6C34878D82A}">
                    <a16:rowId xmlns:a16="http://schemas.microsoft.com/office/drawing/2014/main" val="2549177856"/>
                  </a:ext>
                </a:extLst>
              </a:tr>
            </a:tbl>
          </a:graphicData>
        </a:graphic>
      </p:graphicFrame>
    </p:spTree>
    <p:extLst>
      <p:ext uri="{BB962C8B-B14F-4D97-AF65-F5344CB8AC3E}">
        <p14:creationId xmlns:p14="http://schemas.microsoft.com/office/powerpoint/2010/main" val="400538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2C658-7BC4-18A9-5D48-8FA556042EA4}"/>
              </a:ext>
            </a:extLst>
          </p:cNvPr>
          <p:cNvSpPr>
            <a:spLocks noGrp="1"/>
          </p:cNvSpPr>
          <p:nvPr>
            <p:ph type="title"/>
          </p:nvPr>
        </p:nvSpPr>
        <p:spPr/>
        <p:txBody>
          <a:bodyPr/>
          <a:lstStyle/>
          <a:p>
            <a:pPr algn="ctr"/>
            <a:r>
              <a:rPr lang="en-PH" dirty="0"/>
              <a:t>Golden Rule</a:t>
            </a:r>
          </a:p>
        </p:txBody>
      </p:sp>
      <p:sp>
        <p:nvSpPr>
          <p:cNvPr id="3" name="Content Placeholder 2">
            <a:extLst>
              <a:ext uri="{FF2B5EF4-FFF2-40B4-BE49-F238E27FC236}">
                <a16:creationId xmlns:a16="http://schemas.microsoft.com/office/drawing/2014/main" id="{DFC472DD-02A1-613A-007F-D80BFF1DB5CB}"/>
              </a:ext>
            </a:extLst>
          </p:cNvPr>
          <p:cNvSpPr>
            <a:spLocks noGrp="1"/>
          </p:cNvSpPr>
          <p:nvPr>
            <p:ph idx="1"/>
          </p:nvPr>
        </p:nvSpPr>
        <p:spPr>
          <a:xfrm>
            <a:off x="838200" y="3428999"/>
            <a:ext cx="10515600" cy="1042639"/>
          </a:xfrm>
          <a:solidFill>
            <a:schemeClr val="bg1">
              <a:lumMod val="85000"/>
            </a:schemeClr>
          </a:solidFill>
        </p:spPr>
        <p:txBody>
          <a:bodyPr>
            <a:normAutofit fontScale="70000" lnSpcReduction="20000"/>
          </a:bodyPr>
          <a:lstStyle/>
          <a:p>
            <a:pPr marL="0" indent="0" algn="ctr">
              <a:buNone/>
            </a:pPr>
            <a:endParaRPr lang="en-US" sz="1400" b="1" dirty="0"/>
          </a:p>
          <a:p>
            <a:pPr marL="0" indent="0" algn="ctr">
              <a:buNone/>
            </a:pPr>
            <a:r>
              <a:rPr lang="en-US" sz="4400" b="1" dirty="0"/>
              <a:t>Don’t make users remember; make them recognize!</a:t>
            </a:r>
          </a:p>
          <a:p>
            <a:pPr marL="0" indent="0" algn="ctr">
              <a:buNone/>
            </a:pPr>
            <a:endParaRPr lang="en-PH" b="1" dirty="0"/>
          </a:p>
        </p:txBody>
      </p:sp>
    </p:spTree>
    <p:extLst>
      <p:ext uri="{BB962C8B-B14F-4D97-AF65-F5344CB8AC3E}">
        <p14:creationId xmlns:p14="http://schemas.microsoft.com/office/powerpoint/2010/main" val="3239541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F7215-AE61-118C-7521-62D0F5AE34F9}"/>
              </a:ext>
            </a:extLst>
          </p:cNvPr>
          <p:cNvSpPr>
            <a:spLocks noGrp="1"/>
          </p:cNvSpPr>
          <p:nvPr>
            <p:ph type="title"/>
          </p:nvPr>
        </p:nvSpPr>
        <p:spPr/>
        <p:txBody>
          <a:bodyPr/>
          <a:lstStyle/>
          <a:p>
            <a:r>
              <a:rPr lang="en-PH" dirty="0"/>
              <a:t>Cognitive Load</a:t>
            </a:r>
          </a:p>
        </p:txBody>
      </p:sp>
      <p:sp>
        <p:nvSpPr>
          <p:cNvPr id="3" name="Content Placeholder 2">
            <a:extLst>
              <a:ext uri="{FF2B5EF4-FFF2-40B4-BE49-F238E27FC236}">
                <a16:creationId xmlns:a16="http://schemas.microsoft.com/office/drawing/2014/main" id="{43B63141-9E4F-284B-4F42-F982908CCE63}"/>
              </a:ext>
            </a:extLst>
          </p:cNvPr>
          <p:cNvSpPr>
            <a:spLocks noGrp="1"/>
          </p:cNvSpPr>
          <p:nvPr>
            <p:ph idx="1"/>
          </p:nvPr>
        </p:nvSpPr>
        <p:spPr/>
        <p:txBody>
          <a:bodyPr/>
          <a:lstStyle/>
          <a:p>
            <a:pPr marL="0" indent="0">
              <a:buNone/>
            </a:pPr>
            <a:r>
              <a:rPr lang="en-US" b="1" dirty="0">
                <a:latin typeface="Century Gothic" panose="020B0502020202020204" pitchFamily="34" charset="0"/>
              </a:rPr>
              <a:t>Cognitive Load</a:t>
            </a:r>
            <a:r>
              <a:rPr lang="en-US" dirty="0">
                <a:latin typeface="Century Gothic" panose="020B0502020202020204" pitchFamily="34" charset="0"/>
              </a:rPr>
              <a:t> = the total amount of mental effort and working memory resources used at any given time, impacting learning and task performance</a:t>
            </a:r>
          </a:p>
          <a:p>
            <a:pPr marL="0" indent="0">
              <a:buNone/>
            </a:pPr>
            <a:endParaRPr lang="en-US" dirty="0">
              <a:latin typeface="Century Gothic" panose="020B0502020202020204" pitchFamily="34" charset="0"/>
            </a:endParaRPr>
          </a:p>
          <a:p>
            <a:pPr marL="0" indent="0">
              <a:buNone/>
            </a:pPr>
            <a:r>
              <a:rPr lang="en-US" b="1" dirty="0">
                <a:latin typeface="Century Gothic" panose="020B0502020202020204" pitchFamily="34" charset="0"/>
              </a:rPr>
              <a:t>3 Types:</a:t>
            </a:r>
          </a:p>
          <a:p>
            <a:r>
              <a:rPr lang="en-US" b="1" dirty="0">
                <a:latin typeface="Century Gothic" panose="020B0502020202020204" pitchFamily="34" charset="0"/>
              </a:rPr>
              <a:t>Intrinsic Load</a:t>
            </a:r>
            <a:r>
              <a:rPr lang="en-US" dirty="0">
                <a:latin typeface="Century Gothic" panose="020B0502020202020204" pitchFamily="34" charset="0"/>
              </a:rPr>
              <a:t> – Difficulty of the task itself</a:t>
            </a:r>
          </a:p>
          <a:p>
            <a:r>
              <a:rPr lang="en-US" b="1" dirty="0">
                <a:latin typeface="Century Gothic" panose="020B0502020202020204" pitchFamily="34" charset="0"/>
              </a:rPr>
              <a:t>Extraneous Load</a:t>
            </a:r>
            <a:r>
              <a:rPr lang="en-US" dirty="0">
                <a:latin typeface="Century Gothic" panose="020B0502020202020204" pitchFamily="34" charset="0"/>
              </a:rPr>
              <a:t> – Poor design making things harder</a:t>
            </a:r>
          </a:p>
          <a:p>
            <a:r>
              <a:rPr lang="en-US" b="1" dirty="0">
                <a:latin typeface="Century Gothic" panose="020B0502020202020204" pitchFamily="34" charset="0"/>
              </a:rPr>
              <a:t>Germane Load</a:t>
            </a:r>
            <a:r>
              <a:rPr lang="en-US" dirty="0">
                <a:latin typeface="Century Gothic" panose="020B0502020202020204" pitchFamily="34" charset="0"/>
              </a:rPr>
              <a:t> – Mental effort that helps learning</a:t>
            </a:r>
          </a:p>
          <a:p>
            <a:pPr marL="0" indent="0">
              <a:buNone/>
            </a:pPr>
            <a:endParaRPr lang="en-PH" dirty="0">
              <a:latin typeface="Century Gothic" panose="020B0502020202020204" pitchFamily="34" charset="0"/>
            </a:endParaRPr>
          </a:p>
        </p:txBody>
      </p:sp>
    </p:spTree>
    <p:extLst>
      <p:ext uri="{BB962C8B-B14F-4D97-AF65-F5344CB8AC3E}">
        <p14:creationId xmlns:p14="http://schemas.microsoft.com/office/powerpoint/2010/main" val="2492718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E1282B8-55CC-B896-B441-0B143CE6A967}"/>
              </a:ext>
            </a:extLst>
          </p:cNvPr>
          <p:cNvPicPr>
            <a:picLocks noGrp="1" noChangeAspect="1"/>
          </p:cNvPicPr>
          <p:nvPr>
            <p:ph idx="1"/>
          </p:nvPr>
        </p:nvPicPr>
        <p:blipFill>
          <a:blip r:embed="rId3"/>
          <a:srcRect b="2598"/>
          <a:stretch>
            <a:fillRect/>
          </a:stretch>
        </p:blipFill>
        <p:spPr>
          <a:xfrm>
            <a:off x="20" y="10"/>
            <a:ext cx="12191980" cy="6857990"/>
          </a:xfrm>
          <a:prstGeom prst="rect">
            <a:avLst/>
          </a:prstGeom>
        </p:spPr>
      </p:pic>
    </p:spTree>
    <p:extLst>
      <p:ext uri="{BB962C8B-B14F-4D97-AF65-F5344CB8AC3E}">
        <p14:creationId xmlns:p14="http://schemas.microsoft.com/office/powerpoint/2010/main" val="3028856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hlinkClick r:id="rId2"/>
            <a:extLst>
              <a:ext uri="{FF2B5EF4-FFF2-40B4-BE49-F238E27FC236}">
                <a16:creationId xmlns:a16="http://schemas.microsoft.com/office/drawing/2014/main" id="{FD5F5553-505E-F68A-1BC2-A57A32F0DAE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993" r="323" b="-1"/>
          <a:stretch>
            <a:fillRect/>
          </a:stretch>
        </p:blipFill>
        <p:spPr>
          <a:xfrm>
            <a:off x="20" y="0"/>
            <a:ext cx="12191980" cy="6856718"/>
          </a:xfrm>
          <a:prstGeom prst="rect">
            <a:avLst/>
          </a:prstGeom>
          <a:ln>
            <a:noFill/>
          </a:ln>
        </p:spPr>
      </p:pic>
      <p:sp>
        <p:nvSpPr>
          <p:cNvPr id="13" name="Rectangle 12">
            <a:extLst>
              <a:ext uri="{FF2B5EF4-FFF2-40B4-BE49-F238E27FC236}">
                <a16:creationId xmlns:a16="http://schemas.microsoft.com/office/drawing/2014/main" id="{F7746633-0E1F-D92E-8671-FCC549757D48}"/>
              </a:ext>
            </a:extLst>
          </p:cNvPr>
          <p:cNvSpPr/>
          <p:nvPr/>
        </p:nvSpPr>
        <p:spPr>
          <a:xfrm>
            <a:off x="2910468" y="4962294"/>
            <a:ext cx="6032810" cy="1883274"/>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565069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07C1-BFC7-8D3F-3425-FD503E3C5F5D}"/>
              </a:ext>
            </a:extLst>
          </p:cNvPr>
          <p:cNvSpPr>
            <a:spLocks noGrp="1"/>
          </p:cNvSpPr>
          <p:nvPr>
            <p:ph type="title"/>
          </p:nvPr>
        </p:nvSpPr>
        <p:spPr/>
        <p:txBody>
          <a:bodyPr/>
          <a:lstStyle/>
          <a:p>
            <a:r>
              <a:rPr lang="en-PH" dirty="0"/>
              <a:t>Google in 1998</a:t>
            </a:r>
          </a:p>
        </p:txBody>
      </p:sp>
      <p:pic>
        <p:nvPicPr>
          <p:cNvPr id="5" name="Picture 4">
            <a:extLst>
              <a:ext uri="{FF2B5EF4-FFF2-40B4-BE49-F238E27FC236}">
                <a16:creationId xmlns:a16="http://schemas.microsoft.com/office/drawing/2014/main" id="{BC1B3942-9C9E-B8BB-A35F-5C63825A652A}"/>
              </a:ext>
            </a:extLst>
          </p:cNvPr>
          <p:cNvPicPr>
            <a:picLocks noChangeAspect="1"/>
          </p:cNvPicPr>
          <p:nvPr/>
        </p:nvPicPr>
        <p:blipFill>
          <a:blip r:embed="rId3"/>
          <a:stretch>
            <a:fillRect/>
          </a:stretch>
        </p:blipFill>
        <p:spPr>
          <a:xfrm>
            <a:off x="1416956" y="212784"/>
            <a:ext cx="8405588" cy="6645216"/>
          </a:xfrm>
          <a:prstGeom prst="rect">
            <a:avLst/>
          </a:prstGeom>
        </p:spPr>
      </p:pic>
    </p:spTree>
    <p:extLst>
      <p:ext uri="{BB962C8B-B14F-4D97-AF65-F5344CB8AC3E}">
        <p14:creationId xmlns:p14="http://schemas.microsoft.com/office/powerpoint/2010/main" val="412461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1606C-7AF1-2CA0-2005-15693C702761}"/>
              </a:ext>
            </a:extLst>
          </p:cNvPr>
          <p:cNvSpPr>
            <a:spLocks noGrp="1"/>
          </p:cNvSpPr>
          <p:nvPr>
            <p:ph type="title"/>
          </p:nvPr>
        </p:nvSpPr>
        <p:spPr/>
        <p:txBody>
          <a:bodyPr/>
          <a:lstStyle/>
          <a:p>
            <a:r>
              <a:rPr lang="en-PH" dirty="0"/>
              <a:t>Attention &amp; Distraction</a:t>
            </a:r>
          </a:p>
        </p:txBody>
      </p:sp>
      <p:sp>
        <p:nvSpPr>
          <p:cNvPr id="3" name="Content Placeholder 2">
            <a:extLst>
              <a:ext uri="{FF2B5EF4-FFF2-40B4-BE49-F238E27FC236}">
                <a16:creationId xmlns:a16="http://schemas.microsoft.com/office/drawing/2014/main" id="{09EA96F9-5BEC-B0DF-722C-440B23ADD174}"/>
              </a:ext>
            </a:extLst>
          </p:cNvPr>
          <p:cNvSpPr>
            <a:spLocks noGrp="1"/>
          </p:cNvSpPr>
          <p:nvPr>
            <p:ph idx="1"/>
          </p:nvPr>
        </p:nvSpPr>
        <p:spPr/>
        <p:txBody>
          <a:bodyPr>
            <a:normAutofit/>
          </a:bodyPr>
          <a:lstStyle/>
          <a:p>
            <a:pPr marL="0" indent="0">
              <a:buNone/>
            </a:pPr>
            <a:r>
              <a:rPr lang="en-PH" dirty="0">
                <a:latin typeface="Century Gothic" panose="020B0502020202020204" pitchFamily="34" charset="0"/>
              </a:rPr>
              <a:t>Humans have </a:t>
            </a:r>
            <a:r>
              <a:rPr lang="en-PH" b="1" dirty="0">
                <a:latin typeface="Century Gothic" panose="020B0502020202020204" pitchFamily="34" charset="0"/>
              </a:rPr>
              <a:t>limited attention</a:t>
            </a:r>
            <a:endParaRPr lang="en-PH" dirty="0">
              <a:latin typeface="Century Gothic" panose="020B0502020202020204" pitchFamily="34" charset="0"/>
            </a:endParaRPr>
          </a:p>
          <a:p>
            <a:pPr marL="0" indent="0">
              <a:buNone/>
            </a:pPr>
            <a:r>
              <a:rPr lang="en-PH" dirty="0">
                <a:latin typeface="Century Gothic" panose="020B0502020202020204" pitchFamily="34" charset="0"/>
              </a:rPr>
              <a:t>The brain cannot truly multitask; it just switches rapidly between tasks.</a:t>
            </a:r>
          </a:p>
          <a:p>
            <a:pPr marL="0" indent="0">
              <a:buNone/>
            </a:pPr>
            <a:endParaRPr lang="en-PH" sz="1600" b="1" dirty="0">
              <a:latin typeface="Century Gothic" panose="020B0502020202020204" pitchFamily="34" charset="0"/>
            </a:endParaRPr>
          </a:p>
          <a:p>
            <a:pPr marL="0" indent="0">
              <a:buNone/>
            </a:pPr>
            <a:r>
              <a:rPr lang="en-PH" b="1" dirty="0">
                <a:latin typeface="Century Gothic" panose="020B0502020202020204" pitchFamily="34" charset="0"/>
              </a:rPr>
              <a:t>Design Implications:</a:t>
            </a:r>
          </a:p>
          <a:p>
            <a:pPr marL="0" indent="0">
              <a:buNone/>
            </a:pPr>
            <a:endParaRPr lang="en-PH" sz="400" b="1" dirty="0">
              <a:latin typeface="Century Gothic" panose="020B0502020202020204" pitchFamily="34" charset="0"/>
            </a:endParaRPr>
          </a:p>
          <a:p>
            <a:pPr lvl="1"/>
            <a:r>
              <a:rPr lang="en-PH" dirty="0">
                <a:latin typeface="Century Gothic" panose="020B0502020202020204" pitchFamily="34" charset="0"/>
              </a:rPr>
              <a:t>Too many popups = missed information</a:t>
            </a:r>
          </a:p>
          <a:p>
            <a:pPr lvl="1"/>
            <a:r>
              <a:rPr lang="en-PH" dirty="0">
                <a:latin typeface="Century Gothic" panose="020B0502020202020204" pitchFamily="34" charset="0"/>
              </a:rPr>
              <a:t>Flashy ads = reduced task focus</a:t>
            </a:r>
          </a:p>
          <a:p>
            <a:pPr lvl="1"/>
            <a:r>
              <a:rPr lang="en-PH" dirty="0">
                <a:latin typeface="Century Gothic" panose="020B0502020202020204" pitchFamily="34" charset="0"/>
              </a:rPr>
              <a:t>Cluttered dashboards = slower performance</a:t>
            </a:r>
          </a:p>
          <a:p>
            <a:pPr marL="0" indent="0">
              <a:buNone/>
            </a:pPr>
            <a:endParaRPr lang="en-PH" dirty="0">
              <a:latin typeface="Century Gothic" panose="020B0502020202020204" pitchFamily="34" charset="0"/>
            </a:endParaRPr>
          </a:p>
        </p:txBody>
      </p:sp>
      <p:sp>
        <p:nvSpPr>
          <p:cNvPr id="4" name="Content Placeholder 2">
            <a:extLst>
              <a:ext uri="{FF2B5EF4-FFF2-40B4-BE49-F238E27FC236}">
                <a16:creationId xmlns:a16="http://schemas.microsoft.com/office/drawing/2014/main" id="{4B5F0A6E-DDA0-B6FE-CB2C-97AC648D380F}"/>
              </a:ext>
            </a:extLst>
          </p:cNvPr>
          <p:cNvSpPr txBox="1">
            <a:spLocks/>
          </p:cNvSpPr>
          <p:nvPr/>
        </p:nvSpPr>
        <p:spPr>
          <a:xfrm>
            <a:off x="0" y="5197590"/>
            <a:ext cx="12192000" cy="1660410"/>
          </a:xfrm>
          <a:prstGeom prst="rect">
            <a:avLst/>
          </a:prstGeom>
          <a:solidFill>
            <a:schemeClr val="bg1">
              <a:lumMod val="6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500" b="1" u="sng" dirty="0"/>
          </a:p>
          <a:p>
            <a:pPr marL="0" indent="0" algn="ctr">
              <a:buFont typeface="Arial" panose="020B0604020202020204" pitchFamily="34" charset="0"/>
              <a:buNone/>
            </a:pPr>
            <a:r>
              <a:rPr lang="en-US" b="1" u="sng" dirty="0"/>
              <a:t>✔ Use visual hierarchy</a:t>
            </a:r>
            <a:br>
              <a:rPr lang="en-US" b="1" u="sng" dirty="0"/>
            </a:br>
            <a:r>
              <a:rPr lang="en-US" b="1" u="sng" dirty="0"/>
              <a:t>✔ Highlight important actions</a:t>
            </a:r>
            <a:br>
              <a:rPr lang="en-US" b="1" u="sng" dirty="0"/>
            </a:br>
            <a:r>
              <a:rPr lang="en-US" b="1" u="sng" dirty="0"/>
              <a:t>✔ Remove unnecessary elements</a:t>
            </a:r>
          </a:p>
        </p:txBody>
      </p:sp>
    </p:spTree>
    <p:extLst>
      <p:ext uri="{BB962C8B-B14F-4D97-AF65-F5344CB8AC3E}">
        <p14:creationId xmlns:p14="http://schemas.microsoft.com/office/powerpoint/2010/main" val="3037385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E08C9-C845-7A1A-0521-3CA8BDB84982}"/>
              </a:ext>
            </a:extLst>
          </p:cNvPr>
          <p:cNvSpPr>
            <a:spLocks noGrp="1"/>
          </p:cNvSpPr>
          <p:nvPr>
            <p:ph type="title"/>
          </p:nvPr>
        </p:nvSpPr>
        <p:spPr/>
        <p:txBody>
          <a:bodyPr/>
          <a:lstStyle/>
          <a:p>
            <a:r>
              <a:rPr lang="en-PH" dirty="0"/>
              <a:t>Mental Models</a:t>
            </a:r>
          </a:p>
        </p:txBody>
      </p:sp>
      <p:sp>
        <p:nvSpPr>
          <p:cNvPr id="3" name="Content Placeholder 2">
            <a:extLst>
              <a:ext uri="{FF2B5EF4-FFF2-40B4-BE49-F238E27FC236}">
                <a16:creationId xmlns:a16="http://schemas.microsoft.com/office/drawing/2014/main" id="{90C16D50-9210-1B9A-DCF3-51C5B49A0450}"/>
              </a:ext>
            </a:extLst>
          </p:cNvPr>
          <p:cNvSpPr>
            <a:spLocks noGrp="1"/>
          </p:cNvSpPr>
          <p:nvPr>
            <p:ph idx="1"/>
          </p:nvPr>
        </p:nvSpPr>
        <p:spPr>
          <a:xfrm>
            <a:off x="1038922" y="1854529"/>
            <a:ext cx="10515600" cy="4351338"/>
          </a:xfrm>
        </p:spPr>
        <p:txBody>
          <a:bodyPr/>
          <a:lstStyle/>
          <a:p>
            <a:pPr marL="0" indent="0">
              <a:buNone/>
            </a:pPr>
            <a:r>
              <a:rPr lang="en-US" dirty="0"/>
              <a:t>A mental model = how users think a system works</a:t>
            </a:r>
          </a:p>
          <a:p>
            <a:pPr marL="0" indent="0">
              <a:buNone/>
            </a:pPr>
            <a:endParaRPr lang="en-US" dirty="0"/>
          </a:p>
          <a:p>
            <a:endParaRPr lang="en-US" dirty="0"/>
          </a:p>
          <a:p>
            <a:endParaRPr lang="en-US" dirty="0"/>
          </a:p>
          <a:p>
            <a:endParaRPr lang="en-US" dirty="0"/>
          </a:p>
          <a:p>
            <a:endParaRPr lang="en-US" dirty="0"/>
          </a:p>
          <a:p>
            <a:pPr marL="0" indent="0">
              <a:buNone/>
            </a:pPr>
            <a:endParaRPr lang="en-PH" dirty="0"/>
          </a:p>
        </p:txBody>
      </p:sp>
      <p:pic>
        <p:nvPicPr>
          <p:cNvPr id="4098" name="Picture 2" descr="Floppy disk - Free computer icons">
            <a:extLst>
              <a:ext uri="{FF2B5EF4-FFF2-40B4-BE49-F238E27FC236}">
                <a16:creationId xmlns:a16="http://schemas.microsoft.com/office/drawing/2014/main" id="{28B77471-AD92-DDBF-9419-3EE6A1AF66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3300" y="3325348"/>
            <a:ext cx="1552575" cy="14097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EC55F45-C136-B133-7A0A-6BACCDCE04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1439" y="3202580"/>
            <a:ext cx="1626941" cy="1655236"/>
          </a:xfrm>
          <a:prstGeom prst="rect">
            <a:avLst/>
          </a:prstGeom>
        </p:spPr>
      </p:pic>
      <p:sp>
        <p:nvSpPr>
          <p:cNvPr id="8" name="Content Placeholder 2">
            <a:extLst>
              <a:ext uri="{FF2B5EF4-FFF2-40B4-BE49-F238E27FC236}">
                <a16:creationId xmlns:a16="http://schemas.microsoft.com/office/drawing/2014/main" id="{7B180D3A-9FBB-DF9F-2C45-51626841B065}"/>
              </a:ext>
            </a:extLst>
          </p:cNvPr>
          <p:cNvSpPr txBox="1">
            <a:spLocks/>
          </p:cNvSpPr>
          <p:nvPr/>
        </p:nvSpPr>
        <p:spPr>
          <a:xfrm>
            <a:off x="78059" y="5197590"/>
            <a:ext cx="12192000" cy="1660410"/>
          </a:xfrm>
          <a:prstGeom prst="rect">
            <a:avLst/>
          </a:prstGeom>
          <a:solidFill>
            <a:schemeClr val="bg1">
              <a:lumMod val="6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600" b="1" u="sng" dirty="0"/>
          </a:p>
          <a:p>
            <a:pPr marL="0" indent="0" algn="ctr">
              <a:buFont typeface="Arial" panose="020B0604020202020204" pitchFamily="34" charset="0"/>
              <a:buNone/>
            </a:pPr>
            <a:r>
              <a:rPr lang="en-US" sz="3200" b="1" dirty="0"/>
              <a:t>Good design matches user mental models</a:t>
            </a:r>
            <a:br>
              <a:rPr lang="en-US" sz="3200" b="1" dirty="0"/>
            </a:br>
            <a:r>
              <a:rPr lang="en-US" sz="3200" b="1" dirty="0"/>
              <a:t>Bad design forces users to learn new logic</a:t>
            </a:r>
          </a:p>
        </p:txBody>
      </p:sp>
    </p:spTree>
    <p:extLst>
      <p:ext uri="{BB962C8B-B14F-4D97-AF65-F5344CB8AC3E}">
        <p14:creationId xmlns:p14="http://schemas.microsoft.com/office/powerpoint/2010/main" val="3921091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AA964-E2B0-BF89-46C2-BE6AE028787E}"/>
              </a:ext>
            </a:extLst>
          </p:cNvPr>
          <p:cNvSpPr>
            <a:spLocks noGrp="1"/>
          </p:cNvSpPr>
          <p:nvPr>
            <p:ph type="title"/>
          </p:nvPr>
        </p:nvSpPr>
        <p:spPr/>
        <p:txBody>
          <a:bodyPr/>
          <a:lstStyle/>
          <a:p>
            <a:r>
              <a:rPr lang="en-PH" dirty="0"/>
              <a:t>Human Error</a:t>
            </a:r>
          </a:p>
        </p:txBody>
      </p:sp>
      <p:graphicFrame>
        <p:nvGraphicFramePr>
          <p:cNvPr id="4" name="Content Placeholder 3">
            <a:extLst>
              <a:ext uri="{FF2B5EF4-FFF2-40B4-BE49-F238E27FC236}">
                <a16:creationId xmlns:a16="http://schemas.microsoft.com/office/drawing/2014/main" id="{24ED6D8E-5EE4-D838-0F42-2F706EB54D0B}"/>
              </a:ext>
            </a:extLst>
          </p:cNvPr>
          <p:cNvGraphicFramePr>
            <a:graphicFrameLocks noGrp="1"/>
          </p:cNvGraphicFramePr>
          <p:nvPr>
            <p:ph idx="1"/>
            <p:extLst>
              <p:ext uri="{D42A27DB-BD31-4B8C-83A1-F6EECF244321}">
                <p14:modId xmlns:p14="http://schemas.microsoft.com/office/powerpoint/2010/main" val="3532771144"/>
              </p:ext>
            </p:extLst>
          </p:nvPr>
        </p:nvGraphicFramePr>
        <p:xfrm>
          <a:off x="838200" y="1874123"/>
          <a:ext cx="10515600" cy="1966754"/>
        </p:xfrm>
        <a:graphic>
          <a:graphicData uri="http://schemas.openxmlformats.org/drawingml/2006/table">
            <a:tbl>
              <a:tblPr/>
              <a:tblGrid>
                <a:gridCol w="1949605">
                  <a:extLst>
                    <a:ext uri="{9D8B030D-6E8A-4147-A177-3AD203B41FA5}">
                      <a16:colId xmlns:a16="http://schemas.microsoft.com/office/drawing/2014/main" val="3582662489"/>
                    </a:ext>
                  </a:extLst>
                </a:gridCol>
                <a:gridCol w="2943922">
                  <a:extLst>
                    <a:ext uri="{9D8B030D-6E8A-4147-A177-3AD203B41FA5}">
                      <a16:colId xmlns:a16="http://schemas.microsoft.com/office/drawing/2014/main" val="2408124333"/>
                    </a:ext>
                  </a:extLst>
                </a:gridCol>
                <a:gridCol w="2993173">
                  <a:extLst>
                    <a:ext uri="{9D8B030D-6E8A-4147-A177-3AD203B41FA5}">
                      <a16:colId xmlns:a16="http://schemas.microsoft.com/office/drawing/2014/main" val="4109266408"/>
                    </a:ext>
                  </a:extLst>
                </a:gridCol>
                <a:gridCol w="2628900">
                  <a:extLst>
                    <a:ext uri="{9D8B030D-6E8A-4147-A177-3AD203B41FA5}">
                      <a16:colId xmlns:a16="http://schemas.microsoft.com/office/drawing/2014/main" val="1631360772"/>
                    </a:ext>
                  </a:extLst>
                </a:gridCol>
              </a:tblGrid>
              <a:tr h="437056">
                <a:tc>
                  <a:txBody>
                    <a:bodyPr/>
                    <a:lstStyle/>
                    <a:p>
                      <a:pPr>
                        <a:buNone/>
                      </a:pPr>
                      <a:r>
                        <a:rPr lang="en-PH" b="1" dirty="0">
                          <a:latin typeface="Century Gothic" panose="020B0502020202020204" pitchFamily="34" charset="0"/>
                        </a:rPr>
                        <a:t>Type</a:t>
                      </a:r>
                    </a:p>
                  </a:txBody>
                  <a:tcPr anchor="ctr">
                    <a:lnL>
                      <a:noFill/>
                    </a:lnL>
                    <a:lnR>
                      <a:noFill/>
                    </a:lnR>
                    <a:lnT>
                      <a:noFill/>
                    </a:lnT>
                    <a:lnB>
                      <a:noFill/>
                    </a:lnB>
                    <a:solidFill>
                      <a:schemeClr val="bg1">
                        <a:lumMod val="85000"/>
                      </a:schemeClr>
                    </a:solidFill>
                  </a:tcPr>
                </a:tc>
                <a:tc>
                  <a:txBody>
                    <a:bodyPr/>
                    <a:lstStyle/>
                    <a:p>
                      <a:pPr>
                        <a:buNone/>
                      </a:pPr>
                      <a:r>
                        <a:rPr lang="en-PH" b="1" dirty="0">
                          <a:latin typeface="Century Gothic" panose="020B0502020202020204" pitchFamily="34" charset="0"/>
                        </a:rPr>
                        <a:t>Description</a:t>
                      </a:r>
                    </a:p>
                  </a:txBody>
                  <a:tcPr anchor="ctr">
                    <a:lnL>
                      <a:noFill/>
                    </a:lnL>
                    <a:lnR>
                      <a:noFill/>
                    </a:lnR>
                    <a:lnT>
                      <a:noFill/>
                    </a:lnT>
                    <a:lnB>
                      <a:noFill/>
                    </a:lnB>
                    <a:solidFill>
                      <a:schemeClr val="bg1">
                        <a:lumMod val="85000"/>
                      </a:schemeClr>
                    </a:solidFill>
                  </a:tcPr>
                </a:tc>
                <a:tc>
                  <a:txBody>
                    <a:bodyPr/>
                    <a:lstStyle/>
                    <a:p>
                      <a:pPr>
                        <a:buNone/>
                      </a:pPr>
                      <a:r>
                        <a:rPr lang="en-PH" b="1" dirty="0">
                          <a:latin typeface="Century Gothic" panose="020B0502020202020204" pitchFamily="34" charset="0"/>
                        </a:rPr>
                        <a:t>Example</a:t>
                      </a:r>
                    </a:p>
                  </a:txBody>
                  <a:tcPr anchor="ctr">
                    <a:lnL>
                      <a:noFill/>
                    </a:lnL>
                    <a:lnR>
                      <a:noFill/>
                    </a:lnR>
                    <a:lnT>
                      <a:noFill/>
                    </a:lnT>
                    <a:lnB>
                      <a:noFill/>
                    </a:lnB>
                    <a:solidFill>
                      <a:schemeClr val="bg1">
                        <a:lumMod val="85000"/>
                      </a:schemeClr>
                    </a:solidFill>
                  </a:tcPr>
                </a:tc>
                <a:tc>
                  <a:txBody>
                    <a:bodyPr/>
                    <a:lstStyle/>
                    <a:p>
                      <a:pPr>
                        <a:buNone/>
                      </a:pPr>
                      <a:r>
                        <a:rPr lang="en-PH" b="1" dirty="0">
                          <a:latin typeface="Century Gothic" panose="020B0502020202020204" pitchFamily="34" charset="0"/>
                        </a:rPr>
                        <a:t>Design Solution</a:t>
                      </a:r>
                    </a:p>
                  </a:txBody>
                  <a:tcPr anchor="ctr">
                    <a:lnL>
                      <a:noFill/>
                    </a:lnL>
                    <a:lnR>
                      <a:noFill/>
                    </a:lnR>
                    <a:lnT>
                      <a:noFill/>
                    </a:lnT>
                    <a:lnB>
                      <a:noFill/>
                    </a:lnB>
                    <a:solidFill>
                      <a:schemeClr val="bg1">
                        <a:lumMod val="85000"/>
                      </a:schemeClr>
                    </a:solidFill>
                  </a:tcPr>
                </a:tc>
                <a:extLst>
                  <a:ext uri="{0D108BD9-81ED-4DB2-BD59-A6C34878D82A}">
                    <a16:rowId xmlns:a16="http://schemas.microsoft.com/office/drawing/2014/main" val="3556608987"/>
                  </a:ext>
                </a:extLst>
              </a:tr>
              <a:tr h="764849">
                <a:tc>
                  <a:txBody>
                    <a:bodyPr/>
                    <a:lstStyle/>
                    <a:p>
                      <a:pPr>
                        <a:buNone/>
                      </a:pPr>
                      <a:r>
                        <a:rPr lang="en-PH" dirty="0">
                          <a:latin typeface="Century Gothic" panose="020B0502020202020204" pitchFamily="34" charset="0"/>
                        </a:rPr>
                        <a:t>Slips</a:t>
                      </a:r>
                    </a:p>
                  </a:txBody>
                  <a:tcPr anchor="ctr">
                    <a:lnL>
                      <a:noFill/>
                    </a:lnL>
                    <a:lnR>
                      <a:noFill/>
                    </a:lnR>
                    <a:lnT>
                      <a:noFill/>
                    </a:lnT>
                    <a:lnB>
                      <a:noFill/>
                    </a:lnB>
                    <a:noFill/>
                  </a:tcPr>
                </a:tc>
                <a:tc>
                  <a:txBody>
                    <a:bodyPr/>
                    <a:lstStyle/>
                    <a:p>
                      <a:pPr>
                        <a:buNone/>
                      </a:pPr>
                      <a:r>
                        <a:rPr lang="en-PH" dirty="0">
                          <a:latin typeface="Century Gothic" panose="020B0502020202020204" pitchFamily="34" charset="0"/>
                        </a:rPr>
                        <a:t>Correct intention, wrong action</a:t>
                      </a:r>
                    </a:p>
                  </a:txBody>
                  <a:tcPr anchor="ctr">
                    <a:lnL>
                      <a:noFill/>
                    </a:lnL>
                    <a:lnR>
                      <a:noFill/>
                    </a:lnR>
                    <a:lnT>
                      <a:noFill/>
                    </a:lnT>
                    <a:lnB>
                      <a:noFill/>
                    </a:lnB>
                    <a:noFill/>
                  </a:tcPr>
                </a:tc>
                <a:tc>
                  <a:txBody>
                    <a:bodyPr/>
                    <a:lstStyle/>
                    <a:p>
                      <a:pPr>
                        <a:buNone/>
                      </a:pPr>
                      <a:r>
                        <a:rPr lang="en-US" dirty="0">
                          <a:latin typeface="Century Gothic" panose="020B0502020202020204" pitchFamily="34" charset="0"/>
                        </a:rPr>
                        <a:t>Clicking "Delete" instead of "Save"</a:t>
                      </a:r>
                    </a:p>
                  </a:txBody>
                  <a:tcPr anchor="ctr">
                    <a:lnL>
                      <a:noFill/>
                    </a:lnL>
                    <a:lnR>
                      <a:noFill/>
                    </a:lnR>
                    <a:lnT>
                      <a:noFill/>
                    </a:lnT>
                    <a:lnB>
                      <a:noFill/>
                    </a:lnB>
                    <a:noFill/>
                  </a:tcPr>
                </a:tc>
                <a:tc>
                  <a:txBody>
                    <a:bodyPr/>
                    <a:lstStyle/>
                    <a:p>
                      <a:pPr>
                        <a:buNone/>
                      </a:pPr>
                      <a:r>
                        <a:rPr lang="en-PH">
                          <a:latin typeface="Century Gothic" panose="020B0502020202020204" pitchFamily="34" charset="0"/>
                        </a:rPr>
                        <a:t>Undo, confirmation, space risky buttons apart</a:t>
                      </a:r>
                    </a:p>
                  </a:txBody>
                  <a:tcPr anchor="ctr">
                    <a:lnL>
                      <a:noFill/>
                    </a:lnL>
                    <a:lnR>
                      <a:noFill/>
                    </a:lnR>
                    <a:lnT>
                      <a:noFill/>
                    </a:lnT>
                    <a:lnB>
                      <a:noFill/>
                    </a:lnB>
                    <a:noFill/>
                  </a:tcPr>
                </a:tc>
                <a:extLst>
                  <a:ext uri="{0D108BD9-81ED-4DB2-BD59-A6C34878D82A}">
                    <a16:rowId xmlns:a16="http://schemas.microsoft.com/office/drawing/2014/main" val="2429657946"/>
                  </a:ext>
                </a:extLst>
              </a:tr>
              <a:tr h="764849">
                <a:tc>
                  <a:txBody>
                    <a:bodyPr/>
                    <a:lstStyle/>
                    <a:p>
                      <a:pPr>
                        <a:buNone/>
                      </a:pPr>
                      <a:r>
                        <a:rPr lang="en-PH">
                          <a:latin typeface="Century Gothic" panose="020B0502020202020204" pitchFamily="34" charset="0"/>
                        </a:rPr>
                        <a:t>Mistakes</a:t>
                      </a:r>
                    </a:p>
                  </a:txBody>
                  <a:tcPr anchor="ctr">
                    <a:lnL>
                      <a:noFill/>
                    </a:lnL>
                    <a:lnR>
                      <a:noFill/>
                    </a:lnR>
                    <a:lnT>
                      <a:noFill/>
                    </a:lnT>
                    <a:lnB>
                      <a:noFill/>
                    </a:lnB>
                    <a:noFill/>
                  </a:tcPr>
                </a:tc>
                <a:tc>
                  <a:txBody>
                    <a:bodyPr/>
                    <a:lstStyle/>
                    <a:p>
                      <a:pPr>
                        <a:buNone/>
                      </a:pPr>
                      <a:r>
                        <a:rPr lang="en-PH" dirty="0">
                          <a:latin typeface="Century Gothic" panose="020B0502020202020204" pitchFamily="34" charset="0"/>
                        </a:rPr>
                        <a:t>Wrong understanding</a:t>
                      </a:r>
                    </a:p>
                  </a:txBody>
                  <a:tcPr anchor="ctr">
                    <a:lnL>
                      <a:noFill/>
                    </a:lnL>
                    <a:lnR>
                      <a:noFill/>
                    </a:lnR>
                    <a:lnT>
                      <a:noFill/>
                    </a:lnT>
                    <a:lnB>
                      <a:noFill/>
                    </a:lnB>
                    <a:noFill/>
                  </a:tcPr>
                </a:tc>
                <a:tc>
                  <a:txBody>
                    <a:bodyPr/>
                    <a:lstStyle/>
                    <a:p>
                      <a:pPr>
                        <a:buNone/>
                      </a:pPr>
                      <a:r>
                        <a:rPr lang="en-US" dirty="0">
                          <a:latin typeface="Century Gothic" panose="020B0502020202020204" pitchFamily="34" charset="0"/>
                        </a:rPr>
                        <a:t>Formatting the wrong drive, thinking it's the USB</a:t>
                      </a:r>
                    </a:p>
                  </a:txBody>
                  <a:tcPr anchor="ctr">
                    <a:lnL>
                      <a:noFill/>
                    </a:lnL>
                    <a:lnR>
                      <a:noFill/>
                    </a:lnR>
                    <a:lnT>
                      <a:noFill/>
                    </a:lnT>
                    <a:lnB>
                      <a:noFill/>
                    </a:lnB>
                    <a:noFill/>
                  </a:tcPr>
                </a:tc>
                <a:tc>
                  <a:txBody>
                    <a:bodyPr/>
                    <a:lstStyle/>
                    <a:p>
                      <a:pPr>
                        <a:buNone/>
                      </a:pPr>
                      <a:r>
                        <a:rPr lang="en-PH" dirty="0">
                          <a:latin typeface="Century Gothic" panose="020B0502020202020204" pitchFamily="34" charset="0"/>
                        </a:rPr>
                        <a:t>Clear labeling, warnings</a:t>
                      </a:r>
                    </a:p>
                  </a:txBody>
                  <a:tcPr anchor="ctr">
                    <a:lnL>
                      <a:noFill/>
                    </a:lnL>
                    <a:lnR>
                      <a:noFill/>
                    </a:lnR>
                    <a:lnT>
                      <a:noFill/>
                    </a:lnT>
                    <a:lnB>
                      <a:noFill/>
                    </a:lnB>
                    <a:noFill/>
                  </a:tcPr>
                </a:tc>
                <a:extLst>
                  <a:ext uri="{0D108BD9-81ED-4DB2-BD59-A6C34878D82A}">
                    <a16:rowId xmlns:a16="http://schemas.microsoft.com/office/drawing/2014/main" val="47067755"/>
                  </a:ext>
                </a:extLst>
              </a:tr>
            </a:tbl>
          </a:graphicData>
        </a:graphic>
      </p:graphicFrame>
    </p:spTree>
    <p:extLst>
      <p:ext uri="{BB962C8B-B14F-4D97-AF65-F5344CB8AC3E}">
        <p14:creationId xmlns:p14="http://schemas.microsoft.com/office/powerpoint/2010/main" val="666907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Laws of UX | Jon Yablonski">
            <a:extLst>
              <a:ext uri="{FF2B5EF4-FFF2-40B4-BE49-F238E27FC236}">
                <a16:creationId xmlns:a16="http://schemas.microsoft.com/office/drawing/2014/main" id="{AB4DF2FA-72E2-30FB-3CA7-1AC5B7B1E9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0" y="1381126"/>
            <a:ext cx="12192000" cy="1920874"/>
          </a:xfrm>
          <a:solidFill>
            <a:srgbClr val="002060">
              <a:alpha val="66000"/>
            </a:srgbClr>
          </a:solidFill>
        </p:spPr>
        <p:txBody>
          <a:bodyPr vert="horz" lIns="91440" tIns="45720" rIns="91440" bIns="45720" rtlCol="0" anchor="ctr">
            <a:normAutofit/>
          </a:bodyPr>
          <a:lstStyle/>
          <a:p>
            <a:pPr defTabSz="914400"/>
            <a:r>
              <a:rPr lang="en-US" sz="4800" kern="1200" dirty="0">
                <a:solidFill>
                  <a:schemeClr val="bg1"/>
                </a:solidFill>
              </a:rPr>
              <a:t>Laws of UX</a:t>
            </a:r>
            <a:br>
              <a:rPr lang="en-US" sz="4800" dirty="0">
                <a:solidFill>
                  <a:schemeClr val="bg1"/>
                </a:solidFill>
              </a:rPr>
            </a:br>
            <a:r>
              <a:rPr lang="en-US" sz="4800" kern="1200" dirty="0">
                <a:solidFill>
                  <a:schemeClr val="bg1"/>
                </a:solidFill>
              </a:rPr>
              <a:t>Designing for Human Behavior</a:t>
            </a:r>
          </a:p>
        </p:txBody>
      </p:sp>
      <p:sp>
        <p:nvSpPr>
          <p:cNvPr id="3" name="Content Placeholder 2"/>
          <p:cNvSpPr>
            <a:spLocks noGrp="1"/>
          </p:cNvSpPr>
          <p:nvPr>
            <p:ph type="subTitle" idx="1"/>
          </p:nvPr>
        </p:nvSpPr>
        <p:spPr>
          <a:xfrm>
            <a:off x="0" y="5387977"/>
            <a:ext cx="12192000" cy="685800"/>
          </a:xfrm>
          <a:solidFill>
            <a:srgbClr val="002060">
              <a:alpha val="60000"/>
            </a:srgbClr>
          </a:solidFill>
        </p:spPr>
        <p:txBody>
          <a:bodyPr vert="horz" lIns="91440" tIns="45720" rIns="91440" bIns="45720" rtlCol="0">
            <a:normAutofit/>
          </a:bodyPr>
          <a:lstStyle/>
          <a:p>
            <a:pPr marL="0" indent="0" defTabSz="914400">
              <a:spcBef>
                <a:spcPts val="1000"/>
              </a:spcBef>
              <a:buNone/>
            </a:pPr>
            <a:r>
              <a:rPr lang="en-US" b="1" kern="1200" dirty="0">
                <a:solidFill>
                  <a:schemeClr val="bg1"/>
                </a:solidFill>
              </a:rPr>
              <a:t>Understanding Cognitive Principles Behind Usable Interfaces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5087-3472-7991-94AF-80167F43BD10}"/>
              </a:ext>
            </a:extLst>
          </p:cNvPr>
          <p:cNvSpPr>
            <a:spLocks noGrp="1"/>
          </p:cNvSpPr>
          <p:nvPr>
            <p:ph type="title"/>
          </p:nvPr>
        </p:nvSpPr>
        <p:spPr/>
        <p:txBody>
          <a:bodyPr/>
          <a:lstStyle/>
          <a:p>
            <a:r>
              <a:rPr lang="en-PH" dirty="0"/>
              <a:t>Fitts’s Law (Movement Time)</a:t>
            </a:r>
          </a:p>
        </p:txBody>
      </p:sp>
      <p:pic>
        <p:nvPicPr>
          <p:cNvPr id="4" name="Picture 3">
            <a:extLst>
              <a:ext uri="{FF2B5EF4-FFF2-40B4-BE49-F238E27FC236}">
                <a16:creationId xmlns:a16="http://schemas.microsoft.com/office/drawing/2014/main" id="{E7EEB170-2696-522D-EA36-1FA56B6F7D14}"/>
              </a:ext>
            </a:extLst>
          </p:cNvPr>
          <p:cNvPicPr>
            <a:picLocks noChangeAspect="1"/>
          </p:cNvPicPr>
          <p:nvPr/>
        </p:nvPicPr>
        <p:blipFill>
          <a:blip r:embed="rId3"/>
          <a:stretch>
            <a:fillRect/>
          </a:stretch>
        </p:blipFill>
        <p:spPr>
          <a:xfrm>
            <a:off x="2003039" y="2789741"/>
            <a:ext cx="2476500" cy="2476500"/>
          </a:xfrm>
          <a:prstGeom prst="rect">
            <a:avLst/>
          </a:prstGeom>
        </p:spPr>
      </p:pic>
      <p:pic>
        <p:nvPicPr>
          <p:cNvPr id="6146" name="Picture 2" descr="Fittss Law Effort">
            <a:extLst>
              <a:ext uri="{FF2B5EF4-FFF2-40B4-BE49-F238E27FC236}">
                <a16:creationId xmlns:a16="http://schemas.microsoft.com/office/drawing/2014/main" id="{14A3E47B-4AE6-6373-0F2C-7684A3D413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7968" y="1651503"/>
            <a:ext cx="2676525" cy="47529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3C914B2-3132-74F1-1FF9-842CE38575A0}"/>
              </a:ext>
            </a:extLst>
          </p:cNvPr>
          <p:cNvSpPr txBox="1"/>
          <p:nvPr/>
        </p:nvSpPr>
        <p:spPr>
          <a:xfrm>
            <a:off x="1042869" y="1690688"/>
            <a:ext cx="5313326" cy="369332"/>
          </a:xfrm>
          <a:prstGeom prst="rect">
            <a:avLst/>
          </a:prstGeom>
          <a:noFill/>
        </p:spPr>
        <p:txBody>
          <a:bodyPr wrap="square">
            <a:spAutoFit/>
          </a:bodyPr>
          <a:lstStyle/>
          <a:p>
            <a:pPr marL="0" indent="0">
              <a:buNone/>
            </a:pPr>
            <a:r>
              <a:rPr lang="en-US" dirty="0"/>
              <a:t>Time to click = depends on </a:t>
            </a:r>
            <a:r>
              <a:rPr lang="en-US" b="1" dirty="0"/>
              <a:t>distance + size of target</a:t>
            </a:r>
          </a:p>
        </p:txBody>
      </p:sp>
    </p:spTree>
    <p:extLst>
      <p:ext uri="{BB962C8B-B14F-4D97-AF65-F5344CB8AC3E}">
        <p14:creationId xmlns:p14="http://schemas.microsoft.com/office/powerpoint/2010/main" val="500041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029AE-74F0-4254-1F6E-F0823D754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D785A-0A50-6A38-832F-C8B99C4224CC}"/>
              </a:ext>
            </a:extLst>
          </p:cNvPr>
          <p:cNvSpPr>
            <a:spLocks noGrp="1"/>
          </p:cNvSpPr>
          <p:nvPr>
            <p:ph type="title"/>
          </p:nvPr>
        </p:nvSpPr>
        <p:spPr/>
        <p:txBody>
          <a:bodyPr anchor="ctr">
            <a:normAutofit/>
          </a:bodyPr>
          <a:lstStyle/>
          <a:p>
            <a:r>
              <a:rPr dirty="0"/>
              <a:t>Laws of UX</a:t>
            </a:r>
          </a:p>
        </p:txBody>
      </p:sp>
      <p:sp>
        <p:nvSpPr>
          <p:cNvPr id="4" name="AutoShape 2">
            <a:extLst>
              <a:ext uri="{FF2B5EF4-FFF2-40B4-BE49-F238E27FC236}">
                <a16:creationId xmlns:a16="http://schemas.microsoft.com/office/drawing/2014/main" id="{54F2663D-5324-880F-DDA4-2A8246473A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11" name="Picture 10" descr="A cartoon character with a question mark&#10;&#10;AI-generated content may be incorrect.">
            <a:extLst>
              <a:ext uri="{FF2B5EF4-FFF2-40B4-BE49-F238E27FC236}">
                <a16:creationId xmlns:a16="http://schemas.microsoft.com/office/drawing/2014/main" id="{FB2D3157-F284-D18A-8FD3-CAB0D9E72149}"/>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540639" y="1581012"/>
            <a:ext cx="5799501" cy="5799501"/>
          </a:xfrm>
          <a:prstGeom prst="rect">
            <a:avLst/>
          </a:prstGeom>
        </p:spPr>
      </p:pic>
      <p:sp>
        <p:nvSpPr>
          <p:cNvPr id="13" name="TextBox 12">
            <a:extLst>
              <a:ext uri="{FF2B5EF4-FFF2-40B4-BE49-F238E27FC236}">
                <a16:creationId xmlns:a16="http://schemas.microsoft.com/office/drawing/2014/main" id="{26D89559-E982-74A2-6201-7B5EDE3515C8}"/>
              </a:ext>
            </a:extLst>
          </p:cNvPr>
          <p:cNvSpPr txBox="1"/>
          <p:nvPr/>
        </p:nvSpPr>
        <p:spPr>
          <a:xfrm>
            <a:off x="3509351" y="6893628"/>
            <a:ext cx="5638800" cy="230832"/>
          </a:xfrm>
          <a:prstGeom prst="rect">
            <a:avLst/>
          </a:prstGeom>
          <a:noFill/>
        </p:spPr>
        <p:txBody>
          <a:bodyPr wrap="square" rtlCol="0">
            <a:spAutoFit/>
          </a:bodyPr>
          <a:lstStyle/>
          <a:p>
            <a:r>
              <a:rPr lang="en-PH" sz="900" dirty="0">
                <a:hlinkClick r:id="rId4" tooltip="https://freepngimg.com/png/88452-standing-human-business-question-mark-behavior"/>
              </a:rPr>
              <a:t>This Photo</a:t>
            </a:r>
            <a:r>
              <a:rPr lang="en-PH" sz="900" dirty="0"/>
              <a:t> by Unknown Author is licensed under </a:t>
            </a:r>
            <a:r>
              <a:rPr lang="en-PH" sz="900" dirty="0">
                <a:hlinkClick r:id="rId5" tooltip="https://creativecommons.org/licenses/by-nc/3.0/"/>
              </a:rPr>
              <a:t>CC BY-NC</a:t>
            </a:r>
            <a:endParaRPr lang="en-PH" sz="900" dirty="0"/>
          </a:p>
        </p:txBody>
      </p:sp>
      <p:sp>
        <p:nvSpPr>
          <p:cNvPr id="5" name="TextBox 4">
            <a:extLst>
              <a:ext uri="{FF2B5EF4-FFF2-40B4-BE49-F238E27FC236}">
                <a16:creationId xmlns:a16="http://schemas.microsoft.com/office/drawing/2014/main" id="{FAE804AC-B48A-46B3-9E2B-E3BF0F53A8C1}"/>
              </a:ext>
            </a:extLst>
          </p:cNvPr>
          <p:cNvSpPr txBox="1"/>
          <p:nvPr/>
        </p:nvSpPr>
        <p:spPr>
          <a:xfrm>
            <a:off x="460361" y="1878332"/>
            <a:ext cx="7080277" cy="3970318"/>
          </a:xfrm>
          <a:prstGeom prst="rect">
            <a:avLst/>
          </a:prstGeom>
          <a:noFill/>
        </p:spPr>
        <p:txBody>
          <a:bodyPr wrap="square">
            <a:spAutoFit/>
          </a:bodyPr>
          <a:lstStyle/>
          <a:p>
            <a:r>
              <a:rPr lang="en-US" sz="3600" b="1" dirty="0">
                <a:solidFill>
                  <a:srgbClr val="002060"/>
                </a:solidFill>
                <a:effectLst/>
                <a:latin typeface="Libre Baskerville" panose="02000000000000000000" pitchFamily="2" charset="0"/>
              </a:rPr>
              <a:t>The "Laws of UX" are a collection of psychological principles, behavioral science, data science, and HCI that explain how users interact with digital interfaces</a:t>
            </a:r>
            <a:endParaRPr lang="en-PH" sz="3600" dirty="0">
              <a:solidFill>
                <a:srgbClr val="002060"/>
              </a:solidFill>
              <a:latin typeface="Libre Baskerville" panose="02000000000000000000" pitchFamily="2" charset="0"/>
            </a:endParaRPr>
          </a:p>
        </p:txBody>
      </p:sp>
    </p:spTree>
    <p:extLst>
      <p:ext uri="{BB962C8B-B14F-4D97-AF65-F5344CB8AC3E}">
        <p14:creationId xmlns:p14="http://schemas.microsoft.com/office/powerpoint/2010/main" val="1101851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8CB035-1435-4FD5-2C55-DF528C3218A3}"/>
              </a:ext>
            </a:extLst>
          </p:cNvPr>
          <p:cNvPicPr>
            <a:picLocks noChangeAspect="1"/>
          </p:cNvPicPr>
          <p:nvPr/>
        </p:nvPicPr>
        <p:blipFill>
          <a:blip r:embed="rId2"/>
          <a:stretch>
            <a:fillRect/>
          </a:stretch>
        </p:blipFill>
        <p:spPr>
          <a:xfrm>
            <a:off x="2095153" y="64478"/>
            <a:ext cx="8001693" cy="6729043"/>
          </a:xfrm>
          <a:prstGeom prst="rect">
            <a:avLst/>
          </a:prstGeom>
        </p:spPr>
      </p:pic>
    </p:spTree>
    <p:extLst>
      <p:ext uri="{BB962C8B-B14F-4D97-AF65-F5344CB8AC3E}">
        <p14:creationId xmlns:p14="http://schemas.microsoft.com/office/powerpoint/2010/main" val="1569545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0FD68C-5E52-527C-0334-D507551D0951}"/>
              </a:ext>
            </a:extLst>
          </p:cNvPr>
          <p:cNvPicPr>
            <a:picLocks noChangeAspect="1"/>
          </p:cNvPicPr>
          <p:nvPr/>
        </p:nvPicPr>
        <p:blipFill>
          <a:blip r:embed="rId2"/>
          <a:stretch>
            <a:fillRect/>
          </a:stretch>
        </p:blipFill>
        <p:spPr>
          <a:xfrm>
            <a:off x="2102774" y="87340"/>
            <a:ext cx="7986452" cy="6683319"/>
          </a:xfrm>
          <a:prstGeom prst="rect">
            <a:avLst/>
          </a:prstGeom>
        </p:spPr>
      </p:pic>
    </p:spTree>
    <p:extLst>
      <p:ext uri="{BB962C8B-B14F-4D97-AF65-F5344CB8AC3E}">
        <p14:creationId xmlns:p14="http://schemas.microsoft.com/office/powerpoint/2010/main" val="73019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02789B-87C2-FE91-9D4E-7E19ABD75E73}"/>
              </a:ext>
            </a:extLst>
          </p:cNvPr>
          <p:cNvPicPr>
            <a:picLocks noChangeAspect="1"/>
          </p:cNvPicPr>
          <p:nvPr/>
        </p:nvPicPr>
        <p:blipFill>
          <a:blip r:embed="rId2"/>
          <a:stretch>
            <a:fillRect/>
          </a:stretch>
        </p:blipFill>
        <p:spPr>
          <a:xfrm>
            <a:off x="2102774" y="83530"/>
            <a:ext cx="7986452" cy="6690940"/>
          </a:xfrm>
          <a:prstGeom prst="rect">
            <a:avLst/>
          </a:prstGeom>
        </p:spPr>
      </p:pic>
    </p:spTree>
    <p:extLst>
      <p:ext uri="{BB962C8B-B14F-4D97-AF65-F5344CB8AC3E}">
        <p14:creationId xmlns:p14="http://schemas.microsoft.com/office/powerpoint/2010/main" val="2303025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5480BC-8B59-23E3-3E60-AFF0FA474F38}"/>
              </a:ext>
            </a:extLst>
          </p:cNvPr>
          <p:cNvPicPr>
            <a:picLocks noChangeAspect="1"/>
          </p:cNvPicPr>
          <p:nvPr/>
        </p:nvPicPr>
        <p:blipFill>
          <a:blip r:embed="rId2"/>
          <a:stretch>
            <a:fillRect/>
          </a:stretch>
        </p:blipFill>
        <p:spPr>
          <a:xfrm>
            <a:off x="2091343" y="171167"/>
            <a:ext cx="8009314" cy="6515665"/>
          </a:xfrm>
          <a:prstGeom prst="rect">
            <a:avLst/>
          </a:prstGeom>
        </p:spPr>
      </p:pic>
    </p:spTree>
    <p:extLst>
      <p:ext uri="{BB962C8B-B14F-4D97-AF65-F5344CB8AC3E}">
        <p14:creationId xmlns:p14="http://schemas.microsoft.com/office/powerpoint/2010/main" val="3557973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t>Lesson Objectives</a:t>
            </a:r>
          </a:p>
        </p:txBody>
      </p:sp>
      <p:graphicFrame>
        <p:nvGraphicFramePr>
          <p:cNvPr id="5" name="Content Placeholder 2">
            <a:extLst>
              <a:ext uri="{FF2B5EF4-FFF2-40B4-BE49-F238E27FC236}">
                <a16:creationId xmlns:a16="http://schemas.microsoft.com/office/drawing/2014/main" id="{7729159D-CC7C-AD20-B707-F8FB5E2376C5}"/>
              </a:ext>
            </a:extLst>
          </p:cNvPr>
          <p:cNvGraphicFramePr>
            <a:graphicFrameLocks noGrp="1"/>
          </p:cNvGraphicFramePr>
          <p:nvPr>
            <p:ph idx="1"/>
            <p:extLst>
              <p:ext uri="{D42A27DB-BD31-4B8C-83A1-F6EECF244321}">
                <p14:modId xmlns:p14="http://schemas.microsoft.com/office/powerpoint/2010/main" val="1110784300"/>
              </p:ext>
            </p:extLst>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t>Introduction</a:t>
            </a:r>
          </a:p>
        </p:txBody>
      </p:sp>
      <p:graphicFrame>
        <p:nvGraphicFramePr>
          <p:cNvPr id="5" name="Content Placeholder 2">
            <a:extLst>
              <a:ext uri="{FF2B5EF4-FFF2-40B4-BE49-F238E27FC236}">
                <a16:creationId xmlns:a16="http://schemas.microsoft.com/office/drawing/2014/main" id="{DC447A03-3C8C-AC9F-D4FC-080466253536}"/>
              </a:ext>
            </a:extLst>
          </p:cNvPr>
          <p:cNvGraphicFramePr>
            <a:graphicFrameLocks noGrp="1"/>
          </p:cNvGraphicFramePr>
          <p:nvPr>
            <p:ph idx="1"/>
            <p:extLst>
              <p:ext uri="{D42A27DB-BD31-4B8C-83A1-F6EECF244321}">
                <p14:modId xmlns:p14="http://schemas.microsoft.com/office/powerpoint/2010/main" val="2274762353"/>
              </p:ext>
            </p:extLst>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52AF-2CE8-3C4F-1CDB-FF3728D6D98F}"/>
              </a:ext>
            </a:extLst>
          </p:cNvPr>
          <p:cNvSpPr>
            <a:spLocks noGrp="1"/>
          </p:cNvSpPr>
          <p:nvPr>
            <p:ph type="title"/>
          </p:nvPr>
        </p:nvSpPr>
        <p:spPr/>
        <p:txBody>
          <a:bodyPr>
            <a:normAutofit/>
          </a:bodyPr>
          <a:lstStyle/>
          <a:p>
            <a:r>
              <a:rPr lang="en-US" dirty="0"/>
              <a:t>The Laws of UX</a:t>
            </a:r>
            <a:endParaRPr lang="en-PH" dirty="0"/>
          </a:p>
        </p:txBody>
      </p:sp>
      <p:sp>
        <p:nvSpPr>
          <p:cNvPr id="3" name="Content Placeholder 2">
            <a:extLst>
              <a:ext uri="{FF2B5EF4-FFF2-40B4-BE49-F238E27FC236}">
                <a16:creationId xmlns:a16="http://schemas.microsoft.com/office/drawing/2014/main" id="{1524BC3C-2B52-73B8-EF66-A613DAB3129B}"/>
              </a:ext>
            </a:extLst>
          </p:cNvPr>
          <p:cNvSpPr>
            <a:spLocks noGrp="1"/>
          </p:cNvSpPr>
          <p:nvPr>
            <p:ph idx="1"/>
          </p:nvPr>
        </p:nvSpPr>
        <p:spPr/>
        <p:txBody>
          <a:bodyPr>
            <a:normAutofit fontScale="62500" lnSpcReduction="20000"/>
          </a:bodyPr>
          <a:lstStyle/>
          <a:p>
            <a:pPr marL="0"/>
            <a:r>
              <a:rPr lang="en-US" sz="3900" b="1" dirty="0">
                <a:latin typeface="Libre Baskerville" panose="02000000000000000000" pitchFamily="2" charset="0"/>
              </a:rPr>
              <a:t>Heuristics</a:t>
            </a:r>
            <a:r>
              <a:rPr lang="en-US" sz="3900" dirty="0">
                <a:latin typeface="Libre Baskerville" panose="02000000000000000000" pitchFamily="2" charset="0"/>
              </a:rPr>
              <a:t>: These laws include rules of thumb that can help with decision-making and problem-solving.</a:t>
            </a:r>
          </a:p>
          <a:p>
            <a:pPr marL="0"/>
            <a:endParaRPr lang="en-US" sz="3900" dirty="0">
              <a:latin typeface="Libre Baskerville" panose="02000000000000000000" pitchFamily="2" charset="0"/>
            </a:endParaRPr>
          </a:p>
          <a:p>
            <a:pPr marL="0"/>
            <a:r>
              <a:rPr lang="en-US" sz="3900" b="1" dirty="0">
                <a:latin typeface="Libre Baskerville" panose="02000000000000000000" pitchFamily="2" charset="0"/>
              </a:rPr>
              <a:t>Gestalt principles</a:t>
            </a:r>
            <a:r>
              <a:rPr lang="en-US" sz="3900" dirty="0">
                <a:latin typeface="Libre Baskerville" panose="02000000000000000000" pitchFamily="2" charset="0"/>
              </a:rPr>
              <a:t>: These laws deal with how the human brain organizes and perceives visual elements as unified wholes.</a:t>
            </a:r>
          </a:p>
          <a:p>
            <a:pPr marL="0"/>
            <a:endParaRPr lang="en-US" sz="3900" dirty="0">
              <a:latin typeface="Libre Baskerville" panose="02000000000000000000" pitchFamily="2" charset="0"/>
            </a:endParaRPr>
          </a:p>
          <a:p>
            <a:pPr marL="0"/>
            <a:r>
              <a:rPr lang="en-US" sz="3900" b="1" dirty="0">
                <a:latin typeface="Libre Baskerville" panose="02000000000000000000" pitchFamily="2" charset="0"/>
              </a:rPr>
              <a:t>Cognitive biases</a:t>
            </a:r>
            <a:r>
              <a:rPr lang="en-US" sz="3900" dirty="0">
                <a:latin typeface="Libre Baskerville" panose="02000000000000000000" pitchFamily="2" charset="0"/>
              </a:rPr>
              <a:t>: These rules are about the ingrained mental tendencies that cause systematic patterns of deviation from rational judgment.</a:t>
            </a:r>
          </a:p>
          <a:p>
            <a:pPr marL="0"/>
            <a:endParaRPr lang="en-US" sz="3900" dirty="0">
              <a:latin typeface="Libre Baskerville" panose="02000000000000000000" pitchFamily="2" charset="0"/>
            </a:endParaRPr>
          </a:p>
          <a:p>
            <a:pPr marL="0"/>
            <a:r>
              <a:rPr lang="en-US" sz="3900" b="1" dirty="0">
                <a:latin typeface="Libre Baskerville" panose="02000000000000000000" pitchFamily="2" charset="0"/>
              </a:rPr>
              <a:t>Principles: </a:t>
            </a:r>
            <a:r>
              <a:rPr lang="en-US" sz="3900" dirty="0">
                <a:latin typeface="Libre Baskerville" panose="02000000000000000000" pitchFamily="2" charset="0"/>
              </a:rPr>
              <a:t>These include general guidelines and best practices borrowed from disciplines like psychology and design.</a:t>
            </a:r>
          </a:p>
          <a:p>
            <a:endParaRPr lang="en-PH" dirty="0"/>
          </a:p>
        </p:txBody>
      </p:sp>
    </p:spTree>
    <p:extLst>
      <p:ext uri="{BB962C8B-B14F-4D97-AF65-F5344CB8AC3E}">
        <p14:creationId xmlns:p14="http://schemas.microsoft.com/office/powerpoint/2010/main" val="1249693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8C7D0-6CDB-CCC5-66E2-012149E51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98B3E-3B84-83B6-1519-0434C654CD87}"/>
              </a:ext>
            </a:extLst>
          </p:cNvPr>
          <p:cNvSpPr>
            <a:spLocks noGrp="1"/>
          </p:cNvSpPr>
          <p:nvPr>
            <p:ph type="title"/>
          </p:nvPr>
        </p:nvSpPr>
        <p:spPr/>
        <p:txBody>
          <a:bodyPr>
            <a:normAutofit/>
          </a:bodyPr>
          <a:lstStyle/>
          <a:p>
            <a:r>
              <a:rPr lang="en-US" dirty="0"/>
              <a:t>The Laws of UX</a:t>
            </a:r>
            <a:endParaRPr lang="en-PH" dirty="0"/>
          </a:p>
        </p:txBody>
      </p:sp>
      <p:sp>
        <p:nvSpPr>
          <p:cNvPr id="3" name="Content Placeholder 2">
            <a:extLst>
              <a:ext uri="{FF2B5EF4-FFF2-40B4-BE49-F238E27FC236}">
                <a16:creationId xmlns:a16="http://schemas.microsoft.com/office/drawing/2014/main" id="{A43E5822-CA31-AAC1-02E9-B1F7C52B37A9}"/>
              </a:ext>
            </a:extLst>
          </p:cNvPr>
          <p:cNvSpPr>
            <a:spLocks noGrp="1"/>
          </p:cNvSpPr>
          <p:nvPr>
            <p:ph idx="1"/>
          </p:nvPr>
        </p:nvSpPr>
        <p:spPr/>
        <p:txBody>
          <a:bodyPr>
            <a:normAutofit fontScale="62500" lnSpcReduction="20000"/>
          </a:bodyPr>
          <a:lstStyle/>
          <a:p>
            <a:pPr marL="0"/>
            <a:r>
              <a:rPr lang="en-US" sz="3900" b="1" dirty="0">
                <a:latin typeface="Libre Baskerville" panose="02000000000000000000" pitchFamily="2" charset="0"/>
              </a:rPr>
              <a:t>Heuristics</a:t>
            </a:r>
            <a:r>
              <a:rPr lang="en-US" sz="3900" dirty="0">
                <a:latin typeface="Libre Baskerville" panose="02000000000000000000" pitchFamily="2" charset="0"/>
              </a:rPr>
              <a:t>: Parkinson’s Law, Miller’s Law, Hick’s Law, Aesthetic-Usability Effect, Fitts’s Law, Jakob’s Law, Paradox of the Active User, Goal-Gradient Effect</a:t>
            </a:r>
          </a:p>
          <a:p>
            <a:pPr marL="0"/>
            <a:endParaRPr lang="en-US" sz="3900" dirty="0">
              <a:latin typeface="Libre Baskerville" panose="02000000000000000000" pitchFamily="2" charset="0"/>
            </a:endParaRPr>
          </a:p>
          <a:p>
            <a:pPr marL="0"/>
            <a:r>
              <a:rPr lang="en-US" sz="3900" b="1" dirty="0">
                <a:latin typeface="Libre Baskerville" panose="02000000000000000000" pitchFamily="2" charset="0"/>
              </a:rPr>
              <a:t>Gestalt principles</a:t>
            </a:r>
            <a:r>
              <a:rPr lang="en-US" sz="3900" dirty="0">
                <a:latin typeface="Libre Baskerville" panose="02000000000000000000" pitchFamily="2" charset="0"/>
              </a:rPr>
              <a:t>: Law of </a:t>
            </a:r>
            <a:r>
              <a:rPr lang="en-US" sz="3900" dirty="0" err="1">
                <a:latin typeface="Libre Baskerville" panose="02000000000000000000" pitchFamily="2" charset="0"/>
              </a:rPr>
              <a:t>Prägnanz</a:t>
            </a:r>
            <a:r>
              <a:rPr lang="en-US" sz="3900" dirty="0">
                <a:latin typeface="Libre Baskerville" panose="02000000000000000000" pitchFamily="2" charset="0"/>
              </a:rPr>
              <a:t>, Law of Common Region, Law of Proximity, Law of Similarity, Law of Uniform Connectedness</a:t>
            </a:r>
          </a:p>
          <a:p>
            <a:pPr marL="0"/>
            <a:endParaRPr lang="en-US" sz="3900" dirty="0">
              <a:latin typeface="Libre Baskerville" panose="02000000000000000000" pitchFamily="2" charset="0"/>
            </a:endParaRPr>
          </a:p>
          <a:p>
            <a:pPr marL="0"/>
            <a:r>
              <a:rPr lang="en-US" sz="3900" b="1" dirty="0">
                <a:latin typeface="Libre Baskerville" panose="02000000000000000000" pitchFamily="2" charset="0"/>
              </a:rPr>
              <a:t>Cognitive biases:</a:t>
            </a:r>
            <a:r>
              <a:rPr lang="en-US" sz="3900" dirty="0">
                <a:latin typeface="Libre Baskerville" panose="02000000000000000000" pitchFamily="2" charset="0"/>
              </a:rPr>
              <a:t> Peak-End Rule, Serial Position Effect, Von Restorff Effect, Zeigarnik Effect</a:t>
            </a:r>
          </a:p>
          <a:p>
            <a:pPr marL="0"/>
            <a:endParaRPr lang="en-US" sz="3900" dirty="0">
              <a:latin typeface="Libre Baskerville" panose="02000000000000000000" pitchFamily="2" charset="0"/>
            </a:endParaRPr>
          </a:p>
          <a:p>
            <a:pPr marL="0"/>
            <a:r>
              <a:rPr lang="en-US" sz="3900" b="1" dirty="0">
                <a:latin typeface="Libre Baskerville" panose="02000000000000000000" pitchFamily="2" charset="0"/>
              </a:rPr>
              <a:t>Principles:</a:t>
            </a:r>
            <a:r>
              <a:rPr lang="en-US" sz="3900" dirty="0">
                <a:latin typeface="Libre Baskerville" panose="02000000000000000000" pitchFamily="2" charset="0"/>
              </a:rPr>
              <a:t> Doherty Threshold, Occam's Razor, Tesler's Law, Postel's Law</a:t>
            </a:r>
          </a:p>
          <a:p>
            <a:endParaRPr lang="en-PH" dirty="0">
              <a:latin typeface="Century Gothic" panose="020B0502020202020204" pitchFamily="34" charset="0"/>
            </a:endParaRPr>
          </a:p>
        </p:txBody>
      </p:sp>
    </p:spTree>
    <p:extLst>
      <p:ext uri="{BB962C8B-B14F-4D97-AF65-F5344CB8AC3E}">
        <p14:creationId xmlns:p14="http://schemas.microsoft.com/office/powerpoint/2010/main" val="29762177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dirty="0"/>
              <a:t>Why Laws of UX Matter</a:t>
            </a:r>
          </a:p>
        </p:txBody>
      </p:sp>
      <p:sp>
        <p:nvSpPr>
          <p:cNvPr id="4" name="AutoShape 2">
            <a:extLst>
              <a:ext uri="{FF2B5EF4-FFF2-40B4-BE49-F238E27FC236}">
                <a16:creationId xmlns:a16="http://schemas.microsoft.com/office/drawing/2014/main" id="{F97CF675-FFD9-5178-0878-680955B76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9" name="Picture 8" descr="A diagram of a customer experience&#10;&#10;AI-generated content may be incorrect.">
            <a:hlinkClick r:id="rId3"/>
            <a:extLst>
              <a:ext uri="{FF2B5EF4-FFF2-40B4-BE49-F238E27FC236}">
                <a16:creationId xmlns:a16="http://schemas.microsoft.com/office/drawing/2014/main" id="{85F25D78-839A-7E5F-BE61-5B413BB55ED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472" b="89982" l="9980" r="89921">
                        <a14:foregroundMark x1="44368" y1="57923" x2="61462" y2="52459"/>
                        <a14:foregroundMark x1="48419" y1="83789" x2="53261" y2="75228"/>
                        <a14:foregroundMark x1="46542" y1="75774" x2="45257" y2="70310"/>
                        <a14:foregroundMark x1="50395" y1="68670" x2="50395" y2="68670"/>
                        <a14:foregroundMark x1="50099" y1="47177" x2="50099" y2="47177"/>
                        <a14:foregroundMark x1="57016" y1="83242" x2="57016" y2="83242"/>
                        <a14:foregroundMark x1="59980" y1="79053" x2="59980" y2="79053"/>
                        <a14:foregroundMark x1="60672" y1="86157" x2="60672" y2="86157"/>
                        <a14:foregroundMark x1="62451" y1="82149" x2="62451" y2="82149"/>
                        <a14:foregroundMark x1="61265" y1="75228" x2="61265" y2="75228"/>
                        <a14:foregroundMark x1="61660" y1="67942" x2="61660" y2="67942"/>
                        <a14:foregroundMark x1="56423" y1="71767" x2="56423" y2="71767"/>
                        <a14:foregroundMark x1="54842" y1="72678" x2="54842" y2="72678"/>
                        <a14:foregroundMark x1="54644" y1="71767" x2="54644" y2="71767"/>
                        <a14:foregroundMark x1="54743" y1="71038" x2="54743" y2="71038"/>
                        <a14:foregroundMark x1="27866" y1="9472" x2="48320" y2="13661"/>
                        <a14:foregroundMark x1="52470" y1="49180" x2="51186" y2="63752"/>
                      </a14:backgroundRemoval>
                    </a14:imgEffect>
                  </a14:imgLayer>
                </a14:imgProps>
              </a:ext>
            </a:extLst>
          </a:blip>
          <a:stretch>
            <a:fillRect/>
          </a:stretch>
        </p:blipFill>
        <p:spPr>
          <a:xfrm>
            <a:off x="1599295" y="6492796"/>
            <a:ext cx="9298209" cy="5474717"/>
          </a:xfrm>
          <a:prstGeom prst="rect">
            <a:avLst/>
          </a:prstGeom>
        </p:spPr>
      </p:pic>
      <p:pic>
        <p:nvPicPr>
          <p:cNvPr id="6" name="Picture 5" descr="A cartoon character with a question mark&#10;&#10;AI-generated content may be incorrect.">
            <a:extLst>
              <a:ext uri="{FF2B5EF4-FFF2-40B4-BE49-F238E27FC236}">
                <a16:creationId xmlns:a16="http://schemas.microsoft.com/office/drawing/2014/main" id="{84784302-D57C-B794-6293-36F1D240BDD0}"/>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7540639" y="1581012"/>
            <a:ext cx="5799501" cy="579950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83991-8098-1C9F-15C2-DAD60C3A01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74E16-0C2D-9CF0-346C-DEC78F22D562}"/>
              </a:ext>
            </a:extLst>
          </p:cNvPr>
          <p:cNvSpPr>
            <a:spLocks noGrp="1"/>
          </p:cNvSpPr>
          <p:nvPr>
            <p:ph type="title"/>
          </p:nvPr>
        </p:nvSpPr>
        <p:spPr/>
        <p:txBody>
          <a:bodyPr anchor="ctr">
            <a:normAutofit/>
          </a:bodyPr>
          <a:lstStyle/>
          <a:p>
            <a:r>
              <a:rPr dirty="0"/>
              <a:t>Why Laws of UX Matter</a:t>
            </a:r>
          </a:p>
        </p:txBody>
      </p:sp>
      <p:sp>
        <p:nvSpPr>
          <p:cNvPr id="4" name="AutoShape 2">
            <a:extLst>
              <a:ext uri="{FF2B5EF4-FFF2-40B4-BE49-F238E27FC236}">
                <a16:creationId xmlns:a16="http://schemas.microsoft.com/office/drawing/2014/main" id="{FABFB424-4469-CF67-AB72-C7FD625B4A8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9" name="Picture 8" descr="A diagram of a customer experience&#10;&#10;AI-generated content may be incorrect.">
            <a:hlinkClick r:id="rId3"/>
            <a:extLst>
              <a:ext uri="{FF2B5EF4-FFF2-40B4-BE49-F238E27FC236}">
                <a16:creationId xmlns:a16="http://schemas.microsoft.com/office/drawing/2014/main" id="{0B82F486-C9B8-78F7-603A-CC223C586F91}"/>
              </a:ext>
            </a:extLst>
          </p:cNvPr>
          <p:cNvPicPr>
            <a:picLocks noChangeAspect="1"/>
          </p:cNvPicPr>
          <p:nvPr/>
        </p:nvPicPr>
        <p:blipFill>
          <a:blip r:embed="rId4"/>
          <a:stretch>
            <a:fillRect/>
          </a:stretch>
        </p:blipFill>
        <p:spPr>
          <a:xfrm>
            <a:off x="1294495" y="4517526"/>
            <a:ext cx="9298209" cy="5474717"/>
          </a:xfrm>
          <a:prstGeom prst="rect">
            <a:avLst/>
          </a:prstGeom>
        </p:spPr>
      </p:pic>
      <p:pic>
        <p:nvPicPr>
          <p:cNvPr id="11" name="Picture 10" descr="A cartoon character with a question mark&#10;&#10;AI-generated content may be incorrect.">
            <a:extLst>
              <a:ext uri="{FF2B5EF4-FFF2-40B4-BE49-F238E27FC236}">
                <a16:creationId xmlns:a16="http://schemas.microsoft.com/office/drawing/2014/main" id="{17ACB7FA-E3A9-3592-19B6-908F7043B960}"/>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flipH="1">
            <a:off x="7810363" y="2505490"/>
            <a:ext cx="5456529" cy="4703675"/>
          </a:xfrm>
          <a:prstGeom prst="rect">
            <a:avLst/>
          </a:prstGeom>
        </p:spPr>
      </p:pic>
    </p:spTree>
    <p:extLst>
      <p:ext uri="{BB962C8B-B14F-4D97-AF65-F5344CB8AC3E}">
        <p14:creationId xmlns:p14="http://schemas.microsoft.com/office/powerpoint/2010/main" val="2395252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AFCAD-2C9C-7D6D-2CE1-A168B8304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0DC12-B7E6-4108-8869-2309CEB8EE89}"/>
              </a:ext>
            </a:extLst>
          </p:cNvPr>
          <p:cNvSpPr>
            <a:spLocks noGrp="1"/>
          </p:cNvSpPr>
          <p:nvPr>
            <p:ph type="title"/>
          </p:nvPr>
        </p:nvSpPr>
        <p:spPr/>
        <p:txBody>
          <a:bodyPr anchor="ctr">
            <a:normAutofit/>
          </a:bodyPr>
          <a:lstStyle/>
          <a:p>
            <a:r>
              <a:rPr dirty="0"/>
              <a:t>Why Laws of UX Matter</a:t>
            </a:r>
          </a:p>
        </p:txBody>
      </p:sp>
      <p:sp>
        <p:nvSpPr>
          <p:cNvPr id="4" name="AutoShape 2">
            <a:extLst>
              <a:ext uri="{FF2B5EF4-FFF2-40B4-BE49-F238E27FC236}">
                <a16:creationId xmlns:a16="http://schemas.microsoft.com/office/drawing/2014/main" id="{8F93B1CA-0770-B109-4C1F-FD7697D0642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9" name="Picture 8" descr="A diagram of a customer experience&#10;&#10;AI-generated content may be incorrect.">
            <a:hlinkClick r:id="rId3"/>
            <a:extLst>
              <a:ext uri="{FF2B5EF4-FFF2-40B4-BE49-F238E27FC236}">
                <a16:creationId xmlns:a16="http://schemas.microsoft.com/office/drawing/2014/main" id="{E2F0CB4A-62F6-6E3B-A39B-00EC7C25EE37}"/>
              </a:ext>
            </a:extLst>
          </p:cNvPr>
          <p:cNvPicPr>
            <a:picLocks noChangeAspect="1"/>
          </p:cNvPicPr>
          <p:nvPr/>
        </p:nvPicPr>
        <p:blipFill>
          <a:blip r:embed="rId4"/>
          <a:stretch>
            <a:fillRect/>
          </a:stretch>
        </p:blipFill>
        <p:spPr>
          <a:xfrm>
            <a:off x="1294495" y="3230880"/>
            <a:ext cx="9298209" cy="5474717"/>
          </a:xfrm>
          <a:prstGeom prst="rect">
            <a:avLst/>
          </a:prstGeom>
        </p:spPr>
      </p:pic>
      <p:pic>
        <p:nvPicPr>
          <p:cNvPr id="11" name="Picture 10" descr="A cartoon character with a question mark&#10;&#10;AI-generated content may be incorrect.">
            <a:extLst>
              <a:ext uri="{FF2B5EF4-FFF2-40B4-BE49-F238E27FC236}">
                <a16:creationId xmlns:a16="http://schemas.microsoft.com/office/drawing/2014/main" id="{76BF2DE0-28ED-ECE1-D2CD-9593C5A05BDD}"/>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flipH="1">
            <a:off x="7810363" y="2505490"/>
            <a:ext cx="5456529" cy="4703675"/>
          </a:xfrm>
          <a:prstGeom prst="rect">
            <a:avLst/>
          </a:prstGeom>
        </p:spPr>
      </p:pic>
    </p:spTree>
    <p:extLst>
      <p:ext uri="{BB962C8B-B14F-4D97-AF65-F5344CB8AC3E}">
        <p14:creationId xmlns:p14="http://schemas.microsoft.com/office/powerpoint/2010/main" val="1838501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5634E-A203-64D4-E902-EED9DC66D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4CA29-E7CC-3A2B-318F-2504C2E18553}"/>
              </a:ext>
            </a:extLst>
          </p:cNvPr>
          <p:cNvSpPr>
            <a:spLocks noGrp="1"/>
          </p:cNvSpPr>
          <p:nvPr>
            <p:ph type="title"/>
          </p:nvPr>
        </p:nvSpPr>
        <p:spPr/>
        <p:txBody>
          <a:bodyPr anchor="ctr">
            <a:normAutofit/>
          </a:bodyPr>
          <a:lstStyle/>
          <a:p>
            <a:r>
              <a:rPr dirty="0"/>
              <a:t>Why Laws of UX Matter</a:t>
            </a:r>
          </a:p>
        </p:txBody>
      </p:sp>
      <p:sp>
        <p:nvSpPr>
          <p:cNvPr id="4" name="AutoShape 2">
            <a:extLst>
              <a:ext uri="{FF2B5EF4-FFF2-40B4-BE49-F238E27FC236}">
                <a16:creationId xmlns:a16="http://schemas.microsoft.com/office/drawing/2014/main" id="{62CFCC1F-A22D-115A-EDD8-112ACD26E3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9" name="Picture 8" descr="A diagram of a customer experience&#10;&#10;AI-generated content may be incorrect.">
            <a:hlinkClick r:id="rId3"/>
            <a:extLst>
              <a:ext uri="{FF2B5EF4-FFF2-40B4-BE49-F238E27FC236}">
                <a16:creationId xmlns:a16="http://schemas.microsoft.com/office/drawing/2014/main" id="{0027E9EE-D5A8-35C8-0A01-C30C474CEEBB}"/>
              </a:ext>
            </a:extLst>
          </p:cNvPr>
          <p:cNvPicPr>
            <a:picLocks noChangeAspect="1"/>
          </p:cNvPicPr>
          <p:nvPr/>
        </p:nvPicPr>
        <p:blipFill>
          <a:blip r:embed="rId4"/>
          <a:stretch>
            <a:fillRect/>
          </a:stretch>
        </p:blipFill>
        <p:spPr>
          <a:xfrm>
            <a:off x="1294495" y="1249680"/>
            <a:ext cx="9298209" cy="5474717"/>
          </a:xfrm>
          <a:prstGeom prst="rect">
            <a:avLst/>
          </a:prstGeom>
        </p:spPr>
      </p:pic>
      <p:pic>
        <p:nvPicPr>
          <p:cNvPr id="11" name="Picture 10" descr="A cartoon character with a question mark&#10;&#10;AI-generated content may be incorrect.">
            <a:extLst>
              <a:ext uri="{FF2B5EF4-FFF2-40B4-BE49-F238E27FC236}">
                <a16:creationId xmlns:a16="http://schemas.microsoft.com/office/drawing/2014/main" id="{F59BACD6-1DD9-770B-31BC-EC4547682946}"/>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flipH="1">
            <a:off x="7810363" y="2505490"/>
            <a:ext cx="5456529" cy="4703675"/>
          </a:xfrm>
          <a:prstGeom prst="rect">
            <a:avLst/>
          </a:prstGeom>
        </p:spPr>
      </p:pic>
    </p:spTree>
    <p:extLst>
      <p:ext uri="{BB962C8B-B14F-4D97-AF65-F5344CB8AC3E}">
        <p14:creationId xmlns:p14="http://schemas.microsoft.com/office/powerpoint/2010/main" val="1677122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dirty="0"/>
              <a:t>Aesthetic-Usability Effect</a:t>
            </a:r>
          </a:p>
        </p:txBody>
      </p:sp>
      <p:pic>
        <p:nvPicPr>
          <p:cNvPr id="9" name="Picture 8">
            <a:extLst>
              <a:ext uri="{FF2B5EF4-FFF2-40B4-BE49-F238E27FC236}">
                <a16:creationId xmlns:a16="http://schemas.microsoft.com/office/drawing/2014/main" id="{0DBAB753-B32D-0649-91C7-1B0175969A03}"/>
              </a:ext>
            </a:extLst>
          </p:cNvPr>
          <p:cNvPicPr>
            <a:picLocks noChangeAspect="1"/>
          </p:cNvPicPr>
          <p:nvPr/>
        </p:nvPicPr>
        <p:blipFill>
          <a:blip r:embed="rId3"/>
          <a:stretch>
            <a:fillRect/>
          </a:stretch>
        </p:blipFill>
        <p:spPr>
          <a:xfrm>
            <a:off x="1041442" y="1417638"/>
            <a:ext cx="3627714" cy="47497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6C9570B5-E299-4E98-2604-E53334F27EC4}"/>
              </a:ext>
            </a:extLst>
          </p:cNvPr>
          <p:cNvSpPr txBox="1"/>
          <p:nvPr/>
        </p:nvSpPr>
        <p:spPr>
          <a:xfrm>
            <a:off x="6104277" y="1612315"/>
            <a:ext cx="4602306" cy="923330"/>
          </a:xfrm>
          <a:prstGeom prst="rect">
            <a:avLst/>
          </a:prstGeom>
          <a:noFill/>
        </p:spPr>
        <p:txBody>
          <a:bodyPr wrap="square">
            <a:spAutoFit/>
          </a:bodyPr>
          <a:lstStyle/>
          <a:p>
            <a:pPr algn="ctr"/>
            <a:r>
              <a:rPr lang="en-US" dirty="0"/>
              <a:t>People tend to believe that things that look better will work better, even if they aren’t more effective or efficient.</a:t>
            </a:r>
            <a:endParaRPr lang="en-PH" dirty="0"/>
          </a:p>
        </p:txBody>
      </p:sp>
      <p:sp>
        <p:nvSpPr>
          <p:cNvPr id="5" name="TextBox 4">
            <a:extLst>
              <a:ext uri="{FF2B5EF4-FFF2-40B4-BE49-F238E27FC236}">
                <a16:creationId xmlns:a16="http://schemas.microsoft.com/office/drawing/2014/main" id="{C5224831-81D8-6ECC-D943-0E7B2027548A}"/>
              </a:ext>
            </a:extLst>
          </p:cNvPr>
          <p:cNvSpPr txBox="1"/>
          <p:nvPr/>
        </p:nvSpPr>
        <p:spPr>
          <a:xfrm>
            <a:off x="6231598" y="3192517"/>
            <a:ext cx="4602306" cy="1200329"/>
          </a:xfrm>
          <a:prstGeom prst="rect">
            <a:avLst/>
          </a:prstGeom>
          <a:noFill/>
        </p:spPr>
        <p:txBody>
          <a:bodyPr wrap="square">
            <a:spAutoFit/>
          </a:bodyPr>
          <a:lstStyle/>
          <a:p>
            <a:pPr algn="ctr"/>
            <a:r>
              <a:rPr lang="en-US" dirty="0"/>
              <a:t>When users have a positive emotional response to visual design, it makes them more tolerant of minor usability issues.</a:t>
            </a:r>
            <a:endParaRPr lang="en-PH"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D96C1-2328-91EC-350B-F4D750E58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36E898-6511-93FD-779A-CFA5AD9746FD}"/>
              </a:ext>
            </a:extLst>
          </p:cNvPr>
          <p:cNvSpPr>
            <a:spLocks noGrp="1"/>
          </p:cNvSpPr>
          <p:nvPr>
            <p:ph type="title"/>
          </p:nvPr>
        </p:nvSpPr>
        <p:spPr/>
        <p:txBody>
          <a:bodyPr anchor="ctr">
            <a:normAutofit/>
          </a:bodyPr>
          <a:lstStyle/>
          <a:p>
            <a:r>
              <a:rPr dirty="0"/>
              <a:t>Aesthetic-Usability Effect</a:t>
            </a:r>
          </a:p>
        </p:txBody>
      </p:sp>
      <p:pic>
        <p:nvPicPr>
          <p:cNvPr id="9" name="Picture 8">
            <a:extLst>
              <a:ext uri="{FF2B5EF4-FFF2-40B4-BE49-F238E27FC236}">
                <a16:creationId xmlns:a16="http://schemas.microsoft.com/office/drawing/2014/main" id="{5E698880-8816-BD62-D249-94E7B804A814}"/>
              </a:ext>
            </a:extLst>
          </p:cNvPr>
          <p:cNvPicPr>
            <a:picLocks noChangeAspect="1"/>
          </p:cNvPicPr>
          <p:nvPr/>
        </p:nvPicPr>
        <p:blipFill>
          <a:blip r:embed="rId3"/>
          <a:stretch>
            <a:fillRect/>
          </a:stretch>
        </p:blipFill>
        <p:spPr>
          <a:xfrm>
            <a:off x="1041442" y="1417638"/>
            <a:ext cx="3627714" cy="47497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146" name="Picture 2" descr="Your iPhone's Weather App Has a Crazy Number of Customization Options You  Probably Didn't Know About &lt;&lt; iOS &amp; iPhone :: Gadget Hacks">
            <a:extLst>
              <a:ext uri="{FF2B5EF4-FFF2-40B4-BE49-F238E27FC236}">
                <a16:creationId xmlns:a16="http://schemas.microsoft.com/office/drawing/2014/main" id="{20FE950E-C4A1-10F1-F0B9-4B57A298D6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2846" y="1595437"/>
            <a:ext cx="211455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156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6C48E-692E-F659-3D34-61ABFBC63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8153C-352B-A071-E430-965482073516}"/>
              </a:ext>
            </a:extLst>
          </p:cNvPr>
          <p:cNvSpPr>
            <a:spLocks noGrp="1"/>
          </p:cNvSpPr>
          <p:nvPr>
            <p:ph type="title"/>
          </p:nvPr>
        </p:nvSpPr>
        <p:spPr/>
        <p:txBody>
          <a:bodyPr anchor="ctr">
            <a:normAutofit/>
          </a:bodyPr>
          <a:lstStyle/>
          <a:p>
            <a:r>
              <a:rPr dirty="0"/>
              <a:t>Aesthetic-Usability Effect</a:t>
            </a:r>
          </a:p>
        </p:txBody>
      </p:sp>
      <p:pic>
        <p:nvPicPr>
          <p:cNvPr id="9" name="Picture 8">
            <a:extLst>
              <a:ext uri="{FF2B5EF4-FFF2-40B4-BE49-F238E27FC236}">
                <a16:creationId xmlns:a16="http://schemas.microsoft.com/office/drawing/2014/main" id="{2D2F843A-0E08-A3D6-2FED-B800E21C2364}"/>
              </a:ext>
            </a:extLst>
          </p:cNvPr>
          <p:cNvPicPr>
            <a:picLocks noChangeAspect="1"/>
          </p:cNvPicPr>
          <p:nvPr/>
        </p:nvPicPr>
        <p:blipFill>
          <a:blip r:embed="rId3"/>
          <a:stretch>
            <a:fillRect/>
          </a:stretch>
        </p:blipFill>
        <p:spPr>
          <a:xfrm>
            <a:off x="1041442" y="1417638"/>
            <a:ext cx="3627714" cy="47497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EB944272-1612-2812-FB55-8855021F534A}"/>
              </a:ext>
            </a:extLst>
          </p:cNvPr>
          <p:cNvPicPr>
            <a:picLocks noChangeAspect="1"/>
          </p:cNvPicPr>
          <p:nvPr/>
        </p:nvPicPr>
        <p:blipFill>
          <a:blip r:embed="rId4"/>
          <a:stretch>
            <a:fillRect/>
          </a:stretch>
        </p:blipFill>
        <p:spPr>
          <a:xfrm>
            <a:off x="5100997" y="1417638"/>
            <a:ext cx="6363251" cy="3185436"/>
          </a:xfrm>
          <a:prstGeom prst="rect">
            <a:avLst/>
          </a:prstGeom>
        </p:spPr>
      </p:pic>
      <p:sp>
        <p:nvSpPr>
          <p:cNvPr id="6" name="TextBox 5">
            <a:extLst>
              <a:ext uri="{FF2B5EF4-FFF2-40B4-BE49-F238E27FC236}">
                <a16:creationId xmlns:a16="http://schemas.microsoft.com/office/drawing/2014/main" id="{F3C61E88-3D2C-9421-5509-F4932A3CE141}"/>
              </a:ext>
            </a:extLst>
          </p:cNvPr>
          <p:cNvSpPr txBox="1"/>
          <p:nvPr/>
        </p:nvSpPr>
        <p:spPr>
          <a:xfrm>
            <a:off x="5100997" y="4856301"/>
            <a:ext cx="6096000" cy="1477328"/>
          </a:xfrm>
          <a:prstGeom prst="rect">
            <a:avLst/>
          </a:prstGeom>
          <a:noFill/>
        </p:spPr>
        <p:txBody>
          <a:bodyPr wrap="square">
            <a:spAutoFit/>
          </a:bodyPr>
          <a:lstStyle/>
          <a:p>
            <a:r>
              <a:rPr lang="en-US" b="0" i="1" dirty="0">
                <a:solidFill>
                  <a:srgbClr val="676767"/>
                </a:solidFill>
                <a:effectLst/>
                <a:latin typeface="Source Sans Variable"/>
              </a:rPr>
              <a:t>Despite encountering many problems while shopping on </a:t>
            </a:r>
            <a:r>
              <a:rPr lang="en-US" b="0" i="1" dirty="0" err="1">
                <a:solidFill>
                  <a:srgbClr val="676767"/>
                </a:solidFill>
                <a:effectLst/>
                <a:latin typeface="Source Sans Variable"/>
              </a:rPr>
              <a:t>FitBit’s</a:t>
            </a:r>
            <a:r>
              <a:rPr lang="en-US" b="0" i="1" dirty="0">
                <a:solidFill>
                  <a:srgbClr val="676767"/>
                </a:solidFill>
                <a:effectLst/>
                <a:latin typeface="Source Sans Variable"/>
              </a:rPr>
              <a:t> site, a study participant still rated it highly. When asked for feedback, she commented only about its visual design — hindering the researcher from learning about the design’s problems.</a:t>
            </a:r>
            <a:endParaRPr lang="en-PH" dirty="0"/>
          </a:p>
        </p:txBody>
      </p:sp>
    </p:spTree>
    <p:extLst>
      <p:ext uri="{BB962C8B-B14F-4D97-AF65-F5344CB8AC3E}">
        <p14:creationId xmlns:p14="http://schemas.microsoft.com/office/powerpoint/2010/main" val="603001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3438F-1496-6BF3-3747-667FA22717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CBDC0-3201-CE91-9FA9-9689BD4850B2}"/>
              </a:ext>
            </a:extLst>
          </p:cNvPr>
          <p:cNvSpPr>
            <a:spLocks noGrp="1"/>
          </p:cNvSpPr>
          <p:nvPr>
            <p:ph type="title"/>
          </p:nvPr>
        </p:nvSpPr>
        <p:spPr/>
        <p:txBody>
          <a:bodyPr anchor="ctr">
            <a:normAutofit/>
          </a:bodyPr>
          <a:lstStyle/>
          <a:p>
            <a:r>
              <a:t>Choice Overload</a:t>
            </a:r>
          </a:p>
        </p:txBody>
      </p:sp>
      <p:pic>
        <p:nvPicPr>
          <p:cNvPr id="5" name="Picture 4">
            <a:extLst>
              <a:ext uri="{FF2B5EF4-FFF2-40B4-BE49-F238E27FC236}">
                <a16:creationId xmlns:a16="http://schemas.microsoft.com/office/drawing/2014/main" id="{91C50CA5-4825-A5D5-E73C-999CC4285AD9}"/>
              </a:ext>
            </a:extLst>
          </p:cNvPr>
          <p:cNvPicPr preferRelativeResize="0">
            <a:picLocks/>
          </p:cNvPicPr>
          <p:nvPr/>
        </p:nvPicPr>
        <p:blipFill>
          <a:blip r:embed="rId3"/>
          <a:stretch>
            <a:fillRect/>
          </a:stretch>
        </p:blipFill>
        <p:spPr>
          <a:xfrm>
            <a:off x="609601" y="1529917"/>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122" name="Picture 2">
            <a:extLst>
              <a:ext uri="{FF2B5EF4-FFF2-40B4-BE49-F238E27FC236}">
                <a16:creationId xmlns:a16="http://schemas.microsoft.com/office/drawing/2014/main" id="{8E076A3D-635B-0610-C13F-04ABAB8A34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397" b="6193"/>
          <a:stretch>
            <a:fillRect/>
          </a:stretch>
        </p:blipFill>
        <p:spPr bwMode="auto">
          <a:xfrm>
            <a:off x="4565067" y="1529918"/>
            <a:ext cx="6875522" cy="47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436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44EAD-B4D5-A24C-98BE-DE784517F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F2E3C-1898-A021-BDBD-896DD40EED01}"/>
              </a:ext>
            </a:extLst>
          </p:cNvPr>
          <p:cNvSpPr>
            <a:spLocks noGrp="1"/>
          </p:cNvSpPr>
          <p:nvPr>
            <p:ph type="title"/>
          </p:nvPr>
        </p:nvSpPr>
        <p:spPr/>
        <p:txBody>
          <a:bodyPr anchor="ctr">
            <a:normAutofit/>
          </a:bodyPr>
          <a:lstStyle/>
          <a:p>
            <a:r>
              <a:t>Choice Overload</a:t>
            </a:r>
          </a:p>
        </p:txBody>
      </p:sp>
      <p:pic>
        <p:nvPicPr>
          <p:cNvPr id="5" name="Picture 4">
            <a:extLst>
              <a:ext uri="{FF2B5EF4-FFF2-40B4-BE49-F238E27FC236}">
                <a16:creationId xmlns:a16="http://schemas.microsoft.com/office/drawing/2014/main" id="{62015842-66BB-5DC1-9A6B-88B424E6EF50}"/>
              </a:ext>
            </a:extLst>
          </p:cNvPr>
          <p:cNvPicPr preferRelativeResize="0">
            <a:picLocks/>
          </p:cNvPicPr>
          <p:nvPr/>
        </p:nvPicPr>
        <p:blipFill>
          <a:blip r:embed="rId3"/>
          <a:stretch>
            <a:fillRect/>
          </a:stretch>
        </p:blipFill>
        <p:spPr>
          <a:xfrm>
            <a:off x="609601" y="1529917"/>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17025054-EA57-3155-BB92-8A8F81220BB3}"/>
              </a:ext>
            </a:extLst>
          </p:cNvPr>
          <p:cNvSpPr txBox="1"/>
          <p:nvPr/>
        </p:nvSpPr>
        <p:spPr>
          <a:xfrm>
            <a:off x="4617720" y="1717655"/>
            <a:ext cx="6096000"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SCENARIO: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 user visits an online clothing store looking for a pair of jeans. The site presents them with 150 different styles, cuts, and brands.</a:t>
            </a:r>
          </a:p>
        </p:txBody>
      </p:sp>
      <p:sp>
        <p:nvSpPr>
          <p:cNvPr id="6" name="TextBox 5">
            <a:extLst>
              <a:ext uri="{FF2B5EF4-FFF2-40B4-BE49-F238E27FC236}">
                <a16:creationId xmlns:a16="http://schemas.microsoft.com/office/drawing/2014/main" id="{EBD0B373-7BD5-C8FA-4FCA-19C5A26A6788}"/>
              </a:ext>
            </a:extLst>
          </p:cNvPr>
          <p:cNvSpPr txBox="1"/>
          <p:nvPr/>
        </p:nvSpPr>
        <p:spPr>
          <a:xfrm>
            <a:off x="4617720" y="4079855"/>
            <a:ext cx="6096000"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Implement filtering and sorting options to help users narrow down choices based on their preferences. For example, filters for size, brand, color, and price can streamline the decision-making process.</a:t>
            </a:r>
          </a:p>
        </p:txBody>
      </p:sp>
    </p:spTree>
    <p:extLst>
      <p:ext uri="{BB962C8B-B14F-4D97-AF65-F5344CB8AC3E}">
        <p14:creationId xmlns:p14="http://schemas.microsoft.com/office/powerpoint/2010/main" val="10201463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F0BC5-192F-5CD5-5660-1FFF65BE0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7527C-E5EF-B575-F22D-1B89E9D6A555}"/>
              </a:ext>
            </a:extLst>
          </p:cNvPr>
          <p:cNvSpPr>
            <a:spLocks noGrp="1"/>
          </p:cNvSpPr>
          <p:nvPr>
            <p:ph type="title"/>
          </p:nvPr>
        </p:nvSpPr>
        <p:spPr/>
        <p:txBody>
          <a:bodyPr anchor="ctr">
            <a:normAutofit/>
          </a:bodyPr>
          <a:lstStyle/>
          <a:p>
            <a:r>
              <a:t>Choice Overload</a:t>
            </a:r>
          </a:p>
        </p:txBody>
      </p:sp>
      <p:pic>
        <p:nvPicPr>
          <p:cNvPr id="5" name="Picture 4">
            <a:extLst>
              <a:ext uri="{FF2B5EF4-FFF2-40B4-BE49-F238E27FC236}">
                <a16:creationId xmlns:a16="http://schemas.microsoft.com/office/drawing/2014/main" id="{CD4DB851-1EC6-DFE9-6B71-7C1C8DDDB442}"/>
              </a:ext>
            </a:extLst>
          </p:cNvPr>
          <p:cNvPicPr preferRelativeResize="0">
            <a:picLocks/>
          </p:cNvPicPr>
          <p:nvPr/>
        </p:nvPicPr>
        <p:blipFill>
          <a:blip r:embed="rId3"/>
          <a:stretch>
            <a:fillRect/>
          </a:stretch>
        </p:blipFill>
        <p:spPr>
          <a:xfrm>
            <a:off x="609601" y="1529917"/>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8ED633A1-13CB-2FAD-69A6-C3B1EBB3FF77}"/>
              </a:ext>
            </a:extLst>
          </p:cNvPr>
          <p:cNvSpPr txBox="1"/>
          <p:nvPr/>
        </p:nvSpPr>
        <p:spPr>
          <a:xfrm>
            <a:off x="4617720" y="1717655"/>
            <a:ext cx="6096000"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BEST PRACTICES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t>Limit the number of Options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t>Utilize Categorization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t>Implement Decision Aids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t>Personalization and Recommendation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t>Progressive Disclosure</a:t>
            </a:r>
          </a:p>
          <a:p>
            <a:pPr marR="0" lvl="0" algn="l" defTabSz="914400" rtl="0" eaLnBrk="1" fontAlgn="auto" latinLnBrk="0" hangingPunct="1">
              <a:lnSpc>
                <a:spcPct val="100000"/>
              </a:lnSpc>
              <a:spcBef>
                <a:spcPts val="0"/>
              </a:spcBef>
              <a:spcAft>
                <a:spcPts val="0"/>
              </a:spcAft>
              <a:buClrTx/>
              <a:buSzTx/>
              <a:tabLst/>
              <a:defRPr/>
            </a:pPr>
            <a:endParaRPr lang="en-US" sz="18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182261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3D5C8-2B88-0FCB-97BE-B03AB57BF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2F152-788C-F9D7-9AD2-E4F75A725551}"/>
              </a:ext>
            </a:extLst>
          </p:cNvPr>
          <p:cNvSpPr>
            <a:spLocks noGrp="1"/>
          </p:cNvSpPr>
          <p:nvPr>
            <p:ph type="title"/>
          </p:nvPr>
        </p:nvSpPr>
        <p:spPr/>
        <p:txBody>
          <a:bodyPr anchor="ctr">
            <a:normAutofit/>
          </a:bodyPr>
          <a:lstStyle/>
          <a:p>
            <a:r>
              <a:t>Choice Overload</a:t>
            </a:r>
          </a:p>
        </p:txBody>
      </p:sp>
      <p:pic>
        <p:nvPicPr>
          <p:cNvPr id="5" name="Picture 4">
            <a:extLst>
              <a:ext uri="{FF2B5EF4-FFF2-40B4-BE49-F238E27FC236}">
                <a16:creationId xmlns:a16="http://schemas.microsoft.com/office/drawing/2014/main" id="{3D2D01C8-3B45-4C29-651D-B6DA8869E01E}"/>
              </a:ext>
            </a:extLst>
          </p:cNvPr>
          <p:cNvPicPr preferRelativeResize="0">
            <a:picLocks/>
          </p:cNvPicPr>
          <p:nvPr/>
        </p:nvPicPr>
        <p:blipFill>
          <a:blip r:embed="rId3"/>
          <a:stretch>
            <a:fillRect/>
          </a:stretch>
        </p:blipFill>
        <p:spPr>
          <a:xfrm>
            <a:off x="609601" y="1529917"/>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122" name="Picture 2">
            <a:extLst>
              <a:ext uri="{FF2B5EF4-FFF2-40B4-BE49-F238E27FC236}">
                <a16:creationId xmlns:a16="http://schemas.microsoft.com/office/drawing/2014/main" id="{009049AB-AE33-A6F8-C5FE-39D7F5BC99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397" b="6193"/>
          <a:stretch>
            <a:fillRect/>
          </a:stretch>
        </p:blipFill>
        <p:spPr bwMode="auto">
          <a:xfrm>
            <a:off x="4565067" y="1529918"/>
            <a:ext cx="6875522" cy="47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0123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7C2D-633C-EAD9-6E52-4294F86D7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2C793-0848-5239-3130-ADBF575F2157}"/>
              </a:ext>
            </a:extLst>
          </p:cNvPr>
          <p:cNvSpPr>
            <a:spLocks noGrp="1"/>
          </p:cNvSpPr>
          <p:nvPr>
            <p:ph type="title"/>
          </p:nvPr>
        </p:nvSpPr>
        <p:spPr/>
        <p:txBody>
          <a:bodyPr anchor="ctr">
            <a:normAutofit/>
          </a:bodyPr>
          <a:lstStyle/>
          <a:p>
            <a:r>
              <a:rPr lang="en-PH" dirty="0"/>
              <a:t>Cognitive Bias</a:t>
            </a:r>
            <a:endParaRPr dirty="0"/>
          </a:p>
        </p:txBody>
      </p:sp>
      <p:pic>
        <p:nvPicPr>
          <p:cNvPr id="4" name="Picture 3" descr="A screenshot of a blue background with circles and a white circle&#10;&#10;AI-generated content may be incorrect.">
            <a:extLst>
              <a:ext uri="{FF2B5EF4-FFF2-40B4-BE49-F238E27FC236}">
                <a16:creationId xmlns:a16="http://schemas.microsoft.com/office/drawing/2014/main" id="{473A4BB6-AEDC-3772-1B82-82FA3A6FD3A1}"/>
              </a:ext>
            </a:extLst>
          </p:cNvPr>
          <p:cNvPicPr preferRelativeResize="0">
            <a:picLocks/>
          </p:cNvPicPr>
          <p:nvPr/>
        </p:nvPicPr>
        <p:blipFill>
          <a:blip r:embed="rId3"/>
          <a:stretch>
            <a:fillRect/>
          </a:stretch>
        </p:blipFill>
        <p:spPr>
          <a:xfrm>
            <a:off x="520591" y="1657162"/>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170" name="Picture 2" descr="84 cognitive biases that will help you design better-converting products">
            <a:extLst>
              <a:ext uri="{FF2B5EF4-FFF2-40B4-BE49-F238E27FC236}">
                <a16:creationId xmlns:a16="http://schemas.microsoft.com/office/drawing/2014/main" id="{18351DAD-4EA0-199B-1887-04E56167C7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4737" y="1767840"/>
            <a:ext cx="7181977" cy="4434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857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40C993F-3393-C5B6-F69C-EA25AC01CC25}"/>
              </a:ext>
            </a:extLst>
          </p:cNvPr>
          <p:cNvPicPr>
            <a:picLocks noGrp="1" noChangeAspect="1"/>
          </p:cNvPicPr>
          <p:nvPr>
            <p:ph idx="1"/>
          </p:nvPr>
        </p:nvPicPr>
        <p:blipFill>
          <a:blip r:embed="rId2"/>
          <a:stretch>
            <a:fillRect/>
          </a:stretch>
        </p:blipFill>
        <p:spPr>
          <a:xfrm>
            <a:off x="609600" y="1422249"/>
            <a:ext cx="10972800" cy="4251242"/>
          </a:xfrm>
          <a:prstGeom prst="rect">
            <a:avLst/>
          </a:prstGeom>
        </p:spPr>
      </p:pic>
    </p:spTree>
    <p:extLst>
      <p:ext uri="{BB962C8B-B14F-4D97-AF65-F5344CB8AC3E}">
        <p14:creationId xmlns:p14="http://schemas.microsoft.com/office/powerpoint/2010/main" val="38721577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6E76D-C544-B9C1-62A0-40B5947AE27E}"/>
              </a:ext>
            </a:extLst>
          </p:cNvPr>
          <p:cNvSpPr>
            <a:spLocks noGrp="1"/>
          </p:cNvSpPr>
          <p:nvPr>
            <p:ph type="title"/>
          </p:nvPr>
        </p:nvSpPr>
        <p:spPr/>
        <p:txBody>
          <a:bodyPr/>
          <a:lstStyle/>
          <a:p>
            <a:endParaRPr lang="en-PH"/>
          </a:p>
        </p:txBody>
      </p:sp>
      <p:pic>
        <p:nvPicPr>
          <p:cNvPr id="5" name="Content Placeholder 4">
            <a:extLst>
              <a:ext uri="{FF2B5EF4-FFF2-40B4-BE49-F238E27FC236}">
                <a16:creationId xmlns:a16="http://schemas.microsoft.com/office/drawing/2014/main" id="{E6E02A9E-D1D8-38B2-B7F9-211E628C73AE}"/>
              </a:ext>
            </a:extLst>
          </p:cNvPr>
          <p:cNvPicPr>
            <a:picLocks noGrp="1" noChangeAspect="1"/>
          </p:cNvPicPr>
          <p:nvPr>
            <p:ph idx="1"/>
          </p:nvPr>
        </p:nvPicPr>
        <p:blipFill>
          <a:blip r:embed="rId2"/>
          <a:stretch>
            <a:fillRect/>
          </a:stretch>
        </p:blipFill>
        <p:spPr>
          <a:xfrm>
            <a:off x="3274008" y="1600200"/>
            <a:ext cx="5643983" cy="4525963"/>
          </a:xfrm>
          <a:prstGeom prst="rect">
            <a:avLst/>
          </a:prstGeom>
        </p:spPr>
      </p:pic>
    </p:spTree>
    <p:extLst>
      <p:ext uri="{BB962C8B-B14F-4D97-AF65-F5344CB8AC3E}">
        <p14:creationId xmlns:p14="http://schemas.microsoft.com/office/powerpoint/2010/main" val="28693019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62E1E-3F2E-7231-DE2D-744E23A1A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09762-74CB-1CB1-F69C-EF67C2BF6E36}"/>
              </a:ext>
            </a:extLst>
          </p:cNvPr>
          <p:cNvSpPr>
            <a:spLocks noGrp="1"/>
          </p:cNvSpPr>
          <p:nvPr>
            <p:ph type="title"/>
          </p:nvPr>
        </p:nvSpPr>
        <p:spPr/>
        <p:txBody>
          <a:bodyPr anchor="ctr">
            <a:normAutofit/>
          </a:bodyPr>
          <a:lstStyle/>
          <a:p>
            <a:r>
              <a:rPr lang="en-PH" dirty="0"/>
              <a:t>Cognitive Bias</a:t>
            </a:r>
            <a:endParaRPr dirty="0"/>
          </a:p>
        </p:txBody>
      </p:sp>
      <p:pic>
        <p:nvPicPr>
          <p:cNvPr id="4" name="Picture 3" descr="A screenshot of a blue background with circles and a white circle&#10;&#10;AI-generated content may be incorrect.">
            <a:extLst>
              <a:ext uri="{FF2B5EF4-FFF2-40B4-BE49-F238E27FC236}">
                <a16:creationId xmlns:a16="http://schemas.microsoft.com/office/drawing/2014/main" id="{E0B1F32F-AF08-4ADD-93CC-8172A015D344}"/>
              </a:ext>
            </a:extLst>
          </p:cNvPr>
          <p:cNvPicPr preferRelativeResize="0">
            <a:picLocks/>
          </p:cNvPicPr>
          <p:nvPr/>
        </p:nvPicPr>
        <p:blipFill>
          <a:blip r:embed="rId3"/>
          <a:stretch>
            <a:fillRect/>
          </a:stretch>
        </p:blipFill>
        <p:spPr>
          <a:xfrm>
            <a:off x="463441" y="1657162"/>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9590B756-D9E4-71A6-8767-6911AB3FC3E1}"/>
              </a:ext>
            </a:extLst>
          </p:cNvPr>
          <p:cNvPicPr>
            <a:picLocks noChangeAspect="1"/>
          </p:cNvPicPr>
          <p:nvPr/>
        </p:nvPicPr>
        <p:blipFill>
          <a:blip r:embed="rId4"/>
          <a:stretch>
            <a:fillRect/>
          </a:stretch>
        </p:blipFill>
        <p:spPr>
          <a:xfrm>
            <a:off x="4383256" y="2011876"/>
            <a:ext cx="7433009" cy="40342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195729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4D3F-3CB7-6C94-BD85-F9D7A6974002}"/>
              </a:ext>
            </a:extLst>
          </p:cNvPr>
          <p:cNvSpPr>
            <a:spLocks noGrp="1"/>
          </p:cNvSpPr>
          <p:nvPr>
            <p:ph type="title"/>
          </p:nvPr>
        </p:nvSpPr>
        <p:spPr/>
        <p:txBody>
          <a:bodyPr/>
          <a:lstStyle/>
          <a:p>
            <a:r>
              <a:rPr lang="en-PH" dirty="0"/>
              <a:t>Cognitive Bias</a:t>
            </a:r>
          </a:p>
        </p:txBody>
      </p:sp>
      <p:sp>
        <p:nvSpPr>
          <p:cNvPr id="3" name="Content Placeholder 2">
            <a:extLst>
              <a:ext uri="{FF2B5EF4-FFF2-40B4-BE49-F238E27FC236}">
                <a16:creationId xmlns:a16="http://schemas.microsoft.com/office/drawing/2014/main" id="{663151BA-269E-1950-D65C-54EB982B0D9F}"/>
              </a:ext>
            </a:extLst>
          </p:cNvPr>
          <p:cNvSpPr>
            <a:spLocks noGrp="1"/>
          </p:cNvSpPr>
          <p:nvPr>
            <p:ph idx="1"/>
          </p:nvPr>
        </p:nvSpPr>
        <p:spPr/>
        <p:txBody>
          <a:bodyPr/>
          <a:lstStyle/>
          <a:p>
            <a:r>
              <a:rPr lang="en-PH" dirty="0" sz="2200"/>
              <a:t>CONFIRMATION BIAS – </a:t>
            </a:r>
            <a:r>
              <a:rPr lang="en-PH" dirty="0" b="0" sz="2200"/>
              <a:t>We notice and trust information that agrees with what we already believe.</a:t>
            </a:r>
          </a:p>
          <a:p>
            <a:r>
              <a:rPr lang="en-PH" dirty="0" sz="2200"/>
              <a:t>FALSE CONSENSUS EFFECT – </a:t>
            </a:r>
            <a:r>
              <a:rPr lang="en-PH" dirty="0" b="0" sz="2200"/>
              <a:t>We assume most people think like us (“surely 90% of users agree with me”).</a:t>
            </a:r>
          </a:p>
          <a:p>
            <a:r>
              <a:rPr lang="en-PH" dirty="0" sz="2200"/>
              <a:t>FRAMING EFFECT – </a:t>
            </a:r>
            <a:r>
              <a:rPr lang="en-US" dirty="0" sz="2200"/>
              <a:t>The framing effect is </a:t>
            </a:r>
            <a:r>
              <a:rPr lang="en-US" b="1" dirty="0" sz="2200"/>
              <a:t>a cognitive bias in which people make decisions based on how the information is presented</a:t>
            </a:r>
            <a:r>
              <a:rPr lang="en-US" dirty="0" sz="2200"/>
              <a:t>. </a:t>
            </a:r>
          </a:p>
          <a:p>
            <a:endParaRPr lang="en-US" dirty="0"/>
          </a:p>
          <a:p>
            <a:r>
              <a:rPr lang="en-US" dirty="0" sz="2200"/>
              <a:t>Treatment A has a 90% survival rate</a:t>
            </a:r>
          </a:p>
          <a:p>
            <a:r>
              <a:rPr lang="en-US" dirty="0" sz="2200"/>
              <a:t>Treatment A has a 10% mortality rate</a:t>
            </a:r>
          </a:p>
        </p:txBody>
      </p:sp>
    </p:spTree>
    <p:extLst>
      <p:ext uri="{BB962C8B-B14F-4D97-AF65-F5344CB8AC3E}">
        <p14:creationId xmlns:p14="http://schemas.microsoft.com/office/powerpoint/2010/main" val="22784372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FF379-2218-ABAB-25FB-C7DAF117C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D0926-4C2A-BE82-7ABD-D8233C7EAEFD}"/>
              </a:ext>
            </a:extLst>
          </p:cNvPr>
          <p:cNvSpPr>
            <a:spLocks noGrp="1"/>
          </p:cNvSpPr>
          <p:nvPr>
            <p:ph type="title"/>
          </p:nvPr>
        </p:nvSpPr>
        <p:spPr/>
        <p:txBody>
          <a:bodyPr anchor="ctr">
            <a:normAutofit/>
          </a:bodyPr>
          <a:lstStyle/>
          <a:p>
            <a:r>
              <a:rPr lang="en-PH" dirty="0"/>
              <a:t>Cognitive Load</a:t>
            </a:r>
            <a:endParaRPr dirty="0"/>
          </a:p>
        </p:txBody>
      </p:sp>
      <p:pic>
        <p:nvPicPr>
          <p:cNvPr id="5" name="Picture 4" descr="A screenshot of a computer&#10;&#10;AI-generated content may be incorrect.">
            <a:extLst>
              <a:ext uri="{FF2B5EF4-FFF2-40B4-BE49-F238E27FC236}">
                <a16:creationId xmlns:a16="http://schemas.microsoft.com/office/drawing/2014/main" id="{568B547B-7280-5250-AE8F-D6D89DF125A8}"/>
              </a:ext>
            </a:extLst>
          </p:cNvPr>
          <p:cNvPicPr preferRelativeResize="0">
            <a:picLocks/>
          </p:cNvPicPr>
          <p:nvPr/>
        </p:nvPicPr>
        <p:blipFill>
          <a:blip r:embed="rId3"/>
          <a:stretch>
            <a:fillRect/>
          </a:stretch>
        </p:blipFill>
        <p:spPr>
          <a:xfrm>
            <a:off x="609600" y="1494665"/>
            <a:ext cx="36324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6" name="Picture 2" descr="Psychology of Netflix: 4 Reasons You Can't Stop Watching Netflix">
            <a:extLst>
              <a:ext uri="{FF2B5EF4-FFF2-40B4-BE49-F238E27FC236}">
                <a16:creationId xmlns:a16="http://schemas.microsoft.com/office/drawing/2014/main" id="{416AC9EE-7FB6-0B4B-FC80-27074BB6F4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08280" y="3875000"/>
            <a:ext cx="6789871" cy="27083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implify to Delight: Reducing Cognitive Load for a Better UX">
            <a:extLst>
              <a:ext uri="{FF2B5EF4-FFF2-40B4-BE49-F238E27FC236}">
                <a16:creationId xmlns:a16="http://schemas.microsoft.com/office/drawing/2014/main" id="{80A2EBD9-CA5D-01B9-8DA7-0DB7F7FEB06D}"/>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1806" l="10000" r="90000">
                        <a14:foregroundMark x1="32734" y1="91806" x2="34375" y2="78889"/>
                        <a14:foregroundMark x1="57266" y1="91528" x2="59375" y2="36667"/>
                        <a14:foregroundMark x1="59375" y1="36667" x2="59375" y2="36667"/>
                        <a14:foregroundMark x1="62109" y1="15972" x2="62109" y2="15972"/>
                        <a14:foregroundMark x1="36875" y1="14028" x2="36875" y2="14028"/>
                      </a14:backgroundRemoval>
                    </a14:imgEffect>
                  </a14:imgLayer>
                </a14:imgProps>
              </a:ext>
              <a:ext uri="{28A0092B-C50C-407E-A947-70E740481C1C}">
                <a14:useLocalDpi xmlns:a14="http://schemas.microsoft.com/office/drawing/2010/main" val="0"/>
              </a:ext>
            </a:extLst>
          </a:blip>
          <a:srcRect l="26250" t="8967" r="24375"/>
          <a:stretch>
            <a:fillRect/>
          </a:stretch>
        </p:blipFill>
        <p:spPr bwMode="auto">
          <a:xfrm>
            <a:off x="5784900" y="1017184"/>
            <a:ext cx="5367120" cy="55661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600E710-620F-2168-118E-ACDA580C902B}"/>
              </a:ext>
            </a:extLst>
          </p:cNvPr>
          <p:cNvSpPr txBox="1"/>
          <p:nvPr/>
        </p:nvSpPr>
        <p:spPr>
          <a:xfrm>
            <a:off x="9544050" y="1232972"/>
            <a:ext cx="428190" cy="369332"/>
          </a:xfrm>
          <a:prstGeom prst="rect">
            <a:avLst/>
          </a:prstGeom>
          <a:noFill/>
        </p:spPr>
        <p:txBody>
          <a:bodyPr wrap="square">
            <a:spAutoFit/>
          </a:bodyPr>
          <a:lstStyle/>
          <a:p>
            <a:r>
              <a:rPr lang="en-PH" b="1" dirty="0">
                <a:solidFill>
                  <a:srgbClr val="00B050"/>
                </a:solidFill>
                <a:latin typeface="Bebas Neue" panose="020B0606020202050201" pitchFamily="34" charset="0"/>
                <a:sym typeface="Wingdings" panose="05000000000000000000" pitchFamily="2" charset="2"/>
              </a:rPr>
              <a:t></a:t>
            </a:r>
            <a:endParaRPr lang="en-PH" b="1" dirty="0">
              <a:solidFill>
                <a:srgbClr val="00B050"/>
              </a:solidFill>
              <a:latin typeface="Bebas Neue" panose="020B0606020202050201" pitchFamily="34" charset="0"/>
            </a:endParaRPr>
          </a:p>
        </p:txBody>
      </p:sp>
      <p:sp>
        <p:nvSpPr>
          <p:cNvPr id="6" name="TextBox 5">
            <a:extLst>
              <a:ext uri="{FF2B5EF4-FFF2-40B4-BE49-F238E27FC236}">
                <a16:creationId xmlns:a16="http://schemas.microsoft.com/office/drawing/2014/main" id="{2DDE705E-E58F-DCB8-B23C-46A4D1E3E14A}"/>
              </a:ext>
            </a:extLst>
          </p:cNvPr>
          <p:cNvSpPr txBox="1"/>
          <p:nvPr/>
        </p:nvSpPr>
        <p:spPr>
          <a:xfrm>
            <a:off x="6904815" y="1200706"/>
            <a:ext cx="428190" cy="369332"/>
          </a:xfrm>
          <a:prstGeom prst="rect">
            <a:avLst/>
          </a:prstGeom>
          <a:noFill/>
        </p:spPr>
        <p:txBody>
          <a:bodyPr wrap="square">
            <a:spAutoFit/>
          </a:bodyPr>
          <a:lstStyle/>
          <a:p>
            <a:r>
              <a:rPr lang="en-PH" b="1" dirty="0">
                <a:solidFill>
                  <a:srgbClr val="00B050"/>
                </a:solidFill>
                <a:latin typeface="Bebas Neue" panose="020B0606020202050201" pitchFamily="34" charset="0"/>
              </a:rPr>
              <a:t>X</a:t>
            </a:r>
          </a:p>
        </p:txBody>
      </p:sp>
    </p:spTree>
    <p:extLst>
      <p:ext uri="{BB962C8B-B14F-4D97-AF65-F5344CB8AC3E}">
        <p14:creationId xmlns:p14="http://schemas.microsoft.com/office/powerpoint/2010/main" val="104701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96AC8-11E8-4357-C4C9-C37094902B8D}"/>
              </a:ext>
            </a:extLst>
          </p:cNvPr>
          <p:cNvSpPr>
            <a:spLocks noGrp="1"/>
          </p:cNvSpPr>
          <p:nvPr>
            <p:ph type="title"/>
          </p:nvPr>
        </p:nvSpPr>
        <p:spPr/>
        <p:txBody>
          <a:bodyPr/>
          <a:lstStyle/>
          <a:p>
            <a:r>
              <a:rPr lang="en-PH" dirty="0"/>
              <a:t>Reducing Cognitive Load: What to Do</a:t>
            </a:r>
          </a:p>
        </p:txBody>
      </p:sp>
      <p:sp>
        <p:nvSpPr>
          <p:cNvPr id="3" name="Content Placeholder 2">
            <a:extLst>
              <a:ext uri="{FF2B5EF4-FFF2-40B4-BE49-F238E27FC236}">
                <a16:creationId xmlns:a16="http://schemas.microsoft.com/office/drawing/2014/main" id="{82E76DC6-80BF-49CF-2D05-ABE410C8729D}"/>
              </a:ext>
            </a:extLst>
          </p:cNvPr>
          <p:cNvSpPr>
            <a:spLocks noGrp="1"/>
          </p:cNvSpPr>
          <p:nvPr>
            <p:ph idx="1"/>
          </p:nvPr>
        </p:nvSpPr>
        <p:spPr/>
        <p:txBody>
          <a:bodyPr>
            <a:normAutofit fontScale="92500"/>
          </a:bodyPr>
          <a:lstStyle/>
          <a:p>
            <a:r>
              <a:rPr lang="en-US" b="1" dirty="0"/>
              <a:t>Reduce Visual Clutter:</a:t>
            </a:r>
            <a:r>
              <a:rPr lang="en-US" dirty="0"/>
              <a:t> Remove </a:t>
            </a:r>
            <a:r>
              <a:rPr lang="en-US" dirty="0">
                <a:solidFill>
                  <a:srgbClr val="FF0000"/>
                </a:solidFill>
              </a:rPr>
              <a:t>unnecessary elements </a:t>
            </a:r>
            <a:r>
              <a:rPr lang="en-US" dirty="0"/>
              <a:t>to prevent distraction.</a:t>
            </a:r>
          </a:p>
          <a:p>
            <a:r>
              <a:rPr lang="en-US" b="1" dirty="0"/>
              <a:t>Use Existing Mental Models:</a:t>
            </a:r>
            <a:r>
              <a:rPr lang="en-US" dirty="0"/>
              <a:t> Follow conventions like placing search bars at the top right or </a:t>
            </a:r>
            <a:r>
              <a:rPr lang="en-US" dirty="0">
                <a:solidFill>
                  <a:srgbClr val="FF0000"/>
                </a:solidFill>
              </a:rPr>
              <a:t>using familiar icons.</a:t>
            </a:r>
          </a:p>
          <a:p>
            <a:r>
              <a:rPr lang="en-US" b="1" dirty="0"/>
              <a:t>Chunk Information:</a:t>
            </a:r>
            <a:r>
              <a:rPr lang="en-US" dirty="0"/>
              <a:t> Break down long forms or large amounts of text into smaller, manageable sections.</a:t>
            </a:r>
          </a:p>
          <a:p>
            <a:r>
              <a:rPr lang="en-US" b="1" dirty="0"/>
              <a:t>Offload Tasks:</a:t>
            </a:r>
            <a:r>
              <a:rPr lang="en-US" dirty="0"/>
              <a:t> Allow the system to remember information (e.g., </a:t>
            </a:r>
            <a:r>
              <a:rPr lang="en-US" b="1" dirty="0">
                <a:solidFill>
                  <a:srgbClr val="FF0000"/>
                </a:solidFill>
              </a:rPr>
              <a:t>autofill, remembering login sessions</a:t>
            </a:r>
            <a:r>
              <a:rPr lang="en-US" dirty="0"/>
              <a:t>). </a:t>
            </a:r>
          </a:p>
          <a:p>
            <a:endParaRPr lang="en-PH" dirty="0"/>
          </a:p>
        </p:txBody>
      </p:sp>
    </p:spTree>
    <p:extLst>
      <p:ext uri="{BB962C8B-B14F-4D97-AF65-F5344CB8AC3E}">
        <p14:creationId xmlns:p14="http://schemas.microsoft.com/office/powerpoint/2010/main" val="25338204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B694D-6CFF-8DA6-D932-A51F3B064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F8FB1-F6DC-C512-CC7D-177EAD5FF81B}"/>
              </a:ext>
            </a:extLst>
          </p:cNvPr>
          <p:cNvSpPr>
            <a:spLocks noGrp="1"/>
          </p:cNvSpPr>
          <p:nvPr>
            <p:ph type="title"/>
          </p:nvPr>
        </p:nvSpPr>
        <p:spPr/>
        <p:txBody>
          <a:bodyPr anchor="ctr">
            <a:normAutofit/>
          </a:bodyPr>
          <a:lstStyle/>
          <a:p>
            <a:r>
              <a:rPr lang="en-PH" dirty="0"/>
              <a:t>Cognitive Load</a:t>
            </a:r>
            <a:endParaRPr dirty="0"/>
          </a:p>
        </p:txBody>
      </p:sp>
      <p:pic>
        <p:nvPicPr>
          <p:cNvPr id="5" name="Picture 4" descr="A screenshot of a computer&#10;&#10;AI-generated content may be incorrect.">
            <a:extLst>
              <a:ext uri="{FF2B5EF4-FFF2-40B4-BE49-F238E27FC236}">
                <a16:creationId xmlns:a16="http://schemas.microsoft.com/office/drawing/2014/main" id="{76400667-C1A0-3BCE-D323-97C03F19A7FB}"/>
              </a:ext>
            </a:extLst>
          </p:cNvPr>
          <p:cNvPicPr preferRelativeResize="0">
            <a:picLocks/>
          </p:cNvPicPr>
          <p:nvPr/>
        </p:nvPicPr>
        <p:blipFill>
          <a:blip r:embed="rId3"/>
          <a:stretch>
            <a:fillRect/>
          </a:stretch>
        </p:blipFill>
        <p:spPr>
          <a:xfrm>
            <a:off x="609600" y="1494665"/>
            <a:ext cx="36324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6" name="Picture 2" descr="Psychology of Netflix: 4 Reasons You Can't Stop Watching Netflix">
            <a:extLst>
              <a:ext uri="{FF2B5EF4-FFF2-40B4-BE49-F238E27FC236}">
                <a16:creationId xmlns:a16="http://schemas.microsoft.com/office/drawing/2014/main" id="{4540A4AC-31C6-7453-2845-D9B5067643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08280" y="3875000"/>
            <a:ext cx="6789871" cy="27083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implify to Delight: Reducing Cognitive Load for a Better UX">
            <a:extLst>
              <a:ext uri="{FF2B5EF4-FFF2-40B4-BE49-F238E27FC236}">
                <a16:creationId xmlns:a16="http://schemas.microsoft.com/office/drawing/2014/main" id="{9B5FD71B-2941-5ECD-11C0-A3B1EA0DBF76}"/>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1806" l="10000" r="90000">
                        <a14:foregroundMark x1="32734" y1="91806" x2="34375" y2="78889"/>
                        <a14:foregroundMark x1="57266" y1="91528" x2="59375" y2="36667"/>
                        <a14:foregroundMark x1="59375" y1="36667" x2="59375" y2="36667"/>
                        <a14:foregroundMark x1="62109" y1="15972" x2="62109" y2="15972"/>
                        <a14:foregroundMark x1="36875" y1="14028" x2="36875" y2="14028"/>
                      </a14:backgroundRemoval>
                    </a14:imgEffect>
                  </a14:imgLayer>
                </a14:imgProps>
              </a:ext>
              <a:ext uri="{28A0092B-C50C-407E-A947-70E740481C1C}">
                <a14:useLocalDpi xmlns:a14="http://schemas.microsoft.com/office/drawing/2010/main" val="0"/>
              </a:ext>
            </a:extLst>
          </a:blip>
          <a:srcRect l="26250" t="8967" r="24375"/>
          <a:stretch>
            <a:fillRect/>
          </a:stretch>
        </p:blipFill>
        <p:spPr bwMode="auto">
          <a:xfrm>
            <a:off x="5784900" y="1017184"/>
            <a:ext cx="5367120" cy="55661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DE5E9E-223C-688A-5B06-7E5FBC2A214A}"/>
              </a:ext>
            </a:extLst>
          </p:cNvPr>
          <p:cNvSpPr txBox="1"/>
          <p:nvPr/>
        </p:nvSpPr>
        <p:spPr>
          <a:xfrm>
            <a:off x="9544050" y="1232972"/>
            <a:ext cx="428190" cy="369332"/>
          </a:xfrm>
          <a:prstGeom prst="rect">
            <a:avLst/>
          </a:prstGeom>
          <a:noFill/>
        </p:spPr>
        <p:txBody>
          <a:bodyPr wrap="square">
            <a:spAutoFit/>
          </a:bodyPr>
          <a:lstStyle/>
          <a:p>
            <a:r>
              <a:rPr lang="en-PH" b="1" dirty="0">
                <a:solidFill>
                  <a:srgbClr val="00B050"/>
                </a:solidFill>
                <a:latin typeface="Bebas Neue" panose="020B0606020202050201" pitchFamily="34" charset="0"/>
                <a:sym typeface="Wingdings" panose="05000000000000000000" pitchFamily="2" charset="2"/>
              </a:rPr>
              <a:t></a:t>
            </a:r>
            <a:endParaRPr lang="en-PH" b="1" dirty="0">
              <a:solidFill>
                <a:srgbClr val="00B050"/>
              </a:solidFill>
              <a:latin typeface="Bebas Neue" panose="020B0606020202050201" pitchFamily="34" charset="0"/>
            </a:endParaRPr>
          </a:p>
        </p:txBody>
      </p:sp>
      <p:sp>
        <p:nvSpPr>
          <p:cNvPr id="6" name="TextBox 5">
            <a:extLst>
              <a:ext uri="{FF2B5EF4-FFF2-40B4-BE49-F238E27FC236}">
                <a16:creationId xmlns:a16="http://schemas.microsoft.com/office/drawing/2014/main" id="{B3E3213D-248E-46CD-5CCC-0E0185C79BCD}"/>
              </a:ext>
            </a:extLst>
          </p:cNvPr>
          <p:cNvSpPr txBox="1"/>
          <p:nvPr/>
        </p:nvSpPr>
        <p:spPr>
          <a:xfrm>
            <a:off x="6904815" y="1200706"/>
            <a:ext cx="428190" cy="369332"/>
          </a:xfrm>
          <a:prstGeom prst="rect">
            <a:avLst/>
          </a:prstGeom>
          <a:noFill/>
        </p:spPr>
        <p:txBody>
          <a:bodyPr wrap="square">
            <a:spAutoFit/>
          </a:bodyPr>
          <a:lstStyle/>
          <a:p>
            <a:r>
              <a:rPr lang="en-PH" b="1" dirty="0">
                <a:solidFill>
                  <a:srgbClr val="00B050"/>
                </a:solidFill>
                <a:latin typeface="Bebas Neue" panose="020B0606020202050201" pitchFamily="34" charset="0"/>
              </a:rPr>
              <a:t>X</a:t>
            </a:r>
          </a:p>
        </p:txBody>
      </p:sp>
    </p:spTree>
    <p:extLst>
      <p:ext uri="{BB962C8B-B14F-4D97-AF65-F5344CB8AC3E}">
        <p14:creationId xmlns:p14="http://schemas.microsoft.com/office/powerpoint/2010/main" val="246451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8A57D-0C8E-B0C9-197D-20A1326A4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4EC4A5-8176-14EF-BFB2-416CCE560E43}"/>
              </a:ext>
            </a:extLst>
          </p:cNvPr>
          <p:cNvSpPr>
            <a:spLocks noGrp="1"/>
          </p:cNvSpPr>
          <p:nvPr>
            <p:ph type="title"/>
          </p:nvPr>
        </p:nvSpPr>
        <p:spPr/>
        <p:txBody>
          <a:bodyPr anchor="ctr">
            <a:normAutofit/>
          </a:bodyPr>
          <a:lstStyle/>
          <a:p>
            <a:r>
              <a:rPr lang="en-PH" dirty="0"/>
              <a:t>Doherty Threshold</a:t>
            </a:r>
            <a:endParaRPr dirty="0"/>
          </a:p>
        </p:txBody>
      </p:sp>
      <p:pic>
        <p:nvPicPr>
          <p:cNvPr id="4" name="Picture 3" descr="A purple and white circle with black text&#10;&#10;AI-generated content may be incorrect.">
            <a:extLst>
              <a:ext uri="{FF2B5EF4-FFF2-40B4-BE49-F238E27FC236}">
                <a16:creationId xmlns:a16="http://schemas.microsoft.com/office/drawing/2014/main" id="{F84AD507-A4B8-928A-FCB8-B701450C0224}"/>
              </a:ext>
            </a:extLst>
          </p:cNvPr>
          <p:cNvPicPr preferRelativeResize="0">
            <a:picLocks/>
          </p:cNvPicPr>
          <p:nvPr/>
        </p:nvPicPr>
        <p:blipFill>
          <a:blip r:embed="rId3"/>
          <a:stretch>
            <a:fillRect/>
          </a:stretch>
        </p:blipFill>
        <p:spPr>
          <a:xfrm>
            <a:off x="403123" y="1665355"/>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50" name="Picture 2" descr="Triggering Google Suggests With Search Box Optimization">
            <a:extLst>
              <a:ext uri="{FF2B5EF4-FFF2-40B4-BE49-F238E27FC236}">
                <a16:creationId xmlns:a16="http://schemas.microsoft.com/office/drawing/2014/main" id="{4B736F36-DB08-1417-1A3D-ACB11B6EA4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5320" y="1251646"/>
            <a:ext cx="7117080" cy="5331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65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3761D-0636-41DB-00B4-1A4E262E8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1F0174-77C3-6945-A500-3C2EAC7D3CC2}"/>
              </a:ext>
            </a:extLst>
          </p:cNvPr>
          <p:cNvSpPr>
            <a:spLocks noGrp="1"/>
          </p:cNvSpPr>
          <p:nvPr>
            <p:ph type="title"/>
          </p:nvPr>
        </p:nvSpPr>
        <p:spPr/>
        <p:txBody>
          <a:bodyPr anchor="ctr">
            <a:normAutofit/>
          </a:bodyPr>
          <a:lstStyle/>
          <a:p>
            <a:r>
              <a:rPr lang="en-PH" dirty="0"/>
              <a:t>Doherty Threshold</a:t>
            </a:r>
            <a:endParaRPr dirty="0"/>
          </a:p>
        </p:txBody>
      </p:sp>
      <p:pic>
        <p:nvPicPr>
          <p:cNvPr id="4" name="Picture 3" descr="A purple and white circle with black text&#10;&#10;AI-generated content may be incorrect.">
            <a:extLst>
              <a:ext uri="{FF2B5EF4-FFF2-40B4-BE49-F238E27FC236}">
                <a16:creationId xmlns:a16="http://schemas.microsoft.com/office/drawing/2014/main" id="{7F6D169B-1C25-0282-49E0-905E6E1CAF0C}"/>
              </a:ext>
            </a:extLst>
          </p:cNvPr>
          <p:cNvPicPr preferRelativeResize="0">
            <a:picLocks/>
          </p:cNvPicPr>
          <p:nvPr/>
        </p:nvPicPr>
        <p:blipFill>
          <a:blip r:embed="rId3"/>
          <a:stretch>
            <a:fillRect/>
          </a:stretch>
        </p:blipFill>
        <p:spPr>
          <a:xfrm>
            <a:off x="403123" y="1665355"/>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C36FC859-679D-6823-9D16-6C30FCA3CD79}"/>
              </a:ext>
            </a:extLst>
          </p:cNvPr>
          <p:cNvPicPr>
            <a:picLocks noChangeAspect="1"/>
          </p:cNvPicPr>
          <p:nvPr/>
        </p:nvPicPr>
        <p:blipFill>
          <a:blip r:embed="rId4"/>
          <a:stretch>
            <a:fillRect/>
          </a:stretch>
        </p:blipFill>
        <p:spPr>
          <a:xfrm>
            <a:off x="4796950" y="1665355"/>
            <a:ext cx="6331200" cy="4748400"/>
          </a:xfrm>
          <a:prstGeom prst="rect">
            <a:avLst/>
          </a:prstGeom>
        </p:spPr>
      </p:pic>
    </p:spTree>
    <p:extLst>
      <p:ext uri="{BB962C8B-B14F-4D97-AF65-F5344CB8AC3E}">
        <p14:creationId xmlns:p14="http://schemas.microsoft.com/office/powerpoint/2010/main" val="26197891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67737-EAC5-EE21-F8FD-A2FA8639A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0A456-A70D-0613-4C4F-3F4563FBA599}"/>
              </a:ext>
            </a:extLst>
          </p:cNvPr>
          <p:cNvSpPr>
            <a:spLocks noGrp="1"/>
          </p:cNvSpPr>
          <p:nvPr>
            <p:ph type="title"/>
          </p:nvPr>
        </p:nvSpPr>
        <p:spPr/>
        <p:txBody>
          <a:bodyPr anchor="ctr">
            <a:normAutofit/>
          </a:bodyPr>
          <a:lstStyle/>
          <a:p>
            <a:r>
              <a:rPr lang="en-PH" dirty="0"/>
              <a:t>Doherty Threshold</a:t>
            </a:r>
            <a:endParaRPr dirty="0"/>
          </a:p>
        </p:txBody>
      </p:sp>
      <p:pic>
        <p:nvPicPr>
          <p:cNvPr id="4" name="Picture 3" descr="A purple and white circle with black text&#10;&#10;AI-generated content may be incorrect.">
            <a:extLst>
              <a:ext uri="{FF2B5EF4-FFF2-40B4-BE49-F238E27FC236}">
                <a16:creationId xmlns:a16="http://schemas.microsoft.com/office/drawing/2014/main" id="{E17CEDC7-03A7-E00B-9E9A-A58B7C3433BA}"/>
              </a:ext>
            </a:extLst>
          </p:cNvPr>
          <p:cNvPicPr preferRelativeResize="0">
            <a:picLocks/>
          </p:cNvPicPr>
          <p:nvPr/>
        </p:nvPicPr>
        <p:blipFill>
          <a:blip r:embed="rId3"/>
          <a:stretch>
            <a:fillRect/>
          </a:stretch>
        </p:blipFill>
        <p:spPr>
          <a:xfrm>
            <a:off x="403123" y="1665355"/>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6" name="Picture 2">
            <a:extLst>
              <a:ext uri="{FF2B5EF4-FFF2-40B4-BE49-F238E27FC236}">
                <a16:creationId xmlns:a16="http://schemas.microsoft.com/office/drawing/2014/main" id="{71102745-207A-B04F-F462-848CC307F1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1200" y="1838324"/>
            <a:ext cx="7061200"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3449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22800-5B38-E323-C082-4622EBA66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2D0DA-B96F-2457-E8BB-3F269ECDCF1B}"/>
              </a:ext>
            </a:extLst>
          </p:cNvPr>
          <p:cNvSpPr>
            <a:spLocks noGrp="1"/>
          </p:cNvSpPr>
          <p:nvPr>
            <p:ph type="title"/>
          </p:nvPr>
        </p:nvSpPr>
        <p:spPr/>
        <p:txBody>
          <a:bodyPr anchor="ctr">
            <a:normAutofit/>
          </a:bodyPr>
          <a:lstStyle/>
          <a:p>
            <a:r>
              <a:rPr lang="en-PH" dirty="0"/>
              <a:t>Doherty Threshold</a:t>
            </a:r>
            <a:endParaRPr dirty="0"/>
          </a:p>
        </p:txBody>
      </p:sp>
      <p:pic>
        <p:nvPicPr>
          <p:cNvPr id="4" name="Picture 3" descr="A purple and white circle with black text&#10;&#10;AI-generated content may be incorrect.">
            <a:extLst>
              <a:ext uri="{FF2B5EF4-FFF2-40B4-BE49-F238E27FC236}">
                <a16:creationId xmlns:a16="http://schemas.microsoft.com/office/drawing/2014/main" id="{9D485B19-8BE7-96FA-88E8-623B7CAAE50F}"/>
              </a:ext>
            </a:extLst>
          </p:cNvPr>
          <p:cNvPicPr preferRelativeResize="0">
            <a:picLocks/>
          </p:cNvPicPr>
          <p:nvPr/>
        </p:nvPicPr>
        <p:blipFill>
          <a:blip r:embed="rId3"/>
          <a:stretch>
            <a:fillRect/>
          </a:stretch>
        </p:blipFill>
        <p:spPr>
          <a:xfrm>
            <a:off x="403123" y="1665355"/>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50" name="Picture 2">
            <a:extLst>
              <a:ext uri="{FF2B5EF4-FFF2-40B4-BE49-F238E27FC236}">
                <a16:creationId xmlns:a16="http://schemas.microsoft.com/office/drawing/2014/main" id="{BF273941-E4EC-C46B-B601-2460887A84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2376" y="3657599"/>
            <a:ext cx="7855405" cy="2487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1302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CCA44-D707-DE27-8B5B-93AA0FA0B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1B01A-0A8C-5A70-A659-84EE2C25CAD5}"/>
              </a:ext>
            </a:extLst>
          </p:cNvPr>
          <p:cNvSpPr>
            <a:spLocks noGrp="1"/>
          </p:cNvSpPr>
          <p:nvPr>
            <p:ph type="title"/>
          </p:nvPr>
        </p:nvSpPr>
        <p:spPr/>
        <p:txBody>
          <a:bodyPr anchor="ctr">
            <a:normAutofit/>
          </a:bodyPr>
          <a:lstStyle/>
          <a:p>
            <a:r>
              <a:rPr lang="en-PH" dirty="0"/>
              <a:t>Doherty Threshold</a:t>
            </a:r>
            <a:endParaRPr dirty="0"/>
          </a:p>
        </p:txBody>
      </p:sp>
      <p:pic>
        <p:nvPicPr>
          <p:cNvPr id="4" name="Picture 3" descr="A purple and white circle with black text&#10;&#10;AI-generated content may be incorrect.">
            <a:extLst>
              <a:ext uri="{FF2B5EF4-FFF2-40B4-BE49-F238E27FC236}">
                <a16:creationId xmlns:a16="http://schemas.microsoft.com/office/drawing/2014/main" id="{2BDE849B-20AA-B70B-86E9-69593531974F}"/>
              </a:ext>
            </a:extLst>
          </p:cNvPr>
          <p:cNvPicPr preferRelativeResize="0">
            <a:picLocks/>
          </p:cNvPicPr>
          <p:nvPr/>
        </p:nvPicPr>
        <p:blipFill>
          <a:blip r:embed="rId3"/>
          <a:stretch>
            <a:fillRect/>
          </a:stretch>
        </p:blipFill>
        <p:spPr>
          <a:xfrm>
            <a:off x="403123" y="1665355"/>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CA8BC208-E745-6A64-581D-11B557251E45}"/>
              </a:ext>
            </a:extLst>
          </p:cNvPr>
          <p:cNvPicPr>
            <a:picLocks noChangeAspect="1"/>
          </p:cNvPicPr>
          <p:nvPr/>
        </p:nvPicPr>
        <p:blipFill>
          <a:blip r:embed="rId4"/>
          <a:stretch>
            <a:fillRect/>
          </a:stretch>
        </p:blipFill>
        <p:spPr>
          <a:xfrm>
            <a:off x="5074666" y="4811989"/>
            <a:ext cx="5852667" cy="929721"/>
          </a:xfrm>
          <a:prstGeom prst="rect">
            <a:avLst/>
          </a:prstGeom>
        </p:spPr>
      </p:pic>
    </p:spTree>
    <p:extLst>
      <p:ext uri="{BB962C8B-B14F-4D97-AF65-F5344CB8AC3E}">
        <p14:creationId xmlns:p14="http://schemas.microsoft.com/office/powerpoint/2010/main" val="29560573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CCA44-D707-DE27-8B5B-93AA0FA0B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1B01A-0A8C-5A70-A659-84EE2C25CAD5}"/>
              </a:ext>
            </a:extLst>
          </p:cNvPr>
          <p:cNvSpPr>
            <a:spLocks noGrp="1"/>
          </p:cNvSpPr>
          <p:nvPr>
            <p:ph type="title"/>
          </p:nvPr>
        </p:nvSpPr>
        <p:spPr/>
        <p:txBody>
          <a:bodyPr anchor="ctr">
            <a:normAutofit/>
          </a:bodyPr>
          <a:lstStyle/>
          <a:p>
            <a:r>
              <a:rPr lang="en-PH" dirty="0"/>
              <a:t>Doherty Threshold</a:t>
            </a:r>
            <a:endParaRPr dirty="0"/>
          </a:p>
        </p:txBody>
      </p:sp>
      <p:pic>
        <p:nvPicPr>
          <p:cNvPr id="4" name="Picture 3" descr="A purple and white circle with black text&#10;&#10;AI-generated content may be incorrect.">
            <a:extLst>
              <a:ext uri="{FF2B5EF4-FFF2-40B4-BE49-F238E27FC236}">
                <a16:creationId xmlns:a16="http://schemas.microsoft.com/office/drawing/2014/main" id="{2BDE849B-20AA-B70B-86E9-69593531974F}"/>
              </a:ext>
            </a:extLst>
          </p:cNvPr>
          <p:cNvPicPr preferRelativeResize="0">
            <a:picLocks/>
          </p:cNvPicPr>
          <p:nvPr/>
        </p:nvPicPr>
        <p:blipFill>
          <a:blip r:embed="rId3"/>
          <a:stretch>
            <a:fillRect/>
          </a:stretch>
        </p:blipFill>
        <p:spPr>
          <a:xfrm>
            <a:off x="403123" y="1665355"/>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ounded Rectangle 4"/>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82312" y="1444752"/>
            <a:ext cx="2276856" cy="4791456"/>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9" name="Oval 8"/>
          <p:cNvSpPr/>
          <p:nvPr/>
        </p:nvSpPr>
        <p:spPr>
          <a:xfrm>
            <a:off x="4919472" y="1755648"/>
            <a:ext cx="310896" cy="310896"/>
          </a:xfrm>
          <a:prstGeom prst="ellipse">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12664" y="1755648"/>
            <a:ext cx="1371600" cy="164592"/>
          </a:xfrm>
          <a:prstGeom prst="rect">
            <a:avLst/>
          </a:prstGeom>
          <a:noFill/>
        </p:spPr>
        <p:txBody>
          <a:bodyPr wrap="square" lIns="0" rIns="0" tIns="0" bIns="0" anchor="t">
            <a:spAutoFit/>
          </a:bodyPr>
          <a:lstStyle/>
          <a:p>
            <a:pPr algn="l"/>
            <a:r>
              <a:rPr sz="900" b="1" i="0">
                <a:solidFill>
                  <a:srgbClr val="222222"/>
                </a:solidFill>
                <a:latin typeface="Arial"/>
              </a:rPr>
              <a:t>Bea</a:t>
            </a:r>
          </a:p>
        </p:txBody>
      </p:sp>
      <p:sp>
        <p:nvSpPr>
          <p:cNvPr id="11" name="TextBox 10"/>
          <p:cNvSpPr txBox="1"/>
          <p:nvPr/>
        </p:nvSpPr>
        <p:spPr>
          <a:xfrm>
            <a:off x="5312664" y="1920240"/>
            <a:ext cx="1371600" cy="146304"/>
          </a:xfrm>
          <a:prstGeom prst="rect">
            <a:avLst/>
          </a:prstGeom>
          <a:noFill/>
        </p:spPr>
        <p:txBody>
          <a:bodyPr wrap="square" lIns="0" rIns="0" tIns="0" bIns="0" anchor="t">
            <a:spAutoFit/>
          </a:bodyPr>
          <a:lstStyle/>
          <a:p>
            <a:pPr algn="l"/>
            <a:r>
              <a:rPr sz="700" b="0" i="0">
                <a:solidFill>
                  <a:srgbClr val="7F7F7F"/>
                </a:solidFill>
                <a:latin typeface="Arial"/>
              </a:rPr>
              <a:t>Active now</a:t>
            </a:r>
          </a:p>
        </p:txBody>
      </p:sp>
      <p:cxnSp>
        <p:nvCxnSpPr>
          <p:cNvPr id="12" name="Connector 11"/>
          <p:cNvCxnSpPr/>
          <p:nvPr/>
        </p:nvCxnSpPr>
        <p:spPr>
          <a:xfrm>
            <a:off x="4782312" y="2157984"/>
            <a:ext cx="2276856" cy="0"/>
          </a:xfrm>
          <a:prstGeom prst="line">
            <a:avLst/>
          </a:prstGeom>
          <a:ln w="9525">
            <a:solidFill>
              <a:srgbClr val="E4E6E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355640" y="2313432"/>
            <a:ext cx="1593799" cy="393192"/>
          </a:xfrm>
          <a:prstGeom prst="roundRect">
            <a:avLst>
              <a:gd name="adj" fmla="val 32000"/>
            </a:avLst>
          </a:prstGeom>
          <a:solidFill>
            <a:srgbClr val="008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l"/>
            <a:r>
              <a:rPr sz="850" b="0" i="0">
                <a:solidFill>
                  <a:srgbClr val="FFFFFF"/>
                </a:solidFill>
                <a:latin typeface="Arial"/>
              </a:rPr>
              <a:t>Quiz is on Thursday right?</a:t>
            </a:r>
          </a:p>
        </p:txBody>
      </p:sp>
      <p:sp>
        <p:nvSpPr>
          <p:cNvPr id="14" name="Rounded Rectangle 13"/>
          <p:cNvSpPr/>
          <p:nvPr/>
        </p:nvSpPr>
        <p:spPr>
          <a:xfrm>
            <a:off x="4892040" y="2816352"/>
            <a:ext cx="1207008" cy="256032"/>
          </a:xfrm>
          <a:prstGeom prst="roundRect">
            <a:avLst>
              <a:gd name="adj" fmla="val 50000"/>
            </a:avLst>
          </a:prstGeom>
          <a:solidFill>
            <a:srgbClr val="E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l"/>
            <a:r>
              <a:rPr sz="850" b="0" i="0">
                <a:solidFill>
                  <a:srgbClr val="111111"/>
                </a:solidFill>
                <a:latin typeface="Arial"/>
              </a:rPr>
              <a:t>Yup, Laws of UX</a:t>
            </a:r>
          </a:p>
        </p:txBody>
      </p:sp>
      <p:sp>
        <p:nvSpPr>
          <p:cNvPr id="15" name="Rounded Rectangle 14"/>
          <p:cNvSpPr/>
          <p:nvPr/>
        </p:nvSpPr>
        <p:spPr>
          <a:xfrm>
            <a:off x="4892040" y="3182112"/>
            <a:ext cx="1593799" cy="393192"/>
          </a:xfrm>
          <a:prstGeom prst="roundRect">
            <a:avLst>
              <a:gd name="adj" fmla="val 32000"/>
            </a:avLst>
          </a:prstGeom>
          <a:solidFill>
            <a:srgbClr val="E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l"/>
            <a:r>
              <a:rPr sz="850" b="0" i="0">
                <a:solidFill>
                  <a:srgbClr val="111111"/>
                </a:solidFill>
                <a:latin typeface="Arial"/>
              </a:rPr>
              <a:t>Free later? Review for the UX quiz?</a:t>
            </a:r>
          </a:p>
        </p:txBody>
      </p:sp>
      <p:sp>
        <p:nvSpPr>
          <p:cNvPr id="16" name="Rounded Rectangle 15"/>
          <p:cNvSpPr/>
          <p:nvPr/>
        </p:nvSpPr>
        <p:spPr>
          <a:xfrm>
            <a:off x="5493715" y="3685032"/>
            <a:ext cx="1455724" cy="256032"/>
          </a:xfrm>
          <a:prstGeom prst="roundRect">
            <a:avLst>
              <a:gd name="adj" fmla="val 50000"/>
            </a:avLst>
          </a:prstGeom>
          <a:solidFill>
            <a:srgbClr val="008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l"/>
            <a:r>
              <a:rPr sz="850" b="0" i="0">
                <a:solidFill>
                  <a:srgbClr val="FFFFFF"/>
                </a:solidFill>
                <a:latin typeface="Arial"/>
              </a:rPr>
              <a:t>Sure! Library at 3?</a:t>
            </a:r>
          </a:p>
        </p:txBody>
      </p:sp>
      <p:sp>
        <p:nvSpPr>
          <p:cNvPr id="17" name="TextBox 16"/>
          <p:cNvSpPr txBox="1"/>
          <p:nvPr/>
        </p:nvSpPr>
        <p:spPr>
          <a:xfrm>
            <a:off x="4965192" y="3977640"/>
            <a:ext cx="1984248" cy="137160"/>
          </a:xfrm>
          <a:prstGeom prst="rect">
            <a:avLst/>
          </a:prstGeom>
          <a:noFill/>
        </p:spPr>
        <p:txBody>
          <a:bodyPr wrap="square" lIns="0" rIns="0" tIns="0" bIns="0" anchor="t">
            <a:spAutoFit/>
          </a:bodyPr>
          <a:lstStyle/>
          <a:p>
            <a:pPr algn="r"/>
            <a:r>
              <a:rPr sz="700" b="0" i="0">
                <a:solidFill>
                  <a:srgbClr val="7F7F7F"/>
                </a:solidFill>
                <a:latin typeface="Arial"/>
              </a:rPr>
              <a:t>Sent</a:t>
            </a:r>
          </a:p>
        </p:txBody>
      </p:sp>
      <p:sp>
        <p:nvSpPr>
          <p:cNvPr id="18" name="Rounded Rectangle 17"/>
          <p:cNvSpPr/>
          <p:nvPr/>
        </p:nvSpPr>
        <p:spPr>
          <a:xfrm>
            <a:off x="4892040" y="4187952"/>
            <a:ext cx="566928" cy="274320"/>
          </a:xfrm>
          <a:prstGeom prst="roundRect">
            <a:avLst>
              <a:gd name="adj" fmla="val 50000"/>
            </a:avLst>
          </a:prstGeom>
          <a:solidFill>
            <a:srgbClr val="E9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010912" y="4288536"/>
            <a:ext cx="73152" cy="73152"/>
          </a:xfrm>
          <a:prstGeom prst="ellipse">
            <a:avLst/>
          </a:prstGeom>
          <a:solidFill>
            <a:srgbClr val="8A8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138928" y="4288536"/>
            <a:ext cx="73152" cy="73152"/>
          </a:xfrm>
          <a:prstGeom prst="ellipse">
            <a:avLst/>
          </a:prstGeom>
          <a:solidFill>
            <a:srgbClr val="8A8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266944" y="4288536"/>
            <a:ext cx="73152" cy="73152"/>
          </a:xfrm>
          <a:prstGeom prst="ellipse">
            <a:avLst/>
          </a:prstGeom>
          <a:solidFill>
            <a:srgbClr val="8A8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50408" y="4261104"/>
            <a:ext cx="1280160" cy="137160"/>
          </a:xfrm>
          <a:prstGeom prst="rect">
            <a:avLst/>
          </a:prstGeom>
          <a:noFill/>
        </p:spPr>
        <p:txBody>
          <a:bodyPr wrap="square" lIns="0" rIns="0" tIns="0" bIns="0" anchor="t">
            <a:spAutoFit/>
          </a:bodyPr>
          <a:lstStyle/>
          <a:p>
            <a:pPr algn="l"/>
            <a:r>
              <a:rPr sz="700" b="0" i="0">
                <a:solidFill>
                  <a:srgbClr val="7F7F7F"/>
                </a:solidFill>
                <a:latin typeface="Arial"/>
              </a:rPr>
              <a:t>Bea is typing…</a:t>
            </a:r>
          </a:p>
        </p:txBody>
      </p:sp>
      <p:sp>
        <p:nvSpPr>
          <p:cNvPr id="23" name="Rounded Rectangle 22"/>
          <p:cNvSpPr/>
          <p:nvPr/>
        </p:nvSpPr>
        <p:spPr>
          <a:xfrm>
            <a:off x="4919472" y="5797296"/>
            <a:ext cx="1709927" cy="292608"/>
          </a:xfrm>
          <a:prstGeom prst="roundRect">
            <a:avLst>
              <a:gd name="adj" fmla="val 50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r>
              <a:rPr sz="800" b="0" i="0">
                <a:solidFill>
                  <a:srgbClr val="7F7F7F"/>
                </a:solidFill>
                <a:latin typeface="Arial"/>
              </a:rPr>
              <a:t>Aa</a:t>
            </a:r>
          </a:p>
        </p:txBody>
      </p:sp>
      <p:sp>
        <p:nvSpPr>
          <p:cNvPr id="24" name="Isosceles Triangle 23"/>
          <p:cNvSpPr/>
          <p:nvPr/>
        </p:nvSpPr>
        <p:spPr>
          <a:xfrm rot="5400000">
            <a:off x="6711696" y="5853074"/>
            <a:ext cx="181051" cy="160934"/>
          </a:xfrm>
          <a:prstGeom prst="triangle">
            <a:avLst/>
          </a:prstGeom>
          <a:noFill/>
          <a:ln w="15875">
            <a:solidFill>
              <a:srgbClr val="008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0084FF"/>
                </a:solidFill>
                <a:latin typeface="Arial"/>
              </a:rPr>
              <a:t>EVERYDAY EXAMPLE  ·  MESSENGER</a:t>
            </a:r>
          </a:p>
        </p:txBody>
      </p:sp>
      <p:sp>
        <p:nvSpPr>
          <p:cNvPr id="26" name="TextBox 25"/>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It answers right away</a:t>
            </a:r>
          </a:p>
        </p:txBody>
      </p:sp>
      <p:sp>
        <p:nvSpPr>
          <p:cNvPr id="27" name="TextBox 26"/>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Your message shows up the moment you tap Send, and “Sent” follows a split second later.</a:t>
            </a:r>
          </a:p>
          <a:p>
            <a:pPr algn="l">
              <a:spcAft>
                <a:spcPts val="900"/>
              </a:spcAft>
            </a:pPr>
            <a:r>
              <a:rPr sz="1400" b="0" i="0">
                <a:solidFill>
                  <a:srgbClr val="333333"/>
                </a:solidFill>
                <a:latin typeface="Arial"/>
              </a:rPr>
              <a:t>The typing dots tell you a reply is coming, so waiting never feels like lag.</a:t>
            </a:r>
          </a:p>
        </p:txBody>
      </p:sp>
      <p:sp>
        <p:nvSpPr>
          <p:cNvPr id="28" name="TextBox 27"/>
          <p:cNvSpPr txBox="1"/>
          <p:nvPr/>
        </p:nvSpPr>
        <p:spPr>
          <a:xfrm>
            <a:off x="7452360" y="4709160"/>
            <a:ext cx="4206240" cy="228600"/>
          </a:xfrm>
          <a:prstGeom prst="rect">
            <a:avLst/>
          </a:prstGeom>
          <a:noFill/>
        </p:spPr>
        <p:txBody>
          <a:bodyPr wrap="square" lIns="0" rIns="0" tIns="0" bIns="0" anchor="t">
            <a:spAutoFit/>
          </a:bodyPr>
          <a:lstStyle/>
          <a:p>
            <a:pPr algn="l"/>
            <a:r>
              <a:rPr sz="1100" b="1" i="0">
                <a:solidFill>
                  <a:srgbClr val="002060"/>
                </a:solidFill>
                <a:latin typeface="Arial"/>
              </a:rPr>
              <a:t>How fast should an app respond?</a:t>
            </a:r>
          </a:p>
        </p:txBody>
      </p:sp>
      <p:sp>
        <p:nvSpPr>
          <p:cNvPr id="29" name="Rectangle 28"/>
          <p:cNvSpPr/>
          <p:nvPr/>
        </p:nvSpPr>
        <p:spPr>
          <a:xfrm>
            <a:off x="7452360" y="5074920"/>
            <a:ext cx="1152144" cy="182880"/>
          </a:xfrm>
          <a:prstGeom prst="rect">
            <a:avLst/>
          </a:prstGeom>
          <a:solidFill>
            <a:srgbClr val="2EB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5330952"/>
            <a:ext cx="1097280" cy="411480"/>
          </a:xfrm>
          <a:prstGeom prst="rect">
            <a:avLst/>
          </a:prstGeom>
          <a:noFill/>
        </p:spPr>
        <p:txBody>
          <a:bodyPr wrap="square" lIns="0" rIns="0" tIns="0" bIns="0" anchor="t">
            <a:spAutoFit/>
          </a:bodyPr>
          <a:lstStyle/>
          <a:p>
            <a:pPr algn="l"/>
            <a:r>
              <a:rPr sz="1000" b="0" i="0">
                <a:solidFill>
                  <a:srgbClr val="333333"/>
                </a:solidFill>
                <a:latin typeface="Arial"/>
              </a:rPr>
              <a:t>Under 0.4 s:</a:t>
            </a:r>
          </a:p>
          <a:p>
            <a:pPr algn="l"/>
            <a:r>
              <a:rPr sz="1000" b="0" i="0">
                <a:solidFill>
                  <a:srgbClr val="333333"/>
                </a:solidFill>
                <a:latin typeface="Arial"/>
              </a:rPr>
              <a:t>feels instant</a:t>
            </a:r>
          </a:p>
        </p:txBody>
      </p:sp>
      <p:sp>
        <p:nvSpPr>
          <p:cNvPr id="31" name="Rectangle 30"/>
          <p:cNvSpPr/>
          <p:nvPr/>
        </p:nvSpPr>
        <p:spPr>
          <a:xfrm>
            <a:off x="8641080" y="5074920"/>
            <a:ext cx="1152144" cy="18288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1080" y="5330952"/>
            <a:ext cx="1097280" cy="411480"/>
          </a:xfrm>
          <a:prstGeom prst="rect">
            <a:avLst/>
          </a:prstGeom>
          <a:noFill/>
        </p:spPr>
        <p:txBody>
          <a:bodyPr wrap="square" lIns="0" rIns="0" tIns="0" bIns="0" anchor="t">
            <a:spAutoFit/>
          </a:bodyPr>
          <a:lstStyle/>
          <a:p>
            <a:pPr algn="l"/>
            <a:r>
              <a:rPr sz="1000" b="0" i="0">
                <a:solidFill>
                  <a:srgbClr val="333333"/>
                </a:solidFill>
                <a:latin typeface="Arial"/>
              </a:rPr>
              <a:t>0.4 to 1 s:</a:t>
            </a:r>
          </a:p>
          <a:p>
            <a:pPr algn="l"/>
            <a:r>
              <a:rPr sz="1000" b="0" i="0">
                <a:solidFill>
                  <a:srgbClr val="333333"/>
                </a:solidFill>
                <a:latin typeface="Arial"/>
              </a:rPr>
              <a:t>noticeable</a:t>
            </a:r>
          </a:p>
        </p:txBody>
      </p:sp>
      <p:sp>
        <p:nvSpPr>
          <p:cNvPr id="33" name="Rectangle 32"/>
          <p:cNvSpPr/>
          <p:nvPr/>
        </p:nvSpPr>
        <p:spPr>
          <a:xfrm>
            <a:off x="9829800" y="5074920"/>
            <a:ext cx="1792224" cy="18288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29800" y="5330952"/>
            <a:ext cx="1737360" cy="411480"/>
          </a:xfrm>
          <a:prstGeom prst="rect">
            <a:avLst/>
          </a:prstGeom>
          <a:noFill/>
        </p:spPr>
        <p:txBody>
          <a:bodyPr wrap="square" lIns="0" rIns="0" tIns="0" bIns="0" anchor="t">
            <a:spAutoFit/>
          </a:bodyPr>
          <a:lstStyle/>
          <a:p>
            <a:pPr algn="l"/>
            <a:r>
              <a:rPr sz="1000" b="0" i="0">
                <a:solidFill>
                  <a:srgbClr val="333333"/>
                </a:solidFill>
                <a:latin typeface="Arial"/>
              </a:rPr>
              <a:t>Over 1 s:</a:t>
            </a:r>
          </a:p>
          <a:p>
            <a:pPr algn="l"/>
            <a:r>
              <a:rPr sz="1000" b="0" i="0">
                <a:solidFill>
                  <a:srgbClr val="333333"/>
                </a:solidFill>
                <a:latin typeface="Arial"/>
              </a:rPr>
              <a:t>show progress</a:t>
            </a:r>
          </a:p>
        </p:txBody>
      </p:sp>
      <p:sp>
        <p:nvSpPr>
          <p:cNvPr id="35" name="TextBox 34"/>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29560573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79341-D231-89C0-3059-305A89203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66E46-90D5-2235-DA48-F7F0E3175E96}"/>
              </a:ext>
            </a:extLst>
          </p:cNvPr>
          <p:cNvSpPr>
            <a:spLocks noGrp="1"/>
          </p:cNvSpPr>
          <p:nvPr>
            <p:ph type="title"/>
          </p:nvPr>
        </p:nvSpPr>
        <p:spPr/>
        <p:txBody>
          <a:bodyPr anchor="ctr">
            <a:normAutofit/>
          </a:bodyPr>
          <a:lstStyle/>
          <a:p>
            <a:r>
              <a:rPr lang="en-PH" dirty="0" err="1"/>
              <a:t>Fitts’s Law</a:t>
            </a:r>
            <a:endParaRPr dirty="0"/>
          </a:p>
        </p:txBody>
      </p:sp>
      <p:pic>
        <p:nvPicPr>
          <p:cNvPr id="5" name="Picture 4">
            <a:extLst>
              <a:ext uri="{FF2B5EF4-FFF2-40B4-BE49-F238E27FC236}">
                <a16:creationId xmlns:a16="http://schemas.microsoft.com/office/drawing/2014/main" id="{160028CF-3DB6-D522-4FA1-71989BAF7D52}"/>
              </a:ext>
            </a:extLst>
          </p:cNvPr>
          <p:cNvPicPr preferRelativeResize="0">
            <a:picLocks/>
          </p:cNvPicPr>
          <p:nvPr/>
        </p:nvPicPr>
        <p:blipFill>
          <a:blip r:embed="rId3"/>
          <a:stretch>
            <a:fillRect/>
          </a:stretch>
        </p:blipFill>
        <p:spPr>
          <a:xfrm>
            <a:off x="609600" y="1417638"/>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098" name="Picture 2" descr="Play / pause control disabled in ...">
            <a:extLst>
              <a:ext uri="{FF2B5EF4-FFF2-40B4-BE49-F238E27FC236}">
                <a16:creationId xmlns:a16="http://schemas.microsoft.com/office/drawing/2014/main" id="{3350D5A9-BA9A-24DD-1381-2A82C3326A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75048" y="4868862"/>
            <a:ext cx="2676525" cy="17145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F22341D-21CE-B5EC-8A1C-81D09CD941C0}"/>
              </a:ext>
            </a:extLst>
          </p:cNvPr>
          <p:cNvPicPr>
            <a:picLocks noChangeAspect="1"/>
          </p:cNvPicPr>
          <p:nvPr/>
        </p:nvPicPr>
        <p:blipFill>
          <a:blip r:embed="rId5"/>
          <a:stretch>
            <a:fillRect/>
          </a:stretch>
        </p:blipFill>
        <p:spPr>
          <a:xfrm>
            <a:off x="4610100" y="1921390"/>
            <a:ext cx="7258050" cy="3858566"/>
          </a:xfrm>
          <a:prstGeom prst="rect">
            <a:avLst/>
          </a:prstGeom>
        </p:spPr>
      </p:pic>
    </p:spTree>
    <p:extLst>
      <p:ext uri="{BB962C8B-B14F-4D97-AF65-F5344CB8AC3E}">
        <p14:creationId xmlns:p14="http://schemas.microsoft.com/office/powerpoint/2010/main" val="24894375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35566-BC65-AA88-DA52-B9E4A18A2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5B2B4-A63C-174B-99B3-0DA446B9B090}"/>
              </a:ext>
            </a:extLst>
          </p:cNvPr>
          <p:cNvSpPr>
            <a:spLocks noGrp="1"/>
          </p:cNvSpPr>
          <p:nvPr>
            <p:ph type="title"/>
          </p:nvPr>
        </p:nvSpPr>
        <p:spPr/>
        <p:txBody>
          <a:bodyPr anchor="ctr">
            <a:normAutofit/>
          </a:bodyPr>
          <a:lstStyle/>
          <a:p>
            <a:r>
              <a:rPr lang="en-PH" dirty="0" err="1"/>
              <a:t>Fitts’s Law</a:t>
            </a:r>
            <a:endParaRPr dirty="0"/>
          </a:p>
        </p:txBody>
      </p:sp>
      <p:pic>
        <p:nvPicPr>
          <p:cNvPr id="5" name="Picture 4">
            <a:extLst>
              <a:ext uri="{FF2B5EF4-FFF2-40B4-BE49-F238E27FC236}">
                <a16:creationId xmlns:a16="http://schemas.microsoft.com/office/drawing/2014/main" id="{93C8B294-9007-697D-5142-6C9A4AB92237}"/>
              </a:ext>
            </a:extLst>
          </p:cNvPr>
          <p:cNvPicPr preferRelativeResize="0">
            <a:picLocks/>
          </p:cNvPicPr>
          <p:nvPr/>
        </p:nvPicPr>
        <p:blipFill>
          <a:blip r:embed="rId3"/>
          <a:stretch>
            <a:fillRect/>
          </a:stretch>
        </p:blipFill>
        <p:spPr>
          <a:xfrm>
            <a:off x="609600" y="1417638"/>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098" name="Picture 2" descr="Play / pause control disabled in ...">
            <a:extLst>
              <a:ext uri="{FF2B5EF4-FFF2-40B4-BE49-F238E27FC236}">
                <a16:creationId xmlns:a16="http://schemas.microsoft.com/office/drawing/2014/main" id="{71EB3E9C-6197-47B7-C036-134433AE89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75048" y="4868862"/>
            <a:ext cx="2676525"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hlinkClick r:id="rId5"/>
            <a:extLst>
              <a:ext uri="{FF2B5EF4-FFF2-40B4-BE49-F238E27FC236}">
                <a16:creationId xmlns:a16="http://schemas.microsoft.com/office/drawing/2014/main" id="{423F708A-EA61-9E12-C494-3E5D87A1CF96}"/>
              </a:ext>
            </a:extLst>
          </p:cNvPr>
          <p:cNvPicPr>
            <a:picLocks noChangeAspect="1"/>
          </p:cNvPicPr>
          <p:nvPr/>
        </p:nvPicPr>
        <p:blipFill>
          <a:blip r:embed="rId6"/>
          <a:stretch>
            <a:fillRect/>
          </a:stretch>
        </p:blipFill>
        <p:spPr>
          <a:xfrm>
            <a:off x="5227050" y="1753311"/>
            <a:ext cx="6233700" cy="4077053"/>
          </a:xfrm>
          <a:prstGeom prst="rect">
            <a:avLst/>
          </a:prstGeom>
        </p:spPr>
      </p:pic>
    </p:spTree>
    <p:extLst>
      <p:ext uri="{BB962C8B-B14F-4D97-AF65-F5344CB8AC3E}">
        <p14:creationId xmlns:p14="http://schemas.microsoft.com/office/powerpoint/2010/main" val="36156612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F74ED-B5BA-B8C3-FE64-AA7A2C4AD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8319E-83C3-C632-DBC4-3148E9D6F197}"/>
              </a:ext>
            </a:extLst>
          </p:cNvPr>
          <p:cNvSpPr>
            <a:spLocks noGrp="1"/>
          </p:cNvSpPr>
          <p:nvPr>
            <p:ph type="title"/>
          </p:nvPr>
        </p:nvSpPr>
        <p:spPr/>
        <p:txBody>
          <a:bodyPr anchor="ctr">
            <a:normAutofit/>
          </a:bodyPr>
          <a:lstStyle/>
          <a:p>
            <a:r>
              <a:rPr lang="en-PH" dirty="0" err="1"/>
              <a:t>Fitts’s Law</a:t>
            </a:r>
            <a:endParaRPr dirty="0"/>
          </a:p>
        </p:txBody>
      </p:sp>
      <p:pic>
        <p:nvPicPr>
          <p:cNvPr id="5" name="Picture 4">
            <a:extLst>
              <a:ext uri="{FF2B5EF4-FFF2-40B4-BE49-F238E27FC236}">
                <a16:creationId xmlns:a16="http://schemas.microsoft.com/office/drawing/2014/main" id="{65455A89-1F39-8BD3-84AF-418D7430E7C4}"/>
              </a:ext>
            </a:extLst>
          </p:cNvPr>
          <p:cNvPicPr preferRelativeResize="0">
            <a:picLocks/>
          </p:cNvPicPr>
          <p:nvPr/>
        </p:nvPicPr>
        <p:blipFill>
          <a:blip r:embed="rId3"/>
          <a:stretch>
            <a:fillRect/>
          </a:stretch>
        </p:blipFill>
        <p:spPr>
          <a:xfrm>
            <a:off x="609600" y="1417638"/>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098" name="Picture 2" descr="Play / pause control disabled in ...">
            <a:extLst>
              <a:ext uri="{FF2B5EF4-FFF2-40B4-BE49-F238E27FC236}">
                <a16:creationId xmlns:a16="http://schemas.microsoft.com/office/drawing/2014/main" id="{51FD8364-BAA8-DA83-8237-DCB2192C66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75048" y="4868862"/>
            <a:ext cx="2676525" cy="17145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0529945-5B42-CD8B-087D-9E3C0272163F}"/>
              </a:ext>
            </a:extLst>
          </p:cNvPr>
          <p:cNvPicPr>
            <a:picLocks noChangeAspect="1"/>
          </p:cNvPicPr>
          <p:nvPr/>
        </p:nvPicPr>
        <p:blipFill>
          <a:blip r:embed="rId5"/>
          <a:stretch>
            <a:fillRect/>
          </a:stretch>
        </p:blipFill>
        <p:spPr>
          <a:xfrm>
            <a:off x="5716670" y="2012778"/>
            <a:ext cx="5425910" cy="4153260"/>
          </a:xfrm>
          <a:prstGeom prst="rect">
            <a:avLst/>
          </a:prstGeom>
        </p:spPr>
      </p:pic>
    </p:spTree>
    <p:extLst>
      <p:ext uri="{BB962C8B-B14F-4D97-AF65-F5344CB8AC3E}">
        <p14:creationId xmlns:p14="http://schemas.microsoft.com/office/powerpoint/2010/main" val="29783472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F74ED-B5BA-B8C3-FE64-AA7A2C4AD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8319E-83C3-C632-DBC4-3148E9D6F197}"/>
              </a:ext>
            </a:extLst>
          </p:cNvPr>
          <p:cNvSpPr>
            <a:spLocks noGrp="1"/>
          </p:cNvSpPr>
          <p:nvPr>
            <p:ph type="title"/>
          </p:nvPr>
        </p:nvSpPr>
        <p:spPr/>
        <p:txBody>
          <a:bodyPr anchor="ctr">
            <a:normAutofit/>
          </a:bodyPr>
          <a:lstStyle/>
          <a:p>
            <a:r>
              <a:rPr lang="en-PH" dirty="0" err="1"/>
              <a:t>Fitts’s Law</a:t>
            </a:r>
            <a:endParaRPr dirty="0"/>
          </a:p>
        </p:txBody>
      </p:sp>
      <p:pic>
        <p:nvPicPr>
          <p:cNvPr id="5" name="Picture 4">
            <a:extLst>
              <a:ext uri="{FF2B5EF4-FFF2-40B4-BE49-F238E27FC236}">
                <a16:creationId xmlns:a16="http://schemas.microsoft.com/office/drawing/2014/main" id="{65455A89-1F39-8BD3-84AF-418D7430E7C4}"/>
              </a:ext>
            </a:extLst>
          </p:cNvPr>
          <p:cNvPicPr preferRelativeResize="0">
            <a:picLocks/>
          </p:cNvPicPr>
          <p:nvPr/>
        </p:nvPicPr>
        <p:blipFill>
          <a:blip r:embed="rId3"/>
          <a:stretch>
            <a:fillRect/>
          </a:stretch>
        </p:blipFill>
        <p:spPr>
          <a:xfrm>
            <a:off x="609600" y="1417638"/>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Rounded Rectangle 5"/>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82312" y="1444752"/>
            <a:ext cx="2276856" cy="4791456"/>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10" name="TextBox 9"/>
          <p:cNvSpPr txBox="1"/>
          <p:nvPr/>
        </p:nvSpPr>
        <p:spPr>
          <a:xfrm>
            <a:off x="4919472" y="1719072"/>
            <a:ext cx="1371600" cy="228600"/>
          </a:xfrm>
          <a:prstGeom prst="rect">
            <a:avLst/>
          </a:prstGeom>
          <a:noFill/>
        </p:spPr>
        <p:txBody>
          <a:bodyPr wrap="square" lIns="0" rIns="0" tIns="0" bIns="0" anchor="t">
            <a:spAutoFit/>
          </a:bodyPr>
          <a:lstStyle/>
          <a:p>
            <a:pPr algn="l"/>
            <a:r>
              <a:rPr sz="1200" b="1" i="0">
                <a:solidFill>
                  <a:srgbClr val="222222"/>
                </a:solidFill>
                <a:latin typeface="Arial"/>
              </a:rPr>
              <a:t>Instagram</a:t>
            </a:r>
          </a:p>
        </p:txBody>
      </p:sp>
      <p:sp>
        <p:nvSpPr>
          <p:cNvPr id="11" name="Heart 10"/>
          <p:cNvSpPr/>
          <p:nvPr/>
        </p:nvSpPr>
        <p:spPr>
          <a:xfrm>
            <a:off x="6492240" y="1755648"/>
            <a:ext cx="164592" cy="148132"/>
          </a:xfrm>
          <a:prstGeom prst="heart">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sceles Triangle 11"/>
          <p:cNvSpPr/>
          <p:nvPr/>
        </p:nvSpPr>
        <p:spPr>
          <a:xfrm rot="5400000">
            <a:off x="6766560" y="1754733"/>
            <a:ext cx="148132" cy="131673"/>
          </a:xfrm>
          <a:prstGeom prst="triangle">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892040" y="2066544"/>
            <a:ext cx="274320" cy="274320"/>
          </a:xfrm>
          <a:prstGeom prst="ellipse">
            <a:avLst/>
          </a:prstGeom>
          <a:noFill/>
          <a:ln w="22225">
            <a:solidFill>
              <a:srgbClr val="C135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28616" y="2103120"/>
            <a:ext cx="201168" cy="201168"/>
          </a:xfrm>
          <a:prstGeom prst="ellipse">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9512" y="2130552"/>
            <a:ext cx="1463040" cy="164592"/>
          </a:xfrm>
          <a:prstGeom prst="rect">
            <a:avLst/>
          </a:prstGeom>
          <a:noFill/>
        </p:spPr>
        <p:txBody>
          <a:bodyPr wrap="square" lIns="0" rIns="0" tIns="0" bIns="0" anchor="t">
            <a:spAutoFit/>
          </a:bodyPr>
          <a:lstStyle/>
          <a:p>
            <a:pPr algn="l"/>
            <a:r>
              <a:rPr sz="800" b="1" i="0">
                <a:solidFill>
                  <a:srgbClr val="222222"/>
                </a:solidFill>
                <a:latin typeface="Arial"/>
              </a:rPr>
              <a:t>sagada.trips</a:t>
            </a:r>
          </a:p>
        </p:txBody>
      </p:sp>
      <p:sp>
        <p:nvSpPr>
          <p:cNvPr id="16" name="Rectangle 15"/>
          <p:cNvSpPr/>
          <p:nvPr/>
        </p:nvSpPr>
        <p:spPr>
          <a:xfrm>
            <a:off x="4782312" y="2432304"/>
            <a:ext cx="2276856" cy="2276856"/>
          </a:xfrm>
          <a:prstGeom prst="rect">
            <a:avLst/>
          </a:prstGeom>
          <a:solidFill>
            <a:srgbClr val="F9D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285036" y="2796600"/>
            <a:ext cx="364296" cy="364296"/>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4827849" y="3388583"/>
            <a:ext cx="1411650" cy="1320576"/>
          </a:xfrm>
          <a:prstGeom prst="triangle">
            <a:avLst/>
          </a:prstGeom>
          <a:solidFill>
            <a:srgbClr val="7FB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647517" y="3115360"/>
            <a:ext cx="1411650" cy="1593799"/>
          </a:xfrm>
          <a:prstGeom prst="triangle">
            <a:avLst/>
          </a:prstGeom>
          <a:solidFill>
            <a:srgbClr val="4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eart 19"/>
          <p:cNvSpPr/>
          <p:nvPr/>
        </p:nvSpPr>
        <p:spPr>
          <a:xfrm>
            <a:off x="4910328" y="4800600"/>
            <a:ext cx="201168" cy="181051"/>
          </a:xfrm>
          <a:prstGeom prst="heart">
            <a:avLst/>
          </a:prstGeom>
          <a:solidFill>
            <a:srgbClr val="FF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Callout 20"/>
          <p:cNvSpPr/>
          <p:nvPr/>
        </p:nvSpPr>
        <p:spPr>
          <a:xfrm>
            <a:off x="5202936" y="4800600"/>
            <a:ext cx="201168" cy="170992"/>
          </a:xfrm>
          <a:prstGeom prst="wedgeEllipseCallout">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5400000">
            <a:off x="5495544" y="4810658"/>
            <a:ext cx="181051" cy="160934"/>
          </a:xfrm>
          <a:prstGeom prst="triangle">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ff-page Connector 22"/>
          <p:cNvSpPr/>
          <p:nvPr/>
        </p:nvSpPr>
        <p:spPr>
          <a:xfrm rot="10800000">
            <a:off x="6778447" y="4800600"/>
            <a:ext cx="140817" cy="201168"/>
          </a:xfrm>
          <a:prstGeom prst="flowChartOffpageConnector">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10328" y="5074920"/>
            <a:ext cx="1828800" cy="146304"/>
          </a:xfrm>
          <a:prstGeom prst="rect">
            <a:avLst/>
          </a:prstGeom>
          <a:noFill/>
        </p:spPr>
        <p:txBody>
          <a:bodyPr wrap="square" lIns="0" rIns="0" tIns="0" bIns="0" anchor="t">
            <a:spAutoFit/>
          </a:bodyPr>
          <a:lstStyle/>
          <a:p>
            <a:pPr algn="l"/>
            <a:r>
              <a:rPr sz="800" b="1" i="0">
                <a:solidFill>
                  <a:srgbClr val="222222"/>
                </a:solidFill>
                <a:latin typeface="Arial"/>
              </a:rPr>
              <a:t>1,204 likes</a:t>
            </a:r>
          </a:p>
        </p:txBody>
      </p:sp>
      <p:sp>
        <p:nvSpPr>
          <p:cNvPr id="25" name="TextBox 24"/>
          <p:cNvSpPr txBox="1"/>
          <p:nvPr/>
        </p:nvSpPr>
        <p:spPr>
          <a:xfrm>
            <a:off x="4910328" y="5230368"/>
            <a:ext cx="2093975" cy="146304"/>
          </a:xfrm>
          <a:prstGeom prst="rect">
            <a:avLst/>
          </a:prstGeom>
          <a:noFill/>
        </p:spPr>
        <p:txBody>
          <a:bodyPr wrap="square" lIns="0" rIns="0" tIns="0" bIns="0" anchor="t">
            <a:spAutoFit/>
          </a:bodyPr>
          <a:lstStyle/>
          <a:p>
            <a:pPr algn="l"/>
            <a:r>
              <a:rPr sz="800" b="1" i="0">
                <a:solidFill>
                  <a:srgbClr val="222222"/>
                </a:solidFill>
                <a:latin typeface="Arial"/>
              </a:rPr>
              <a:t>sagada.trips </a:t>
            </a:r>
            <a:r>
              <a:rPr sz="800" b="0" i="0">
                <a:solidFill>
                  <a:srgbClr val="222222"/>
                </a:solidFill>
                <a:latin typeface="Arial"/>
              </a:rPr>
              <a:t>Sunrise at Kiltepan</a:t>
            </a:r>
          </a:p>
        </p:txBody>
      </p:sp>
      <p:sp>
        <p:nvSpPr>
          <p:cNvPr id="26" name="Heart 25"/>
          <p:cNvSpPr/>
          <p:nvPr/>
        </p:nvSpPr>
        <p:spPr>
          <a:xfrm>
            <a:off x="5509260" y="3204972"/>
            <a:ext cx="822960" cy="731520"/>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09744" y="2459736"/>
            <a:ext cx="2221991" cy="2221991"/>
          </a:xfrm>
          <a:prstGeom prst="rect">
            <a:avLst/>
          </a:prstGeom>
          <a:noFill/>
          <a:ln w="28575">
            <a:solidFill>
              <a:srgbClr val="2EB8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892040" y="2542032"/>
            <a:ext cx="1207008" cy="237744"/>
          </a:xfrm>
          <a:prstGeom prst="roundRect">
            <a:avLst>
              <a:gd name="adj" fmla="val 50000"/>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50" b="1" i="0">
                <a:solidFill>
                  <a:srgbClr val="FFFFFF"/>
                </a:solidFill>
                <a:latin typeface="Arial"/>
              </a:rPr>
              <a:t>Double-tap anywhere</a:t>
            </a:r>
          </a:p>
        </p:txBody>
      </p:sp>
      <p:sp>
        <p:nvSpPr>
          <p:cNvPr id="29" name="Rectangle 28"/>
          <p:cNvSpPr/>
          <p:nvPr/>
        </p:nvSpPr>
        <p:spPr>
          <a:xfrm>
            <a:off x="4800600" y="5797296"/>
            <a:ext cx="224027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4800600" y="5797296"/>
            <a:ext cx="2240279" cy="0"/>
          </a:xfrm>
          <a:prstGeom prst="line">
            <a:avLst/>
          </a:prstGeom>
          <a:ln w="9525">
            <a:solidFill>
              <a:srgbClr val="DBDBDB"/>
            </a:solidFill>
          </a:ln>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a:off x="4937760" y="5902452"/>
            <a:ext cx="173736" cy="86868"/>
          </a:xfrm>
          <a:prstGeom prst="triangl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67295" y="5982370"/>
            <a:ext cx="114665" cy="8686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85816" y="5902452"/>
            <a:ext cx="130302" cy="130302"/>
          </a:xfrm>
          <a:prstGeom prst="ellipse">
            <a:avLst/>
          </a:prstGeom>
          <a:noFill/>
          <a:ln w="1905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5493532" y="6010168"/>
            <a:ext cx="66020" cy="66020"/>
          </a:xfrm>
          <a:prstGeom prst="line">
            <a:avLst/>
          </a:prstGeom>
          <a:ln w="22225">
            <a:solidFill>
              <a:srgbClr val="262626"/>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833872" y="5902452"/>
            <a:ext cx="173736" cy="173736"/>
          </a:xfrm>
          <a:prstGeom prst="roundRect">
            <a:avLst>
              <a:gd name="adj" fmla="val 25000"/>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5920740" y="5945886"/>
            <a:ext cx="0" cy="86868"/>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877306" y="5989320"/>
            <a:ext cx="86868" cy="0"/>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81928" y="5902452"/>
            <a:ext cx="173736" cy="173736"/>
          </a:xfrm>
          <a:prstGeom prst="roundRect">
            <a:avLst>
              <a:gd name="adj" fmla="val 25000"/>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5400000">
            <a:off x="6339260" y="5954572"/>
            <a:ext cx="69494" cy="69494"/>
          </a:xfrm>
          <a:prstGeom prst="triangl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729984" y="5902452"/>
            <a:ext cx="173736" cy="173736"/>
          </a:xfrm>
          <a:prstGeom prst="ellipse">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828032" y="5806440"/>
            <a:ext cx="2185415" cy="356616"/>
          </a:xfrm>
          <a:prstGeom prst="roundRect">
            <a:avLst>
              <a:gd name="adj" fmla="val 30000"/>
            </a:avLst>
          </a:prstGeom>
          <a:noFill/>
          <a:ln w="28575">
            <a:solidFill>
              <a:srgbClr val="2EB8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C13584"/>
                </a:solidFill>
                <a:latin typeface="Arial"/>
              </a:rPr>
              <a:t>EVERYDAY EXAMPLE  ·  INSTAGRAM</a:t>
            </a:r>
          </a:p>
        </p:txBody>
      </p:sp>
      <p:sp>
        <p:nvSpPr>
          <p:cNvPr id="43" name="TextBox 42"/>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The whole photo is the button</a:t>
            </a:r>
          </a:p>
        </p:txBody>
      </p:sp>
      <p:sp>
        <p:nvSpPr>
          <p:cNvPr id="44" name="TextBox 43"/>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To like a post, double-tap anywhere on the photo: a target far bigger than the small heart icon below it.</a:t>
            </a:r>
          </a:p>
          <a:p>
            <a:pPr algn="l">
              <a:spcAft>
                <a:spcPts val="900"/>
              </a:spcAft>
            </a:pPr>
            <a:r>
              <a:rPr sz="1400" b="0" i="0">
                <a:solidFill>
                  <a:srgbClr val="333333"/>
                </a:solidFill>
                <a:latin typeface="Arial"/>
              </a:rPr>
              <a:t>The main tabs sit in the bottom bar, right where your thumb already rests.</a:t>
            </a:r>
          </a:p>
          <a:p>
            <a:pPr algn="l">
              <a:spcAft>
                <a:spcPts val="900"/>
              </a:spcAft>
            </a:pPr>
            <a:r>
              <a:rPr sz="1400" b="0" i="0">
                <a:solidFill>
                  <a:srgbClr val="333333"/>
                </a:solidFill>
                <a:latin typeface="Arial"/>
              </a:rPr>
              <a:t>Bigger and closer targets are faster to hit.</a:t>
            </a:r>
          </a:p>
        </p:txBody>
      </p:sp>
      <p:sp>
        <p:nvSpPr>
          <p:cNvPr id="45" name="TextBox 44"/>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29783472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F03E93-B6BB-CED7-5617-7FA0BEA5D539}"/>
              </a:ext>
            </a:extLst>
          </p:cNvPr>
          <p:cNvPicPr>
            <a:picLocks noChangeAspect="1"/>
          </p:cNvPicPr>
          <p:nvPr/>
        </p:nvPicPr>
        <p:blipFill>
          <a:blip r:embed="rId3"/>
          <a:srcRect t="5063"/>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9751227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8DFBC-1158-496F-DC5A-67F9DC1E9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862AB-0288-D6D8-9CD8-45B025B73E5F}"/>
              </a:ext>
            </a:extLst>
          </p:cNvPr>
          <p:cNvSpPr>
            <a:spLocks noGrp="1"/>
          </p:cNvSpPr>
          <p:nvPr>
            <p:ph type="title"/>
          </p:nvPr>
        </p:nvSpPr>
        <p:spPr/>
        <p:txBody>
          <a:bodyPr anchor="ctr">
            <a:normAutofit/>
          </a:bodyPr>
          <a:lstStyle/>
          <a:p>
            <a:r>
              <a:rPr lang="en-PH" dirty="0"/>
              <a:t>Flow</a:t>
            </a:r>
            <a:endParaRPr dirty="0"/>
          </a:p>
        </p:txBody>
      </p:sp>
      <p:pic>
        <p:nvPicPr>
          <p:cNvPr id="4" name="Picture 3" descr="A purple square with white squares&#10;&#10;AI-generated content may be incorrect.">
            <a:extLst>
              <a:ext uri="{FF2B5EF4-FFF2-40B4-BE49-F238E27FC236}">
                <a16:creationId xmlns:a16="http://schemas.microsoft.com/office/drawing/2014/main" id="{AF0BDA14-A7A1-1EBF-BF3D-B2E12A644066}"/>
              </a:ext>
            </a:extLst>
          </p:cNvPr>
          <p:cNvPicPr preferRelativeResize="0">
            <a:picLocks/>
          </p:cNvPicPr>
          <p:nvPr/>
        </p:nvPicPr>
        <p:blipFill>
          <a:blip r:embed="rId3"/>
          <a:stretch>
            <a:fillRect/>
          </a:stretch>
        </p:blipFill>
        <p:spPr>
          <a:xfrm>
            <a:off x="609600" y="1417638"/>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A94CE262-C52F-E523-FA9B-BEBB8210AE2C}"/>
              </a:ext>
            </a:extLst>
          </p:cNvPr>
          <p:cNvPicPr>
            <a:picLocks noChangeAspect="1"/>
          </p:cNvPicPr>
          <p:nvPr/>
        </p:nvPicPr>
        <p:blipFill>
          <a:blip r:embed="rId4"/>
          <a:stretch>
            <a:fillRect/>
          </a:stretch>
        </p:blipFill>
        <p:spPr>
          <a:xfrm>
            <a:off x="4782059" y="2278609"/>
            <a:ext cx="6800341" cy="2300782"/>
          </a:xfrm>
          <a:prstGeom prst="rect">
            <a:avLst/>
          </a:prstGeom>
        </p:spPr>
      </p:pic>
    </p:spTree>
    <p:extLst>
      <p:ext uri="{BB962C8B-B14F-4D97-AF65-F5344CB8AC3E}">
        <p14:creationId xmlns:p14="http://schemas.microsoft.com/office/powerpoint/2010/main" val="15023968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2312A-8DE7-D629-6262-54FA9B2D7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F3B65-B0AE-7B49-162A-202D4D8A5FDB}"/>
              </a:ext>
            </a:extLst>
          </p:cNvPr>
          <p:cNvSpPr>
            <a:spLocks noGrp="1"/>
          </p:cNvSpPr>
          <p:nvPr>
            <p:ph type="title"/>
          </p:nvPr>
        </p:nvSpPr>
        <p:spPr/>
        <p:txBody>
          <a:bodyPr anchor="ctr">
            <a:normAutofit/>
          </a:bodyPr>
          <a:lstStyle/>
          <a:p>
            <a:r>
              <a:rPr lang="en-PH" dirty="0"/>
              <a:t>Flow</a:t>
            </a:r>
            <a:endParaRPr dirty="0"/>
          </a:p>
        </p:txBody>
      </p:sp>
      <p:pic>
        <p:nvPicPr>
          <p:cNvPr id="4" name="Picture 3" descr="A purple square with white squares&#10;&#10;AI-generated content may be incorrect.">
            <a:extLst>
              <a:ext uri="{FF2B5EF4-FFF2-40B4-BE49-F238E27FC236}">
                <a16:creationId xmlns:a16="http://schemas.microsoft.com/office/drawing/2014/main" id="{913CD149-A541-8B59-2957-919538BD1E17}"/>
              </a:ext>
            </a:extLst>
          </p:cNvPr>
          <p:cNvPicPr preferRelativeResize="0">
            <a:picLocks/>
          </p:cNvPicPr>
          <p:nvPr/>
        </p:nvPicPr>
        <p:blipFill>
          <a:blip r:embed="rId3"/>
          <a:stretch>
            <a:fillRect/>
          </a:stretch>
        </p:blipFill>
        <p:spPr>
          <a:xfrm>
            <a:off x="609600" y="1417638"/>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849D316C-905F-07A9-1835-2A4C71B19F65}"/>
              </a:ext>
            </a:extLst>
          </p:cNvPr>
          <p:cNvPicPr>
            <a:picLocks noChangeAspect="1"/>
          </p:cNvPicPr>
          <p:nvPr/>
        </p:nvPicPr>
        <p:blipFill>
          <a:blip r:embed="rId4"/>
          <a:stretch>
            <a:fillRect/>
          </a:stretch>
        </p:blipFill>
        <p:spPr>
          <a:xfrm>
            <a:off x="4782059" y="2278609"/>
            <a:ext cx="6800341" cy="2300782"/>
          </a:xfrm>
          <a:prstGeom prst="rect">
            <a:avLst/>
          </a:prstGeom>
        </p:spPr>
      </p:pic>
    </p:spTree>
    <p:extLst>
      <p:ext uri="{BB962C8B-B14F-4D97-AF65-F5344CB8AC3E}">
        <p14:creationId xmlns:p14="http://schemas.microsoft.com/office/powerpoint/2010/main" val="8626717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10777-0911-11DE-C821-1568C97A2D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C5D73-3C0D-12CB-AB9E-262EBB1BFB3D}"/>
              </a:ext>
            </a:extLst>
          </p:cNvPr>
          <p:cNvSpPr>
            <a:spLocks noGrp="1"/>
          </p:cNvSpPr>
          <p:nvPr>
            <p:ph type="title"/>
          </p:nvPr>
        </p:nvSpPr>
        <p:spPr/>
        <p:txBody>
          <a:bodyPr anchor="ctr">
            <a:normAutofit/>
          </a:bodyPr>
          <a:lstStyle/>
          <a:p>
            <a:r>
              <a:rPr lang="en-PH" dirty="0"/>
              <a:t>Goal-Gradient Effect</a:t>
            </a:r>
            <a:endParaRPr dirty="0"/>
          </a:p>
        </p:txBody>
      </p:sp>
      <p:pic>
        <p:nvPicPr>
          <p:cNvPr id="5" name="Picture 4" descr="A screen shot of a graph&#10;&#10;AI-generated content may be incorrect.">
            <a:extLst>
              <a:ext uri="{FF2B5EF4-FFF2-40B4-BE49-F238E27FC236}">
                <a16:creationId xmlns:a16="http://schemas.microsoft.com/office/drawing/2014/main" id="{E1484841-B2B6-40B9-F97C-4A6980EEC407}"/>
              </a:ext>
            </a:extLst>
          </p:cNvPr>
          <p:cNvPicPr preferRelativeResize="0">
            <a:picLocks/>
          </p:cNvPicPr>
          <p:nvPr/>
        </p:nvPicPr>
        <p:blipFill>
          <a:blip r:embed="rId3"/>
          <a:stretch>
            <a:fillRect/>
          </a:stretch>
        </p:blipFill>
        <p:spPr>
          <a:xfrm>
            <a:off x="609600" y="1454509"/>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125" name="Picture 5" descr="Gamify Your Goals: How The Goal Gradient Effect Can Hack User Motivation -  Raw.Studio">
            <a:extLst>
              <a:ext uri="{FF2B5EF4-FFF2-40B4-BE49-F238E27FC236}">
                <a16:creationId xmlns:a16="http://schemas.microsoft.com/office/drawing/2014/main" id="{4E377972-4C96-E3E3-5296-7193965D8FA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766" t="4166" r="21775" b="2350"/>
          <a:stretch>
            <a:fillRect/>
          </a:stretch>
        </p:blipFill>
        <p:spPr bwMode="auto">
          <a:xfrm>
            <a:off x="5456902" y="1454509"/>
            <a:ext cx="5604387" cy="4748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58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animEffect transition="in" filter="fade">
                                      <p:cBhvr>
                                        <p:cTn id="7" dur="500"/>
                                        <p:tgtEl>
                                          <p:spTgt spid="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A7EC4-5E1C-00E2-0F1A-7D93EFA04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A55D-BFE6-B705-45B8-587FA2012B17}"/>
              </a:ext>
            </a:extLst>
          </p:cNvPr>
          <p:cNvSpPr>
            <a:spLocks noGrp="1"/>
          </p:cNvSpPr>
          <p:nvPr>
            <p:ph type="title"/>
          </p:nvPr>
        </p:nvSpPr>
        <p:spPr/>
        <p:txBody>
          <a:bodyPr anchor="ctr">
            <a:normAutofit/>
          </a:bodyPr>
          <a:lstStyle/>
          <a:p>
            <a:r>
              <a:rPr lang="en-PH" dirty="0"/>
              <a:t>Goal-Gradient Effect</a:t>
            </a:r>
            <a:endParaRPr dirty="0"/>
          </a:p>
        </p:txBody>
      </p:sp>
      <p:pic>
        <p:nvPicPr>
          <p:cNvPr id="5" name="Picture 4" descr="A screen shot of a graph&#10;&#10;AI-generated content may be incorrect.">
            <a:extLst>
              <a:ext uri="{FF2B5EF4-FFF2-40B4-BE49-F238E27FC236}">
                <a16:creationId xmlns:a16="http://schemas.microsoft.com/office/drawing/2014/main" id="{964284DB-166A-12A2-1D2A-0E976A082985}"/>
              </a:ext>
            </a:extLst>
          </p:cNvPr>
          <p:cNvPicPr preferRelativeResize="0">
            <a:picLocks/>
          </p:cNvPicPr>
          <p:nvPr/>
        </p:nvPicPr>
        <p:blipFill>
          <a:blip r:embed="rId3"/>
          <a:stretch>
            <a:fillRect/>
          </a:stretch>
        </p:blipFill>
        <p:spPr>
          <a:xfrm>
            <a:off x="609600" y="1454509"/>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9B193D74-232F-72DE-A4C9-AA4CC70ECD21}"/>
              </a:ext>
            </a:extLst>
          </p:cNvPr>
          <p:cNvPicPr>
            <a:picLocks noChangeAspect="1"/>
          </p:cNvPicPr>
          <p:nvPr/>
        </p:nvPicPr>
        <p:blipFill>
          <a:blip r:embed="rId4"/>
          <a:stretch>
            <a:fillRect/>
          </a:stretch>
        </p:blipFill>
        <p:spPr>
          <a:xfrm>
            <a:off x="4973924" y="2144543"/>
            <a:ext cx="5959356" cy="336833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4894078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A7EC4-5E1C-00E2-0F1A-7D93EFA04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FA55D-BFE6-B705-45B8-587FA2012B17}"/>
              </a:ext>
            </a:extLst>
          </p:cNvPr>
          <p:cNvSpPr>
            <a:spLocks noGrp="1"/>
          </p:cNvSpPr>
          <p:nvPr>
            <p:ph type="title"/>
          </p:nvPr>
        </p:nvSpPr>
        <p:spPr/>
        <p:txBody>
          <a:bodyPr anchor="ctr">
            <a:normAutofit/>
          </a:bodyPr>
          <a:lstStyle/>
          <a:p>
            <a:r>
              <a:rPr lang="en-PH" dirty="0"/>
              <a:t>Goal-Gradient Effect</a:t>
            </a:r>
            <a:endParaRPr dirty="0"/>
          </a:p>
        </p:txBody>
      </p:sp>
      <p:pic>
        <p:nvPicPr>
          <p:cNvPr id="5" name="Picture 4" descr="A screen shot of a graph&#10;&#10;AI-generated content may be incorrect.">
            <a:extLst>
              <a:ext uri="{FF2B5EF4-FFF2-40B4-BE49-F238E27FC236}">
                <a16:creationId xmlns:a16="http://schemas.microsoft.com/office/drawing/2014/main" id="{964284DB-166A-12A2-1D2A-0E976A082985}"/>
              </a:ext>
            </a:extLst>
          </p:cNvPr>
          <p:cNvPicPr preferRelativeResize="0">
            <a:picLocks/>
          </p:cNvPicPr>
          <p:nvPr/>
        </p:nvPicPr>
        <p:blipFill>
          <a:blip r:embed="rId3"/>
          <a:stretch>
            <a:fillRect/>
          </a:stretch>
        </p:blipFill>
        <p:spPr>
          <a:xfrm>
            <a:off x="609600" y="1454509"/>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ounded Rectangle 5"/>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82312" y="1444752"/>
            <a:ext cx="2276856" cy="4791456"/>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10" name="Rectangle 9"/>
          <p:cNvSpPr/>
          <p:nvPr/>
        </p:nvSpPr>
        <p:spPr>
          <a:xfrm>
            <a:off x="4782312" y="1719072"/>
            <a:ext cx="2276856" cy="731520"/>
          </a:xfrm>
          <a:prstGeom prst="rect">
            <a:avLst/>
          </a:prstGeom>
          <a:solidFill>
            <a:srgbClr val="005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9472" y="1874520"/>
            <a:ext cx="2002536" cy="274320"/>
          </a:xfrm>
          <a:prstGeom prst="rect">
            <a:avLst/>
          </a:prstGeom>
          <a:noFill/>
        </p:spPr>
        <p:txBody>
          <a:bodyPr wrap="square" lIns="0" rIns="0" tIns="0" bIns="0" anchor="t">
            <a:spAutoFit/>
          </a:bodyPr>
          <a:lstStyle/>
          <a:p>
            <a:pPr algn="l"/>
            <a:r>
              <a:rPr sz="1200" b="1" i="0">
                <a:solidFill>
                  <a:srgbClr val="FFFFFF"/>
                </a:solidFill>
                <a:latin typeface="Arial"/>
              </a:rPr>
              <a:t>Get Fully Verified</a:t>
            </a:r>
          </a:p>
        </p:txBody>
      </p:sp>
      <p:sp>
        <p:nvSpPr>
          <p:cNvPr id="12" name="TextBox 11"/>
          <p:cNvSpPr txBox="1"/>
          <p:nvPr/>
        </p:nvSpPr>
        <p:spPr>
          <a:xfrm>
            <a:off x="4919472" y="2148840"/>
            <a:ext cx="2002536" cy="182880"/>
          </a:xfrm>
          <a:prstGeom prst="rect">
            <a:avLst/>
          </a:prstGeom>
          <a:noFill/>
        </p:spPr>
        <p:txBody>
          <a:bodyPr wrap="square" lIns="0" rIns="0" tIns="0" bIns="0" anchor="t">
            <a:spAutoFit/>
          </a:bodyPr>
          <a:lstStyle/>
          <a:p>
            <a:pPr algn="l"/>
            <a:r>
              <a:rPr sz="750" b="0" i="0">
                <a:solidFill>
                  <a:srgbClr val="DCE8FF"/>
                </a:solidFill>
                <a:latin typeface="Arial"/>
              </a:rPr>
              <a:t>Unlock Send, Pay Bills and more</a:t>
            </a:r>
          </a:p>
        </p:txBody>
      </p:sp>
      <p:sp>
        <p:nvSpPr>
          <p:cNvPr id="13" name="TextBox 12"/>
          <p:cNvSpPr txBox="1"/>
          <p:nvPr/>
        </p:nvSpPr>
        <p:spPr>
          <a:xfrm>
            <a:off x="4919472" y="2633472"/>
            <a:ext cx="2002536" cy="182880"/>
          </a:xfrm>
          <a:prstGeom prst="rect">
            <a:avLst/>
          </a:prstGeom>
          <a:noFill/>
        </p:spPr>
        <p:txBody>
          <a:bodyPr wrap="square" lIns="0" rIns="0" tIns="0" bIns="0" anchor="t">
            <a:spAutoFit/>
          </a:bodyPr>
          <a:lstStyle/>
          <a:p>
            <a:pPr algn="l"/>
            <a:r>
              <a:rPr sz="900" b="1" i="0">
                <a:solidFill>
                  <a:srgbClr val="111111"/>
                </a:solidFill>
                <a:latin typeface="Arial"/>
              </a:rPr>
              <a:t>2 of 3 steps done</a:t>
            </a:r>
          </a:p>
        </p:txBody>
      </p:sp>
      <p:sp>
        <p:nvSpPr>
          <p:cNvPr id="14" name="Rounded Rectangle 13"/>
          <p:cNvSpPr/>
          <p:nvPr/>
        </p:nvSpPr>
        <p:spPr>
          <a:xfrm>
            <a:off x="4919472" y="2880360"/>
            <a:ext cx="2002536" cy="109728"/>
          </a:xfrm>
          <a:prstGeom prst="roundRect">
            <a:avLst>
              <a:gd name="adj" fmla="val 50000"/>
            </a:avLst>
          </a:prstGeom>
          <a:solidFill>
            <a:srgbClr val="E3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19472" y="2880360"/>
            <a:ext cx="1335024" cy="109728"/>
          </a:xfrm>
          <a:prstGeom prst="roundRect">
            <a:avLst>
              <a:gd name="adj" fmla="val 50000"/>
            </a:avLst>
          </a:prstGeom>
          <a:solidFill>
            <a:srgbClr val="005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5129784" y="3621024"/>
            <a:ext cx="0" cy="274320"/>
          </a:xfrm>
          <a:prstGeom prst="line">
            <a:avLst/>
          </a:prstGeom>
          <a:ln w="25400">
            <a:solidFill>
              <a:srgbClr val="2EB872"/>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965192" y="3291840"/>
            <a:ext cx="329184" cy="329184"/>
          </a:xfrm>
          <a:prstGeom prst="ellipse">
            <a:avLst/>
          </a:prstGeom>
          <a:solidFill>
            <a:srgbClr val="2EB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5025542" y="3452774"/>
            <a:ext cx="76810" cy="7681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102352" y="3370478"/>
            <a:ext cx="137160" cy="15910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422392" y="3300984"/>
            <a:ext cx="1554480" cy="164592"/>
          </a:xfrm>
          <a:prstGeom prst="rect">
            <a:avLst/>
          </a:prstGeom>
          <a:noFill/>
        </p:spPr>
        <p:txBody>
          <a:bodyPr wrap="square" lIns="0" rIns="0" tIns="0" bIns="0" anchor="t">
            <a:spAutoFit/>
          </a:bodyPr>
          <a:lstStyle/>
          <a:p>
            <a:pPr algn="l"/>
            <a:r>
              <a:rPr sz="900" b="1" i="0">
                <a:solidFill>
                  <a:srgbClr val="111111"/>
                </a:solidFill>
                <a:latin typeface="Arial"/>
              </a:rPr>
              <a:t>Personal details</a:t>
            </a:r>
          </a:p>
        </p:txBody>
      </p:sp>
      <p:sp>
        <p:nvSpPr>
          <p:cNvPr id="21" name="TextBox 20"/>
          <p:cNvSpPr txBox="1"/>
          <p:nvPr/>
        </p:nvSpPr>
        <p:spPr>
          <a:xfrm>
            <a:off x="5422392" y="3465576"/>
            <a:ext cx="1554480" cy="146304"/>
          </a:xfrm>
          <a:prstGeom prst="rect">
            <a:avLst/>
          </a:prstGeom>
          <a:noFill/>
        </p:spPr>
        <p:txBody>
          <a:bodyPr wrap="square" lIns="0" rIns="0" tIns="0" bIns="0" anchor="t">
            <a:spAutoFit/>
          </a:bodyPr>
          <a:lstStyle/>
          <a:p>
            <a:pPr algn="l"/>
            <a:r>
              <a:rPr sz="750" b="0" i="0">
                <a:solidFill>
                  <a:srgbClr val="2EB872"/>
                </a:solidFill>
                <a:latin typeface="Arial"/>
              </a:rPr>
              <a:t>Done</a:t>
            </a:r>
          </a:p>
        </p:txBody>
      </p:sp>
      <p:cxnSp>
        <p:nvCxnSpPr>
          <p:cNvPr id="22" name="Connector 21"/>
          <p:cNvCxnSpPr/>
          <p:nvPr/>
        </p:nvCxnSpPr>
        <p:spPr>
          <a:xfrm>
            <a:off x="5129784" y="4224528"/>
            <a:ext cx="0" cy="274320"/>
          </a:xfrm>
          <a:prstGeom prst="line">
            <a:avLst/>
          </a:prstGeom>
          <a:ln w="25400">
            <a:solidFill>
              <a:srgbClr val="C9D3E3"/>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965192" y="3895344"/>
            <a:ext cx="329184" cy="329184"/>
          </a:xfrm>
          <a:prstGeom prst="ellipse">
            <a:avLst/>
          </a:prstGeom>
          <a:solidFill>
            <a:srgbClr val="2EB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5025542" y="4056278"/>
            <a:ext cx="76810" cy="76809"/>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102352" y="3973982"/>
            <a:ext cx="137160" cy="159105"/>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22392" y="3904487"/>
            <a:ext cx="1554480" cy="164592"/>
          </a:xfrm>
          <a:prstGeom prst="rect">
            <a:avLst/>
          </a:prstGeom>
          <a:noFill/>
        </p:spPr>
        <p:txBody>
          <a:bodyPr wrap="square" lIns="0" rIns="0" tIns="0" bIns="0" anchor="t">
            <a:spAutoFit/>
          </a:bodyPr>
          <a:lstStyle/>
          <a:p>
            <a:pPr algn="l"/>
            <a:r>
              <a:rPr sz="900" b="1" i="0">
                <a:solidFill>
                  <a:srgbClr val="111111"/>
                </a:solidFill>
                <a:latin typeface="Arial"/>
              </a:rPr>
              <a:t>Valid ID</a:t>
            </a:r>
          </a:p>
        </p:txBody>
      </p:sp>
      <p:sp>
        <p:nvSpPr>
          <p:cNvPr id="27" name="TextBox 26"/>
          <p:cNvSpPr txBox="1"/>
          <p:nvPr/>
        </p:nvSpPr>
        <p:spPr>
          <a:xfrm>
            <a:off x="5422392" y="4069080"/>
            <a:ext cx="1554480" cy="146304"/>
          </a:xfrm>
          <a:prstGeom prst="rect">
            <a:avLst/>
          </a:prstGeom>
          <a:noFill/>
        </p:spPr>
        <p:txBody>
          <a:bodyPr wrap="square" lIns="0" rIns="0" tIns="0" bIns="0" anchor="t">
            <a:spAutoFit/>
          </a:bodyPr>
          <a:lstStyle/>
          <a:p>
            <a:pPr algn="l"/>
            <a:r>
              <a:rPr sz="750" b="0" i="0">
                <a:solidFill>
                  <a:srgbClr val="2EB872"/>
                </a:solidFill>
                <a:latin typeface="Arial"/>
              </a:rPr>
              <a:t>Done</a:t>
            </a:r>
          </a:p>
        </p:txBody>
      </p:sp>
      <p:sp>
        <p:nvSpPr>
          <p:cNvPr id="28" name="Oval 27"/>
          <p:cNvSpPr/>
          <p:nvPr/>
        </p:nvSpPr>
        <p:spPr>
          <a:xfrm>
            <a:off x="4965192" y="4498848"/>
            <a:ext cx="329184" cy="329184"/>
          </a:xfrm>
          <a:prstGeom prst="ellipse">
            <a:avLst/>
          </a:prstGeom>
          <a:solidFill>
            <a:srgbClr val="FFFFFF"/>
          </a:solidFill>
          <a:ln w="25400">
            <a:solidFill>
              <a:srgbClr val="005CE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005CE6"/>
                </a:solidFill>
                <a:latin typeface="Arial"/>
              </a:rPr>
              <a:t>3</a:t>
            </a:r>
          </a:p>
        </p:txBody>
      </p:sp>
      <p:sp>
        <p:nvSpPr>
          <p:cNvPr id="29" name="TextBox 28"/>
          <p:cNvSpPr txBox="1"/>
          <p:nvPr/>
        </p:nvSpPr>
        <p:spPr>
          <a:xfrm>
            <a:off x="5422392" y="4507992"/>
            <a:ext cx="1554480" cy="164592"/>
          </a:xfrm>
          <a:prstGeom prst="rect">
            <a:avLst/>
          </a:prstGeom>
          <a:noFill/>
        </p:spPr>
        <p:txBody>
          <a:bodyPr wrap="square" lIns="0" rIns="0" tIns="0" bIns="0" anchor="t">
            <a:spAutoFit/>
          </a:bodyPr>
          <a:lstStyle/>
          <a:p>
            <a:pPr algn="l"/>
            <a:r>
              <a:rPr sz="900" b="1" i="0">
                <a:solidFill>
                  <a:srgbClr val="111111"/>
                </a:solidFill>
                <a:latin typeface="Arial"/>
              </a:rPr>
              <a:t>Selfie</a:t>
            </a:r>
          </a:p>
        </p:txBody>
      </p:sp>
      <p:sp>
        <p:nvSpPr>
          <p:cNvPr id="30" name="TextBox 29"/>
          <p:cNvSpPr txBox="1"/>
          <p:nvPr/>
        </p:nvSpPr>
        <p:spPr>
          <a:xfrm>
            <a:off x="5422392" y="4672584"/>
            <a:ext cx="1554480" cy="146304"/>
          </a:xfrm>
          <a:prstGeom prst="rect">
            <a:avLst/>
          </a:prstGeom>
          <a:noFill/>
        </p:spPr>
        <p:txBody>
          <a:bodyPr wrap="square" lIns="0" rIns="0" tIns="0" bIns="0" anchor="t">
            <a:spAutoFit/>
          </a:bodyPr>
          <a:lstStyle/>
          <a:p>
            <a:pPr algn="l"/>
            <a:r>
              <a:rPr sz="750" b="0" i="0">
                <a:solidFill>
                  <a:srgbClr val="7F7F7F"/>
                </a:solidFill>
                <a:latin typeface="Arial"/>
              </a:rPr>
              <a:t>Takes about 1 minute</a:t>
            </a:r>
          </a:p>
        </p:txBody>
      </p:sp>
      <p:sp>
        <p:nvSpPr>
          <p:cNvPr id="31" name="Rounded Rectangle 30"/>
          <p:cNvSpPr/>
          <p:nvPr/>
        </p:nvSpPr>
        <p:spPr>
          <a:xfrm>
            <a:off x="4965192" y="5596128"/>
            <a:ext cx="1911095" cy="365760"/>
          </a:xfrm>
          <a:prstGeom prst="roundRect">
            <a:avLst>
              <a:gd name="adj" fmla="val 50000"/>
            </a:avLst>
          </a:prstGeom>
          <a:solidFill>
            <a:srgbClr val="005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i="0">
                <a:solidFill>
                  <a:srgbClr val="FFFFFF"/>
                </a:solidFill>
                <a:latin typeface="Arial"/>
              </a:rPr>
              <a:t>Continue</a:t>
            </a:r>
          </a:p>
        </p:txBody>
      </p:sp>
      <p:sp>
        <p:nvSpPr>
          <p:cNvPr id="32" name="TextBox 31"/>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005CE6"/>
                </a:solidFill>
                <a:latin typeface="Arial"/>
              </a:rPr>
              <a:t>EVERYDAY EXAMPLE  ·  GCASH</a:t>
            </a:r>
          </a:p>
        </p:txBody>
      </p:sp>
      <p:sp>
        <p:nvSpPr>
          <p:cNvPr id="33" name="TextBox 32"/>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Almost there!</a:t>
            </a:r>
          </a:p>
        </p:txBody>
      </p:sp>
      <p:sp>
        <p:nvSpPr>
          <p:cNvPr id="34" name="TextBox 33"/>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Splitting verification into 3 short steps and showing “2 of 3 steps done” makes the finish line feel close.</a:t>
            </a:r>
          </a:p>
          <a:p>
            <a:pPr algn="l">
              <a:spcAft>
                <a:spcPts val="900"/>
              </a:spcAft>
            </a:pPr>
            <a:r>
              <a:rPr sz="1400" b="0" i="0">
                <a:solidFill>
                  <a:srgbClr val="333333"/>
                </a:solidFill>
                <a:latin typeface="Arial"/>
              </a:rPr>
              <a:t>The closer people get to a goal, the harder they push to finish it.</a:t>
            </a:r>
          </a:p>
        </p:txBody>
      </p:sp>
      <p:sp>
        <p:nvSpPr>
          <p:cNvPr id="35" name="TextBox 34"/>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14894078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99073-C1AF-358D-00FE-8A9253820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E5795-1035-A71D-26A8-C2B3E243320B}"/>
              </a:ext>
            </a:extLst>
          </p:cNvPr>
          <p:cNvSpPr>
            <a:spLocks noGrp="1"/>
          </p:cNvSpPr>
          <p:nvPr>
            <p:ph type="title"/>
          </p:nvPr>
        </p:nvSpPr>
        <p:spPr/>
        <p:txBody>
          <a:bodyPr anchor="ctr">
            <a:normAutofit/>
          </a:bodyPr>
          <a:lstStyle/>
          <a:p>
            <a:r>
              <a:rPr lang="en-PH" dirty="0"/>
              <a:t>Hick’s Law</a:t>
            </a:r>
            <a:endParaRPr dirty="0"/>
          </a:p>
        </p:txBody>
      </p:sp>
      <p:pic>
        <p:nvPicPr>
          <p:cNvPr id="4" name="Picture 3" descr="A screen shot of a cellphone&#10;&#10;AI-generated content may be incorrect.">
            <a:extLst>
              <a:ext uri="{FF2B5EF4-FFF2-40B4-BE49-F238E27FC236}">
                <a16:creationId xmlns:a16="http://schemas.microsoft.com/office/drawing/2014/main" id="{E32AF22B-F309-C893-B54D-31DF8CAED171}"/>
              </a:ext>
            </a:extLst>
          </p:cNvPr>
          <p:cNvPicPr preferRelativeResize="0">
            <a:picLocks/>
          </p:cNvPicPr>
          <p:nvPr/>
        </p:nvPicPr>
        <p:blipFill>
          <a:blip r:embed="rId3"/>
          <a:stretch>
            <a:fillRect/>
          </a:stretch>
        </p:blipFill>
        <p:spPr>
          <a:xfrm>
            <a:off x="609600" y="1417638"/>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194" name="Picture 2" descr="Understanding Hick's Law in Design - Yarsa DevBlog">
            <a:extLst>
              <a:ext uri="{FF2B5EF4-FFF2-40B4-BE49-F238E27FC236}">
                <a16:creationId xmlns:a16="http://schemas.microsoft.com/office/drawing/2014/main" id="{3023EF53-E402-AAD5-06D7-1A50769D612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99" t="13111" r="7875" b="13333"/>
          <a:stretch>
            <a:fillRect/>
          </a:stretch>
        </p:blipFill>
        <p:spPr bwMode="auto">
          <a:xfrm>
            <a:off x="4756031" y="1760220"/>
            <a:ext cx="6826369" cy="333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69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71C00-8C0A-E9E2-D59A-843D698B4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24FD5D-76DB-A6FA-890F-418D9F5B4309}"/>
              </a:ext>
            </a:extLst>
          </p:cNvPr>
          <p:cNvSpPr>
            <a:spLocks noGrp="1"/>
          </p:cNvSpPr>
          <p:nvPr>
            <p:ph type="title"/>
          </p:nvPr>
        </p:nvSpPr>
        <p:spPr/>
        <p:txBody>
          <a:bodyPr anchor="ctr">
            <a:normAutofit/>
          </a:bodyPr>
          <a:lstStyle/>
          <a:p>
            <a:r>
              <a:rPr lang="en-PH" dirty="0"/>
              <a:t>Hick’s Law</a:t>
            </a:r>
            <a:endParaRPr dirty="0"/>
          </a:p>
        </p:txBody>
      </p:sp>
      <p:pic>
        <p:nvPicPr>
          <p:cNvPr id="5" name="Picture 4">
            <a:extLst>
              <a:ext uri="{FF2B5EF4-FFF2-40B4-BE49-F238E27FC236}">
                <a16:creationId xmlns:a16="http://schemas.microsoft.com/office/drawing/2014/main" id="{454B26C8-F95A-6625-B50C-1FAF5E6CD79A}"/>
              </a:ext>
            </a:extLst>
          </p:cNvPr>
          <p:cNvPicPr>
            <a:picLocks noChangeAspect="1"/>
          </p:cNvPicPr>
          <p:nvPr/>
        </p:nvPicPr>
        <p:blipFill>
          <a:blip r:embed="rId3"/>
          <a:stretch>
            <a:fillRect/>
          </a:stretch>
        </p:blipFill>
        <p:spPr>
          <a:xfrm>
            <a:off x="887254" y="1614691"/>
            <a:ext cx="10988992" cy="4968671"/>
          </a:xfrm>
          <a:prstGeom prst="rect">
            <a:avLst/>
          </a:prstGeom>
        </p:spPr>
      </p:pic>
    </p:spTree>
    <p:extLst>
      <p:ext uri="{BB962C8B-B14F-4D97-AF65-F5344CB8AC3E}">
        <p14:creationId xmlns:p14="http://schemas.microsoft.com/office/powerpoint/2010/main" val="3276495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2808B-C2DA-BE25-888B-B5CDC7063301}"/>
              </a:ext>
            </a:extLst>
          </p:cNvPr>
          <p:cNvSpPr>
            <a:spLocks noGrp="1"/>
          </p:cNvSpPr>
          <p:nvPr>
            <p:ph type="title"/>
          </p:nvPr>
        </p:nvSpPr>
        <p:spPr/>
        <p:txBody>
          <a:bodyPr/>
          <a:lstStyle/>
          <a:p>
            <a:r>
              <a:rPr lang="en-PH" dirty="0"/>
              <a:t>Hick’s Law (Decision Time)</a:t>
            </a:r>
          </a:p>
        </p:txBody>
      </p:sp>
      <p:pic>
        <p:nvPicPr>
          <p:cNvPr id="7" name="Picture 6">
            <a:extLst>
              <a:ext uri="{FF2B5EF4-FFF2-40B4-BE49-F238E27FC236}">
                <a16:creationId xmlns:a16="http://schemas.microsoft.com/office/drawing/2014/main" id="{834CEF94-A04C-CED1-3056-F2029C3E59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6432" y="3923818"/>
            <a:ext cx="5229787" cy="2743438"/>
          </a:xfrm>
          <a:prstGeom prst="rect">
            <a:avLst/>
          </a:prstGeom>
        </p:spPr>
      </p:pic>
      <p:pic>
        <p:nvPicPr>
          <p:cNvPr id="11" name="Picture 10">
            <a:extLst>
              <a:ext uri="{FF2B5EF4-FFF2-40B4-BE49-F238E27FC236}">
                <a16:creationId xmlns:a16="http://schemas.microsoft.com/office/drawing/2014/main" id="{11F22F88-9206-E40C-419B-A232ED9A4E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964" y="1690688"/>
            <a:ext cx="5456393" cy="2743438"/>
          </a:xfrm>
          <a:prstGeom prst="rect">
            <a:avLst/>
          </a:prstGeom>
        </p:spPr>
      </p:pic>
    </p:spTree>
    <p:extLst>
      <p:ext uri="{BB962C8B-B14F-4D97-AF65-F5344CB8AC3E}">
        <p14:creationId xmlns:p14="http://schemas.microsoft.com/office/powerpoint/2010/main" val="35468729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2024 01 03 Hicks Law HERO">
            <a:extLst>
              <a:ext uri="{FF2B5EF4-FFF2-40B4-BE49-F238E27FC236}">
                <a16:creationId xmlns:a16="http://schemas.microsoft.com/office/drawing/2014/main" id="{C97A278B-66BD-C7D6-F1C6-4B2669C1E08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 y="10"/>
            <a:ext cx="12191980" cy="6857990"/>
          </a:xfrm>
          <a:prstGeom prst="rect">
            <a:avLst/>
          </a:prstGeom>
          <a:solidFill>
            <a:srgbClr val="FFFFFF"/>
          </a:solidFill>
        </p:spPr>
      </p:pic>
    </p:spTree>
    <p:extLst>
      <p:ext uri="{BB962C8B-B14F-4D97-AF65-F5344CB8AC3E}">
        <p14:creationId xmlns:p14="http://schemas.microsoft.com/office/powerpoint/2010/main" val="12635127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99073-C1AF-358D-00FE-8A9253820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E5795-1035-A71D-26A8-C2B3E243320B}"/>
              </a:ext>
            </a:extLst>
          </p:cNvPr>
          <p:cNvSpPr>
            <a:spLocks noGrp="1"/>
          </p:cNvSpPr>
          <p:nvPr>
            <p:ph type="title"/>
          </p:nvPr>
        </p:nvSpPr>
        <p:spPr/>
        <p:txBody>
          <a:bodyPr anchor="ctr">
            <a:normAutofit/>
          </a:bodyPr>
          <a:lstStyle/>
          <a:p>
            <a:r>
              <a:rPr lang="en-PH" dirty="0"/>
              <a:t>Hick’s Law</a:t>
            </a:r>
            <a:endParaRPr dirty="0"/>
          </a:p>
        </p:txBody>
      </p:sp>
      <p:pic>
        <p:nvPicPr>
          <p:cNvPr id="4" name="Picture 3" descr="A screen shot of a cellphone&#10;&#10;AI-generated content may be incorrect.">
            <a:extLst>
              <a:ext uri="{FF2B5EF4-FFF2-40B4-BE49-F238E27FC236}">
                <a16:creationId xmlns:a16="http://schemas.microsoft.com/office/drawing/2014/main" id="{E32AF22B-F309-C893-B54D-31DF8CAED171}"/>
              </a:ext>
            </a:extLst>
          </p:cNvPr>
          <p:cNvPicPr preferRelativeResize="0">
            <a:picLocks/>
          </p:cNvPicPr>
          <p:nvPr/>
        </p:nvPicPr>
        <p:blipFill>
          <a:blip r:embed="rId3"/>
          <a:stretch>
            <a:fillRect/>
          </a:stretch>
        </p:blipFill>
        <p:spPr>
          <a:xfrm>
            <a:off x="609600" y="1417638"/>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Rounded Rectangle 7"/>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82312" y="1444752"/>
            <a:ext cx="2276856" cy="4791456"/>
          </a:xfrm>
          <a:prstGeom prst="roundRect">
            <a:avLst>
              <a:gd name="adj" fmla="val 9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12" name="Rectangle 11"/>
          <p:cNvSpPr/>
          <p:nvPr/>
        </p:nvSpPr>
        <p:spPr>
          <a:xfrm>
            <a:off x="4782312" y="1719072"/>
            <a:ext cx="2276856"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1783080"/>
            <a:ext cx="1463040" cy="256032"/>
          </a:xfrm>
          <a:prstGeom prst="rect">
            <a:avLst/>
          </a:prstGeom>
          <a:noFill/>
        </p:spPr>
        <p:txBody>
          <a:bodyPr wrap="square" lIns="0" rIns="0" tIns="0" bIns="0" anchor="t">
            <a:spAutoFit/>
          </a:bodyPr>
          <a:lstStyle/>
          <a:p>
            <a:pPr algn="l"/>
            <a:r>
              <a:rPr sz="1300" b="1" i="0">
                <a:solidFill>
                  <a:srgbClr val="1877F2"/>
                </a:solidFill>
                <a:latin typeface="Arial"/>
              </a:rPr>
              <a:t>Facebook</a:t>
            </a:r>
          </a:p>
        </p:txBody>
      </p:sp>
      <p:sp>
        <p:nvSpPr>
          <p:cNvPr id="14" name="Oval 13"/>
          <p:cNvSpPr/>
          <p:nvPr/>
        </p:nvSpPr>
        <p:spPr>
          <a:xfrm>
            <a:off x="6492240" y="1828800"/>
            <a:ext cx="123444" cy="123444"/>
          </a:xfrm>
          <a:prstGeom prst="ellipse">
            <a:avLst/>
          </a:prstGeom>
          <a:noFill/>
          <a:ln w="19050">
            <a:solidFill>
              <a:srgbClr val="0505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6594287" y="1930847"/>
            <a:ext cx="62545" cy="62545"/>
          </a:xfrm>
          <a:prstGeom prst="line">
            <a:avLst/>
          </a:prstGeom>
          <a:ln w="22225">
            <a:solidFill>
              <a:srgbClr val="05050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766560" y="1861261"/>
            <a:ext cx="155448" cy="0"/>
          </a:xfrm>
          <a:prstGeom prst="line">
            <a:avLst/>
          </a:prstGeom>
          <a:ln w="19050">
            <a:solidFill>
              <a:srgbClr val="05050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766560" y="1915668"/>
            <a:ext cx="155448" cy="0"/>
          </a:xfrm>
          <a:prstGeom prst="line">
            <a:avLst/>
          </a:prstGeom>
          <a:ln w="19050">
            <a:solidFill>
              <a:srgbClr val="05050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766560" y="1970074"/>
            <a:ext cx="155448" cy="0"/>
          </a:xfrm>
          <a:prstGeom prst="line">
            <a:avLst/>
          </a:prstGeom>
          <a:ln w="19050">
            <a:solidFill>
              <a:srgbClr val="05050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782312" y="2194560"/>
            <a:ext cx="2276856"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92040" y="2286000"/>
            <a:ext cx="292608" cy="292608"/>
          </a:xfrm>
          <a:prstGeom prst="ellipse">
            <a:avLst/>
          </a:prstGeom>
          <a:solidFill>
            <a:srgbClr val="9C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2286000"/>
            <a:ext cx="1463040" cy="155448"/>
          </a:xfrm>
          <a:prstGeom prst="rect">
            <a:avLst/>
          </a:prstGeom>
          <a:noFill/>
        </p:spPr>
        <p:txBody>
          <a:bodyPr wrap="square" lIns="0" rIns="0" tIns="0" bIns="0" anchor="t">
            <a:spAutoFit/>
          </a:bodyPr>
          <a:lstStyle/>
          <a:p>
            <a:pPr algn="l"/>
            <a:r>
              <a:rPr sz="800" b="1" i="0">
                <a:solidFill>
                  <a:srgbClr val="222222"/>
                </a:solidFill>
                <a:latin typeface="Arial"/>
              </a:rPr>
              <a:t>Ana Reyes</a:t>
            </a:r>
          </a:p>
        </p:txBody>
      </p:sp>
      <p:sp>
        <p:nvSpPr>
          <p:cNvPr id="22" name="TextBox 21"/>
          <p:cNvSpPr txBox="1"/>
          <p:nvPr/>
        </p:nvSpPr>
        <p:spPr>
          <a:xfrm>
            <a:off x="5257800" y="2432304"/>
            <a:ext cx="1463040" cy="137160"/>
          </a:xfrm>
          <a:prstGeom prst="rect">
            <a:avLst/>
          </a:prstGeom>
          <a:noFill/>
        </p:spPr>
        <p:txBody>
          <a:bodyPr wrap="square" lIns="0" rIns="0" tIns="0" bIns="0" anchor="t">
            <a:spAutoFit/>
          </a:bodyPr>
          <a:lstStyle/>
          <a:p>
            <a:pPr algn="l"/>
            <a:r>
              <a:rPr sz="700" b="0" i="0">
                <a:solidFill>
                  <a:srgbClr val="65676B"/>
                </a:solidFill>
                <a:latin typeface="Arial"/>
              </a:rPr>
              <a:t>2h</a:t>
            </a:r>
          </a:p>
        </p:txBody>
      </p:sp>
      <p:sp>
        <p:nvSpPr>
          <p:cNvPr id="23" name="Rounded Rectangle 22"/>
          <p:cNvSpPr/>
          <p:nvPr/>
        </p:nvSpPr>
        <p:spPr>
          <a:xfrm>
            <a:off x="4892040" y="2670048"/>
            <a:ext cx="1821484"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92040" y="2779776"/>
            <a:ext cx="1252270"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82312" y="2907792"/>
            <a:ext cx="2276856" cy="1965960"/>
          </a:xfrm>
          <a:prstGeom prst="rect">
            <a:avLst/>
          </a:prstGeom>
          <a:solidFill>
            <a:srgbClr val="BFE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85036" y="3222345"/>
            <a:ext cx="364296" cy="364296"/>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827849" y="3733495"/>
            <a:ext cx="1411650" cy="1140256"/>
          </a:xfrm>
          <a:prstGeom prst="triangle">
            <a:avLst/>
          </a:prstGeom>
          <a:solidFill>
            <a:srgbClr val="7FB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647517" y="3497580"/>
            <a:ext cx="1411650" cy="1376172"/>
          </a:xfrm>
          <a:prstGeom prst="triangle">
            <a:avLst/>
          </a:prstGeom>
          <a:solidFill>
            <a:srgbClr val="4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4873752" y="4901184"/>
            <a:ext cx="2093976" cy="0"/>
          </a:xfrm>
          <a:prstGeom prst="line">
            <a:avLst/>
          </a:prstGeom>
          <a:ln w="9525">
            <a:solidFill>
              <a:srgbClr val="E4E6E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782312" y="4965192"/>
            <a:ext cx="758952" cy="164592"/>
          </a:xfrm>
          <a:prstGeom prst="rect">
            <a:avLst/>
          </a:prstGeom>
          <a:noFill/>
        </p:spPr>
        <p:txBody>
          <a:bodyPr wrap="square" lIns="0" rIns="0" tIns="0" bIns="0" anchor="t">
            <a:spAutoFit/>
          </a:bodyPr>
          <a:lstStyle/>
          <a:p>
            <a:pPr algn="ctr"/>
            <a:r>
              <a:rPr sz="800" b="1" i="0">
                <a:solidFill>
                  <a:srgbClr val="65676B"/>
                </a:solidFill>
                <a:latin typeface="Arial"/>
              </a:rPr>
              <a:t>Like</a:t>
            </a:r>
          </a:p>
        </p:txBody>
      </p:sp>
      <p:sp>
        <p:nvSpPr>
          <p:cNvPr id="31" name="TextBox 30"/>
          <p:cNvSpPr txBox="1"/>
          <p:nvPr/>
        </p:nvSpPr>
        <p:spPr>
          <a:xfrm>
            <a:off x="5541264" y="4965192"/>
            <a:ext cx="758952" cy="164592"/>
          </a:xfrm>
          <a:prstGeom prst="rect">
            <a:avLst/>
          </a:prstGeom>
          <a:noFill/>
        </p:spPr>
        <p:txBody>
          <a:bodyPr wrap="square" lIns="0" rIns="0" tIns="0" bIns="0" anchor="t">
            <a:spAutoFit/>
          </a:bodyPr>
          <a:lstStyle/>
          <a:p>
            <a:pPr algn="ctr"/>
            <a:r>
              <a:rPr sz="800" b="1" i="0">
                <a:solidFill>
                  <a:srgbClr val="65676B"/>
                </a:solidFill>
                <a:latin typeface="Arial"/>
              </a:rPr>
              <a:t>Comment</a:t>
            </a:r>
          </a:p>
        </p:txBody>
      </p:sp>
      <p:sp>
        <p:nvSpPr>
          <p:cNvPr id="32" name="TextBox 31"/>
          <p:cNvSpPr txBox="1"/>
          <p:nvPr/>
        </p:nvSpPr>
        <p:spPr>
          <a:xfrm>
            <a:off x="6300216" y="4965192"/>
            <a:ext cx="758952" cy="164592"/>
          </a:xfrm>
          <a:prstGeom prst="rect">
            <a:avLst/>
          </a:prstGeom>
          <a:noFill/>
        </p:spPr>
        <p:txBody>
          <a:bodyPr wrap="square" lIns="0" rIns="0" tIns="0" bIns="0" anchor="t">
            <a:spAutoFit/>
          </a:bodyPr>
          <a:lstStyle/>
          <a:p>
            <a:pPr algn="ctr"/>
            <a:r>
              <a:rPr sz="800" b="1" i="0">
                <a:solidFill>
                  <a:srgbClr val="65676B"/>
                </a:solidFill>
                <a:latin typeface="Arial"/>
              </a:rPr>
              <a:t>Share</a:t>
            </a:r>
          </a:p>
        </p:txBody>
      </p:sp>
      <p:sp>
        <p:nvSpPr>
          <p:cNvPr id="33" name="Rounded Rectangle 32"/>
          <p:cNvSpPr/>
          <p:nvPr/>
        </p:nvSpPr>
        <p:spPr>
          <a:xfrm>
            <a:off x="4837176" y="4389120"/>
            <a:ext cx="2167127" cy="402336"/>
          </a:xfrm>
          <a:prstGeom prst="roundRect">
            <a:avLst>
              <a:gd name="adj" fmla="val 50000"/>
            </a:avLst>
          </a:prstGeom>
          <a:solidFill>
            <a:srgbClr val="FFFFFF"/>
          </a:solidFill>
          <a:ln w="12700">
            <a:solidFill>
              <a:srgbClr val="DA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939066" y="4466844"/>
            <a:ext cx="246888" cy="246888"/>
          </a:xfrm>
          <a:prstGeom prst="ellipse">
            <a:avLst/>
          </a:prstGeom>
          <a:solidFill>
            <a:srgbClr val="187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012218" y="4558284"/>
            <a:ext cx="100584" cy="914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39650" y="4512564"/>
            <a:ext cx="45720" cy="7315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225142" y="4466844"/>
            <a:ext cx="246888" cy="246888"/>
          </a:xfrm>
          <a:prstGeom prst="ellipse">
            <a:avLst/>
          </a:prstGeom>
          <a:solidFill>
            <a:srgbClr val="F33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Heart 37"/>
          <p:cNvSpPr/>
          <p:nvPr/>
        </p:nvSpPr>
        <p:spPr>
          <a:xfrm>
            <a:off x="5284578" y="4535424"/>
            <a:ext cx="128016" cy="118872"/>
          </a:xfrm>
          <a:prstGeom prst="hear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miley Face 38"/>
          <p:cNvSpPr/>
          <p:nvPr/>
        </p:nvSpPr>
        <p:spPr>
          <a:xfrm>
            <a:off x="5511219" y="4466844"/>
            <a:ext cx="246888" cy="246888"/>
          </a:xfrm>
          <a:prstGeom prst="smileyFace">
            <a:avLst/>
          </a:prstGeom>
          <a:solidFill>
            <a:srgbClr val="F7B125"/>
          </a:solidFill>
          <a:ln w="9525">
            <a:solidFill>
              <a:srgbClr val="7A4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Heart 39"/>
          <p:cNvSpPr/>
          <p:nvPr/>
        </p:nvSpPr>
        <p:spPr>
          <a:xfrm>
            <a:off x="5630091" y="4604004"/>
            <a:ext cx="128016" cy="118872"/>
          </a:xfrm>
          <a:prstGeom prst="heart">
            <a:avLst/>
          </a:prstGeom>
          <a:solidFill>
            <a:srgbClr val="F33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miley Face 40"/>
          <p:cNvSpPr/>
          <p:nvPr/>
        </p:nvSpPr>
        <p:spPr>
          <a:xfrm>
            <a:off x="5797296" y="4466844"/>
            <a:ext cx="246888" cy="246888"/>
          </a:xfrm>
          <a:prstGeom prst="smileyFace">
            <a:avLst/>
          </a:prstGeom>
          <a:solidFill>
            <a:srgbClr val="F7B125"/>
          </a:solidFill>
          <a:ln w="9525">
            <a:solidFill>
              <a:srgbClr val="7A4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miley Face 41"/>
          <p:cNvSpPr/>
          <p:nvPr/>
        </p:nvSpPr>
        <p:spPr>
          <a:xfrm>
            <a:off x="6083372" y="4466844"/>
            <a:ext cx="246888" cy="246888"/>
          </a:xfrm>
          <a:prstGeom prst="smileyFace">
            <a:avLst/>
          </a:prstGeom>
          <a:solidFill>
            <a:srgbClr val="F7B125"/>
          </a:solidFill>
          <a:ln w="9525">
            <a:solidFill>
              <a:srgbClr val="7A4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miley Face 42"/>
          <p:cNvSpPr/>
          <p:nvPr/>
        </p:nvSpPr>
        <p:spPr>
          <a:xfrm>
            <a:off x="6369449" y="4466844"/>
            <a:ext cx="246888" cy="246888"/>
          </a:xfrm>
          <a:prstGeom prst="smileyFace">
            <a:avLst/>
          </a:prstGeom>
          <a:solidFill>
            <a:srgbClr val="F7B125"/>
          </a:solidFill>
          <a:ln w="9525">
            <a:solidFill>
              <a:srgbClr val="7A4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miley Face 43"/>
          <p:cNvSpPr/>
          <p:nvPr/>
        </p:nvSpPr>
        <p:spPr>
          <a:xfrm>
            <a:off x="6655525" y="4466844"/>
            <a:ext cx="246888" cy="246888"/>
          </a:xfrm>
          <a:prstGeom prst="smileyFace">
            <a:avLst/>
          </a:prstGeom>
          <a:solidFill>
            <a:srgbClr val="E9710F"/>
          </a:solidFill>
          <a:ln w="9525">
            <a:solidFill>
              <a:srgbClr val="7A4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782312" y="5321808"/>
            <a:ext cx="2276856"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892040" y="5413248"/>
            <a:ext cx="292608" cy="292608"/>
          </a:xfrm>
          <a:prstGeom prst="ellipse">
            <a:avLst/>
          </a:prstGeom>
          <a:solidFill>
            <a:srgbClr val="C7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257800" y="5449824"/>
            <a:ext cx="914400"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257800" y="5559552"/>
            <a:ext cx="548640"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1877F2"/>
                </a:solidFill>
                <a:latin typeface="Arial"/>
              </a:rPr>
              <a:t>EVERYDAY EXAMPLE  ·  FACEBOOK</a:t>
            </a:r>
          </a:p>
        </p:txBody>
      </p:sp>
      <p:sp>
        <p:nvSpPr>
          <p:cNvPr id="50" name="TextBox 49"/>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Only 7 reactions</a:t>
            </a:r>
          </a:p>
        </p:txBody>
      </p:sp>
      <p:sp>
        <p:nvSpPr>
          <p:cNvPr id="51" name="TextBox 50"/>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Press and hold Like and you get just 7 choices, not the hundreds of emoji on your keyboard.</a:t>
            </a:r>
          </a:p>
          <a:p>
            <a:pPr algn="l">
              <a:spcAft>
                <a:spcPts val="900"/>
              </a:spcAft>
            </a:pPr>
            <a:r>
              <a:rPr sz="1400" b="0" i="0">
                <a:solidFill>
                  <a:srgbClr val="333333"/>
                </a:solidFill>
                <a:latin typeface="Arial"/>
              </a:rPr>
              <a:t>Fewer, clearer options let people decide in about a second.</a:t>
            </a:r>
          </a:p>
        </p:txBody>
      </p:sp>
      <p:sp>
        <p:nvSpPr>
          <p:cNvPr id="52" name="TextBox 51"/>
          <p:cNvSpPr txBox="1"/>
          <p:nvPr/>
        </p:nvSpPr>
        <p:spPr>
          <a:xfrm>
            <a:off x="7452360" y="4617720"/>
            <a:ext cx="1737360" cy="201168"/>
          </a:xfrm>
          <a:prstGeom prst="rect">
            <a:avLst/>
          </a:prstGeom>
          <a:noFill/>
        </p:spPr>
        <p:txBody>
          <a:bodyPr wrap="square" lIns="0" rIns="0" tIns="0" bIns="0" anchor="t">
            <a:spAutoFit/>
          </a:bodyPr>
          <a:lstStyle/>
          <a:p>
            <a:pPr algn="l"/>
            <a:r>
              <a:rPr sz="1100" b="1" i="0">
                <a:solidFill>
                  <a:srgbClr val="002060"/>
                </a:solidFill>
                <a:latin typeface="Arial"/>
              </a:rPr>
              <a:t>7 reactions</a:t>
            </a:r>
          </a:p>
        </p:txBody>
      </p:sp>
      <p:sp>
        <p:nvSpPr>
          <p:cNvPr id="53" name="Oval 52"/>
          <p:cNvSpPr/>
          <p:nvPr/>
        </p:nvSpPr>
        <p:spPr>
          <a:xfrm>
            <a:off x="7452360" y="4956048"/>
            <a:ext cx="182880" cy="182880"/>
          </a:xfrm>
          <a:prstGeom prst="ellipse">
            <a:avLst/>
          </a:prstGeom>
          <a:solidFill>
            <a:srgbClr val="187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680960" y="4956048"/>
            <a:ext cx="182880" cy="182880"/>
          </a:xfrm>
          <a:prstGeom prst="ellipse">
            <a:avLst/>
          </a:prstGeom>
          <a:solidFill>
            <a:srgbClr val="F33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09560" y="4956048"/>
            <a:ext cx="182880" cy="182880"/>
          </a:xfrm>
          <a:prstGeom prst="ellipse">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138160" y="4956048"/>
            <a:ext cx="182880" cy="182880"/>
          </a:xfrm>
          <a:prstGeom prst="ellipse">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366760" y="4956048"/>
            <a:ext cx="182880" cy="182880"/>
          </a:xfrm>
          <a:prstGeom prst="ellipse">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595360" y="4956048"/>
            <a:ext cx="182880" cy="182880"/>
          </a:xfrm>
          <a:prstGeom prst="ellipse">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823960" y="4956048"/>
            <a:ext cx="182880" cy="182880"/>
          </a:xfrm>
          <a:prstGeom prst="ellipse">
            <a:avLst/>
          </a:prstGeom>
          <a:solidFill>
            <a:srgbClr val="E971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52360" y="5303520"/>
            <a:ext cx="1737360" cy="201168"/>
          </a:xfrm>
          <a:prstGeom prst="rect">
            <a:avLst/>
          </a:prstGeom>
          <a:noFill/>
        </p:spPr>
        <p:txBody>
          <a:bodyPr wrap="square" lIns="0" rIns="0" tIns="0" bIns="0" anchor="t">
            <a:spAutoFit/>
          </a:bodyPr>
          <a:lstStyle/>
          <a:p>
            <a:pPr algn="l"/>
            <a:r>
              <a:rPr sz="1000" b="1" i="0">
                <a:solidFill>
                  <a:srgbClr val="1E8E4F"/>
                </a:solidFill>
                <a:latin typeface="Arial"/>
              </a:rPr>
              <a:t>Quick to decide</a:t>
            </a:r>
          </a:p>
        </p:txBody>
      </p:sp>
      <p:sp>
        <p:nvSpPr>
          <p:cNvPr id="61" name="TextBox 60"/>
          <p:cNvSpPr txBox="1"/>
          <p:nvPr/>
        </p:nvSpPr>
        <p:spPr>
          <a:xfrm>
            <a:off x="9464040" y="4617720"/>
            <a:ext cx="2194560" cy="201168"/>
          </a:xfrm>
          <a:prstGeom prst="rect">
            <a:avLst/>
          </a:prstGeom>
          <a:noFill/>
        </p:spPr>
        <p:txBody>
          <a:bodyPr wrap="square" lIns="0" rIns="0" tIns="0" bIns="0" anchor="t">
            <a:spAutoFit/>
          </a:bodyPr>
          <a:lstStyle/>
          <a:p>
            <a:pPr algn="l"/>
            <a:r>
              <a:rPr sz="1100" b="1" i="0">
                <a:solidFill>
                  <a:srgbClr val="002060"/>
                </a:solidFill>
                <a:latin typeface="Arial"/>
              </a:rPr>
              <a:t>Full emoji keyboard</a:t>
            </a:r>
          </a:p>
        </p:txBody>
      </p:sp>
      <p:sp>
        <p:nvSpPr>
          <p:cNvPr id="62" name="Oval 61"/>
          <p:cNvSpPr/>
          <p:nvPr/>
        </p:nvSpPr>
        <p:spPr>
          <a:xfrm>
            <a:off x="9464040"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9610344"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756648"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902952"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049256"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195560"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341863"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0488167"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0634472"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0780776"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0927080"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1073384"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1219688"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1365992"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1512296" y="4919472"/>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464040"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9610344"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9756648"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902952"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049256"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195560"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0341863"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0488167"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0634472"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0780776"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0927080"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1073384"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1219688"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1365992"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1512296" y="5047488"/>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9464040"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610344"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756648"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902952"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0049256"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0195560"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0341863"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0488167"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0634472"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780776"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0927080"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1073384"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1219688"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1365992"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1512296" y="5175504"/>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464040"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9610344"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756648"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902952"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0049256"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0195560"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10341863"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0488167"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0634472"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0780776"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0927080"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1073384"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1219688"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1365992"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1512296" y="5303520"/>
            <a:ext cx="100584" cy="100584"/>
          </a:xfrm>
          <a:prstGeom prst="ellipse">
            <a:avLst/>
          </a:prstGeom>
          <a:solidFill>
            <a:srgbClr val="C9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464040" y="5468112"/>
            <a:ext cx="2194560" cy="201168"/>
          </a:xfrm>
          <a:prstGeom prst="rect">
            <a:avLst/>
          </a:prstGeom>
          <a:noFill/>
        </p:spPr>
        <p:txBody>
          <a:bodyPr wrap="square" lIns="0" rIns="0" tIns="0" bIns="0" anchor="t">
            <a:spAutoFit/>
          </a:bodyPr>
          <a:lstStyle/>
          <a:p>
            <a:pPr algn="l"/>
            <a:r>
              <a:rPr sz="1000" b="1" i="0">
                <a:solidFill>
                  <a:srgbClr val="C0392B"/>
                </a:solidFill>
                <a:latin typeface="Arial"/>
              </a:rPr>
              <a:t>Slow to decide</a:t>
            </a:r>
          </a:p>
        </p:txBody>
      </p:sp>
      <p:sp>
        <p:nvSpPr>
          <p:cNvPr id="123" name="TextBox 122"/>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314269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3A94C-BFCA-50AB-6D57-C77A6AC0F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2AF9D-6F80-847C-BBE6-48B13663F15B}"/>
              </a:ext>
            </a:extLst>
          </p:cNvPr>
          <p:cNvSpPr>
            <a:spLocks noGrp="1"/>
          </p:cNvSpPr>
          <p:nvPr>
            <p:ph type="title"/>
          </p:nvPr>
        </p:nvSpPr>
        <p:spPr/>
        <p:txBody>
          <a:bodyPr anchor="ctr">
            <a:normAutofit/>
          </a:bodyPr>
          <a:lstStyle/>
          <a:p>
            <a:r>
              <a:rPr lang="en-PH" dirty="0"/>
              <a:t>Jakob’s Law</a:t>
            </a:r>
            <a:endParaRPr dirty="0"/>
          </a:p>
        </p:txBody>
      </p:sp>
      <p:pic>
        <p:nvPicPr>
          <p:cNvPr id="5" name="Picture 4" descr="A screenshot of a phone&#10;&#10;AI-generated content may be incorrect.">
            <a:extLst>
              <a:ext uri="{FF2B5EF4-FFF2-40B4-BE49-F238E27FC236}">
                <a16:creationId xmlns:a16="http://schemas.microsoft.com/office/drawing/2014/main" id="{33960CA6-DC40-2DE3-A0AA-CE57FD688F98}"/>
              </a:ext>
            </a:extLst>
          </p:cNvPr>
          <p:cNvPicPr preferRelativeResize="0">
            <a:picLocks/>
          </p:cNvPicPr>
          <p:nvPr/>
        </p:nvPicPr>
        <p:blipFill>
          <a:blip r:embed="rId3"/>
          <a:stretch>
            <a:fillRect/>
          </a:stretch>
        </p:blipFill>
        <p:spPr>
          <a:xfrm>
            <a:off x="688258" y="1417638"/>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218" name="Picture 2" descr="The 4 Most Important Laws of UX Design | by Sasindu Chandupa Jayawardana |  Medium">
            <a:extLst>
              <a:ext uri="{FF2B5EF4-FFF2-40B4-BE49-F238E27FC236}">
                <a16:creationId xmlns:a16="http://schemas.microsoft.com/office/drawing/2014/main" id="{1B519D12-8891-FBC8-6FFF-BC06DD2AB63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294" t="27999" r="4294" b="2762"/>
          <a:stretch>
            <a:fillRect/>
          </a:stretch>
        </p:blipFill>
        <p:spPr bwMode="auto">
          <a:xfrm>
            <a:off x="4804204" y="1798320"/>
            <a:ext cx="6906712" cy="4154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3721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3A94C-BFCA-50AB-6D57-C77A6AC0F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2AF9D-6F80-847C-BBE6-48B13663F15B}"/>
              </a:ext>
            </a:extLst>
          </p:cNvPr>
          <p:cNvSpPr>
            <a:spLocks noGrp="1"/>
          </p:cNvSpPr>
          <p:nvPr>
            <p:ph type="title"/>
          </p:nvPr>
        </p:nvSpPr>
        <p:spPr/>
        <p:txBody>
          <a:bodyPr anchor="ctr">
            <a:normAutofit/>
          </a:bodyPr>
          <a:lstStyle/>
          <a:p>
            <a:r>
              <a:rPr lang="en-PH" dirty="0"/>
              <a:t>Jakob’s Law</a:t>
            </a:r>
            <a:endParaRPr dirty="0"/>
          </a:p>
        </p:txBody>
      </p:sp>
      <p:pic>
        <p:nvPicPr>
          <p:cNvPr id="5" name="Picture 4" descr="A screenshot of a phone&#10;&#10;AI-generated content may be incorrect.">
            <a:extLst>
              <a:ext uri="{FF2B5EF4-FFF2-40B4-BE49-F238E27FC236}">
                <a16:creationId xmlns:a16="http://schemas.microsoft.com/office/drawing/2014/main" id="{33960CA6-DC40-2DE3-A0AA-CE57FD688F98}"/>
              </a:ext>
            </a:extLst>
          </p:cNvPr>
          <p:cNvPicPr preferRelativeResize="0">
            <a:picLocks/>
          </p:cNvPicPr>
          <p:nvPr/>
        </p:nvPicPr>
        <p:blipFill>
          <a:blip r:embed="rId3"/>
          <a:stretch>
            <a:fillRect/>
          </a:stretch>
        </p:blipFill>
        <p:spPr>
          <a:xfrm>
            <a:off x="688258" y="1417638"/>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Rounded Rectangle 5"/>
          <p:cNvSpPr/>
          <p:nvPr/>
        </p:nvSpPr>
        <p:spPr>
          <a:xfrm>
            <a:off x="4681728" y="1417320"/>
            <a:ext cx="1481328" cy="278892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54880" y="1490472"/>
            <a:ext cx="1335024" cy="2642615"/>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48072" y="155448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0" y="154533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10" name="TextBox 9"/>
          <p:cNvSpPr txBox="1"/>
          <p:nvPr/>
        </p:nvSpPr>
        <p:spPr>
          <a:xfrm>
            <a:off x="4846320" y="1764792"/>
            <a:ext cx="1335024" cy="201168"/>
          </a:xfrm>
          <a:prstGeom prst="rect">
            <a:avLst/>
          </a:prstGeom>
          <a:noFill/>
        </p:spPr>
        <p:txBody>
          <a:bodyPr wrap="square" lIns="0" rIns="0" tIns="0" bIns="0" anchor="t">
            <a:spAutoFit/>
          </a:bodyPr>
          <a:lstStyle/>
          <a:p>
            <a:pPr algn="l"/>
            <a:r>
              <a:rPr sz="900" b="1" i="0">
                <a:solidFill>
                  <a:srgbClr val="111111"/>
                </a:solidFill>
                <a:latin typeface="Arial"/>
              </a:rPr>
              <a:t>Instagram</a:t>
            </a:r>
          </a:p>
        </p:txBody>
      </p:sp>
      <p:sp>
        <p:nvSpPr>
          <p:cNvPr id="11" name="Rounded Rectangle 10"/>
          <p:cNvSpPr/>
          <p:nvPr/>
        </p:nvSpPr>
        <p:spPr>
          <a:xfrm>
            <a:off x="4828032" y="2057400"/>
            <a:ext cx="1188720" cy="868680"/>
          </a:xfrm>
          <a:prstGeom prst="roundRect">
            <a:avLst>
              <a:gd name="adj" fmla="val 8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64608" y="3044952"/>
            <a:ext cx="934516"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864608" y="3154680"/>
            <a:ext cx="667512"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64608" y="3264408"/>
            <a:ext cx="827714"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73168" y="3785615"/>
            <a:ext cx="1298448"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839004" y="3877055"/>
            <a:ext cx="128016" cy="64008"/>
          </a:xfrm>
          <a:prstGeom prst="triangl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60767" y="3935943"/>
            <a:ext cx="84490" cy="6400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098694" y="3877055"/>
            <a:ext cx="96012" cy="96012"/>
          </a:xfrm>
          <a:prstGeom prst="ellipse">
            <a:avLst/>
          </a:prstGeom>
          <a:noFill/>
          <a:ln w="1905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5178064" y="3956425"/>
            <a:ext cx="48646" cy="48646"/>
          </a:xfrm>
          <a:prstGeom prst="line">
            <a:avLst/>
          </a:prstGeom>
          <a:ln w="22225">
            <a:solidFill>
              <a:srgbClr val="26262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358383" y="3877055"/>
            <a:ext cx="128016" cy="128016"/>
          </a:xfrm>
          <a:prstGeom prst="roundRect">
            <a:avLst>
              <a:gd name="adj" fmla="val 25000"/>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5422392" y="3909059"/>
            <a:ext cx="0" cy="64009"/>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390388" y="3941063"/>
            <a:ext cx="64008" cy="0"/>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618073" y="3877055"/>
            <a:ext cx="128016" cy="128016"/>
          </a:xfrm>
          <a:prstGeom prst="roundRect">
            <a:avLst>
              <a:gd name="adj" fmla="val 25000"/>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5400000">
            <a:off x="5660318" y="3915460"/>
            <a:ext cx="51206" cy="51206"/>
          </a:xfrm>
          <a:prstGeom prst="triangl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877763" y="3877055"/>
            <a:ext cx="128016" cy="128016"/>
          </a:xfrm>
          <a:prstGeom prst="ellipse">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74996" y="3813048"/>
            <a:ext cx="256032" cy="256032"/>
          </a:xfrm>
          <a:prstGeom prst="ellipse">
            <a:avLst/>
          </a:prstGeom>
          <a:noFill/>
          <a:ln w="254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13755" y="3813048"/>
            <a:ext cx="256032" cy="256032"/>
          </a:xfrm>
          <a:prstGeom prst="ellipse">
            <a:avLst/>
          </a:prstGeom>
          <a:noFill/>
          <a:ln w="254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1728" y="4279392"/>
            <a:ext cx="1481328" cy="228600"/>
          </a:xfrm>
          <a:prstGeom prst="rect">
            <a:avLst/>
          </a:prstGeom>
          <a:noFill/>
        </p:spPr>
        <p:txBody>
          <a:bodyPr wrap="square" lIns="0" rIns="0" tIns="0" bIns="0" anchor="t">
            <a:spAutoFit/>
          </a:bodyPr>
          <a:lstStyle/>
          <a:p>
            <a:pPr algn="ctr"/>
            <a:r>
              <a:rPr sz="1100" b="1" i="0">
                <a:solidFill>
                  <a:srgbClr val="C13584"/>
                </a:solidFill>
                <a:latin typeface="Arial"/>
              </a:rPr>
              <a:t>Instagram</a:t>
            </a:r>
          </a:p>
        </p:txBody>
      </p:sp>
      <p:sp>
        <p:nvSpPr>
          <p:cNvPr id="29" name="Rounded Rectangle 28"/>
          <p:cNvSpPr/>
          <p:nvPr/>
        </p:nvSpPr>
        <p:spPr>
          <a:xfrm>
            <a:off x="6492240" y="1417320"/>
            <a:ext cx="1481328" cy="278892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65392" y="1490472"/>
            <a:ext cx="1335024" cy="2642615"/>
          </a:xfrm>
          <a:prstGeom prst="roundRect">
            <a:avLst>
              <a:gd name="adj" fmla="val 9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958584" y="155448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48272" y="154533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33" name="TextBox 32"/>
          <p:cNvSpPr txBox="1"/>
          <p:nvPr/>
        </p:nvSpPr>
        <p:spPr>
          <a:xfrm>
            <a:off x="6656831" y="1764792"/>
            <a:ext cx="1335024" cy="201168"/>
          </a:xfrm>
          <a:prstGeom prst="rect">
            <a:avLst/>
          </a:prstGeom>
          <a:noFill/>
        </p:spPr>
        <p:txBody>
          <a:bodyPr wrap="square" lIns="0" rIns="0" tIns="0" bIns="0" anchor="t">
            <a:spAutoFit/>
          </a:bodyPr>
          <a:lstStyle/>
          <a:p>
            <a:pPr algn="l"/>
            <a:r>
              <a:rPr sz="900" b="1" i="0">
                <a:solidFill>
                  <a:srgbClr val="1877F2"/>
                </a:solidFill>
                <a:latin typeface="Arial"/>
              </a:rPr>
              <a:t>Facebook</a:t>
            </a:r>
          </a:p>
        </p:txBody>
      </p:sp>
      <p:sp>
        <p:nvSpPr>
          <p:cNvPr id="34" name="Rounded Rectangle 33"/>
          <p:cNvSpPr/>
          <p:nvPr/>
        </p:nvSpPr>
        <p:spPr>
          <a:xfrm>
            <a:off x="6638544" y="2057400"/>
            <a:ext cx="1188720" cy="868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675120" y="3044952"/>
            <a:ext cx="934516"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675120" y="3154680"/>
            <a:ext cx="667512"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675120" y="3264408"/>
            <a:ext cx="827714"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79" y="3785615"/>
            <a:ext cx="1298448"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6627875" y="3877055"/>
            <a:ext cx="128016" cy="64008"/>
          </a:xfrm>
          <a:prstGeom prst="triangle">
            <a:avLst/>
          </a:prstGeom>
          <a:solidFill>
            <a:srgbClr val="656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649638" y="3935943"/>
            <a:ext cx="84490" cy="64008"/>
          </a:xfrm>
          <a:prstGeom prst="rect">
            <a:avLst/>
          </a:prstGeom>
          <a:solidFill>
            <a:srgbClr val="656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844283" y="3896258"/>
            <a:ext cx="128016" cy="89611"/>
          </a:xfrm>
          <a:prstGeom prst="roundRect">
            <a:avLst>
              <a:gd name="adj" fmla="val 20000"/>
            </a:avLst>
          </a:prstGeom>
          <a:noFill/>
          <a:ln w="15875">
            <a:solidFill>
              <a:srgbClr val="6567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Isosceles Triangle 41"/>
          <p:cNvSpPr/>
          <p:nvPr/>
        </p:nvSpPr>
        <p:spPr>
          <a:xfrm rot="5400000">
            <a:off x="6892930" y="3919301"/>
            <a:ext cx="40965" cy="40965"/>
          </a:xfrm>
          <a:prstGeom prst="triangle">
            <a:avLst/>
          </a:prstGeom>
          <a:solidFill>
            <a:srgbClr val="656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060691" y="3877055"/>
            <a:ext cx="53766" cy="53766"/>
          </a:xfrm>
          <a:prstGeom prst="roundRect">
            <a:avLst>
              <a:gd name="adj" fmla="val 20000"/>
            </a:avLst>
          </a:prstGeom>
          <a:noFill/>
          <a:ln w="15875">
            <a:solidFill>
              <a:srgbClr val="6567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060691" y="3951305"/>
            <a:ext cx="53766" cy="53766"/>
          </a:xfrm>
          <a:prstGeom prst="roundRect">
            <a:avLst>
              <a:gd name="adj" fmla="val 20000"/>
            </a:avLst>
          </a:prstGeom>
          <a:noFill/>
          <a:ln w="15875">
            <a:solidFill>
              <a:srgbClr val="6567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134941" y="3877055"/>
            <a:ext cx="53766" cy="53766"/>
          </a:xfrm>
          <a:prstGeom prst="roundRect">
            <a:avLst>
              <a:gd name="adj" fmla="val 20000"/>
            </a:avLst>
          </a:prstGeom>
          <a:noFill/>
          <a:ln w="15875">
            <a:solidFill>
              <a:srgbClr val="6567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134941" y="3951305"/>
            <a:ext cx="53766" cy="53766"/>
          </a:xfrm>
          <a:prstGeom prst="roundRect">
            <a:avLst>
              <a:gd name="adj" fmla="val 20000"/>
            </a:avLst>
          </a:prstGeom>
          <a:noFill/>
          <a:ln w="15875">
            <a:solidFill>
              <a:srgbClr val="6567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elay 46"/>
          <p:cNvSpPr/>
          <p:nvPr/>
        </p:nvSpPr>
        <p:spPr>
          <a:xfrm rot="16200000">
            <a:off x="7289901" y="3877055"/>
            <a:ext cx="102412" cy="102412"/>
          </a:xfrm>
          <a:prstGeom prst="flowChartDelay">
            <a:avLst/>
          </a:prstGeom>
          <a:noFill/>
          <a:ln w="15875">
            <a:solidFill>
              <a:srgbClr val="6567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328306" y="3976908"/>
            <a:ext cx="25603" cy="25603"/>
          </a:xfrm>
          <a:prstGeom prst="ellipse">
            <a:avLst/>
          </a:prstGeom>
          <a:solidFill>
            <a:srgbClr val="656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7493507" y="3896258"/>
            <a:ext cx="128016" cy="0"/>
          </a:xfrm>
          <a:prstGeom prst="line">
            <a:avLst/>
          </a:prstGeom>
          <a:ln w="19050">
            <a:solidFill>
              <a:srgbClr val="65676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93507" y="3941063"/>
            <a:ext cx="128016" cy="0"/>
          </a:xfrm>
          <a:prstGeom prst="line">
            <a:avLst/>
          </a:prstGeom>
          <a:ln w="19050">
            <a:solidFill>
              <a:srgbClr val="65676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493507" y="3985869"/>
            <a:ext cx="128016" cy="0"/>
          </a:xfrm>
          <a:prstGeom prst="line">
            <a:avLst/>
          </a:prstGeom>
          <a:ln w="19050">
            <a:solidFill>
              <a:srgbClr val="65676B"/>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7709915" y="3877055"/>
            <a:ext cx="128016" cy="128016"/>
          </a:xfrm>
          <a:prstGeom prst="ellipse">
            <a:avLst/>
          </a:prstGeom>
          <a:noFill/>
          <a:ln w="15875">
            <a:solidFill>
              <a:srgbClr val="6567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563867" y="3813048"/>
            <a:ext cx="256032" cy="256032"/>
          </a:xfrm>
          <a:prstGeom prst="ellipse">
            <a:avLst/>
          </a:prstGeom>
          <a:noFill/>
          <a:ln w="254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645907" y="3813048"/>
            <a:ext cx="256032" cy="256032"/>
          </a:xfrm>
          <a:prstGeom prst="ellipse">
            <a:avLst/>
          </a:prstGeom>
          <a:noFill/>
          <a:ln w="254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92240" y="4279392"/>
            <a:ext cx="1481328" cy="228600"/>
          </a:xfrm>
          <a:prstGeom prst="rect">
            <a:avLst/>
          </a:prstGeom>
          <a:noFill/>
        </p:spPr>
        <p:txBody>
          <a:bodyPr wrap="square" lIns="0" rIns="0" tIns="0" bIns="0" anchor="t">
            <a:spAutoFit/>
          </a:bodyPr>
          <a:lstStyle/>
          <a:p>
            <a:pPr algn="ctr"/>
            <a:r>
              <a:rPr sz="1100" b="1" i="0">
                <a:solidFill>
                  <a:srgbClr val="1877F2"/>
                </a:solidFill>
                <a:latin typeface="Arial"/>
              </a:rPr>
              <a:t>Facebook</a:t>
            </a:r>
          </a:p>
        </p:txBody>
      </p:sp>
      <p:sp>
        <p:nvSpPr>
          <p:cNvPr id="56" name="Rounded Rectangle 55"/>
          <p:cNvSpPr/>
          <p:nvPr/>
        </p:nvSpPr>
        <p:spPr>
          <a:xfrm>
            <a:off x="8302752" y="1417320"/>
            <a:ext cx="1481328" cy="278892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8375904" y="1490472"/>
            <a:ext cx="1335024" cy="2642615"/>
          </a:xfrm>
          <a:prstGeom prst="roundRect">
            <a:avLst>
              <a:gd name="adj" fmla="val 9000"/>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769096" y="155448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58784" y="154533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60" name="TextBox 59"/>
          <p:cNvSpPr txBox="1"/>
          <p:nvPr/>
        </p:nvSpPr>
        <p:spPr>
          <a:xfrm>
            <a:off x="8467344" y="1764792"/>
            <a:ext cx="1335024" cy="201168"/>
          </a:xfrm>
          <a:prstGeom prst="rect">
            <a:avLst/>
          </a:prstGeom>
          <a:noFill/>
        </p:spPr>
        <p:txBody>
          <a:bodyPr wrap="square" lIns="0" rIns="0" tIns="0" bIns="0" anchor="t">
            <a:spAutoFit/>
          </a:bodyPr>
          <a:lstStyle/>
          <a:p>
            <a:pPr algn="l"/>
            <a:r>
              <a:rPr sz="900" b="1" i="0">
                <a:solidFill>
                  <a:srgbClr val="005CE6"/>
                </a:solidFill>
                <a:latin typeface="Arial"/>
              </a:rPr>
              <a:t>GCash</a:t>
            </a:r>
          </a:p>
        </p:txBody>
      </p:sp>
      <p:sp>
        <p:nvSpPr>
          <p:cNvPr id="61" name="Rounded Rectangle 60"/>
          <p:cNvSpPr/>
          <p:nvPr/>
        </p:nvSpPr>
        <p:spPr>
          <a:xfrm>
            <a:off x="8449056" y="2057400"/>
            <a:ext cx="1188720" cy="868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8485632" y="3044952"/>
            <a:ext cx="934516"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8485632" y="3154680"/>
            <a:ext cx="667512"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485632" y="3264408"/>
            <a:ext cx="827714"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394192" y="3785615"/>
            <a:ext cx="1298448"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Isosceles Triangle 65"/>
          <p:cNvSpPr/>
          <p:nvPr/>
        </p:nvSpPr>
        <p:spPr>
          <a:xfrm>
            <a:off x="8460028" y="3877055"/>
            <a:ext cx="128016" cy="64008"/>
          </a:xfrm>
          <a:prstGeom prst="triangle">
            <a:avLst/>
          </a:prstGeom>
          <a:solidFill>
            <a:srgbClr val="7A86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481791" y="3935943"/>
            <a:ext cx="84490" cy="64008"/>
          </a:xfrm>
          <a:prstGeom prst="rect">
            <a:avLst/>
          </a:prstGeom>
          <a:solidFill>
            <a:srgbClr val="7A86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Delay 67"/>
          <p:cNvSpPr/>
          <p:nvPr/>
        </p:nvSpPr>
        <p:spPr>
          <a:xfrm rot="16200000">
            <a:off x="8732519" y="3877055"/>
            <a:ext cx="102412" cy="102412"/>
          </a:xfrm>
          <a:prstGeom prst="flowChartDelay">
            <a:avLst/>
          </a:prstGeom>
          <a:noFill/>
          <a:ln w="15875">
            <a:solidFill>
              <a:srgbClr val="7A86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770924" y="3976908"/>
            <a:ext cx="25603" cy="25603"/>
          </a:xfrm>
          <a:prstGeom prst="ellipse">
            <a:avLst/>
          </a:prstGeom>
          <a:solidFill>
            <a:srgbClr val="7A86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8924544" y="3730752"/>
            <a:ext cx="237744" cy="237744"/>
          </a:xfrm>
          <a:prstGeom prst="ellipse">
            <a:avLst/>
          </a:prstGeom>
          <a:solidFill>
            <a:srgbClr val="005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8997696" y="3803903"/>
            <a:ext cx="91440" cy="91440"/>
          </a:xfrm>
          <a:prstGeom prst="roundRect">
            <a:avLst>
              <a:gd name="adj" fmla="val 10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9239097" y="3896258"/>
            <a:ext cx="128016" cy="0"/>
          </a:xfrm>
          <a:prstGeom prst="line">
            <a:avLst/>
          </a:prstGeom>
          <a:ln w="19050">
            <a:solidFill>
              <a:srgbClr val="7A869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239097" y="3941063"/>
            <a:ext cx="128016" cy="0"/>
          </a:xfrm>
          <a:prstGeom prst="line">
            <a:avLst/>
          </a:prstGeom>
          <a:ln w="19050">
            <a:solidFill>
              <a:srgbClr val="7A869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239097" y="3985869"/>
            <a:ext cx="128016" cy="0"/>
          </a:xfrm>
          <a:prstGeom prst="line">
            <a:avLst/>
          </a:prstGeom>
          <a:ln w="19050">
            <a:solidFill>
              <a:srgbClr val="7A8699"/>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9498787" y="3877055"/>
            <a:ext cx="128016" cy="128016"/>
          </a:xfrm>
          <a:prstGeom prst="ellipse">
            <a:avLst/>
          </a:prstGeom>
          <a:noFill/>
          <a:ln w="15875">
            <a:solidFill>
              <a:srgbClr val="7A86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396020" y="3813048"/>
            <a:ext cx="256032" cy="256032"/>
          </a:xfrm>
          <a:prstGeom prst="ellipse">
            <a:avLst/>
          </a:prstGeom>
          <a:noFill/>
          <a:ln w="254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434779" y="3813048"/>
            <a:ext cx="256032" cy="256032"/>
          </a:xfrm>
          <a:prstGeom prst="ellipse">
            <a:avLst/>
          </a:prstGeom>
          <a:noFill/>
          <a:ln w="254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302752" y="4279392"/>
            <a:ext cx="1481328" cy="228600"/>
          </a:xfrm>
          <a:prstGeom prst="rect">
            <a:avLst/>
          </a:prstGeom>
          <a:noFill/>
        </p:spPr>
        <p:txBody>
          <a:bodyPr wrap="square" lIns="0" rIns="0" tIns="0" bIns="0" anchor="t">
            <a:spAutoFit/>
          </a:bodyPr>
          <a:lstStyle/>
          <a:p>
            <a:pPr algn="ctr"/>
            <a:r>
              <a:rPr sz="1100" b="1" i="0">
                <a:solidFill>
                  <a:srgbClr val="005CE6"/>
                </a:solidFill>
                <a:latin typeface="Arial"/>
              </a:rPr>
              <a:t>GCash</a:t>
            </a:r>
          </a:p>
        </p:txBody>
      </p:sp>
      <p:sp>
        <p:nvSpPr>
          <p:cNvPr id="79" name="Rounded Rectangle 78"/>
          <p:cNvSpPr/>
          <p:nvPr/>
        </p:nvSpPr>
        <p:spPr>
          <a:xfrm>
            <a:off x="10113263" y="1417320"/>
            <a:ext cx="1481328" cy="278892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10186415" y="1490472"/>
            <a:ext cx="1335024" cy="2642615"/>
          </a:xfrm>
          <a:prstGeom prst="roundRect">
            <a:avLst>
              <a:gd name="adj" fmla="val 9000"/>
            </a:avLst>
          </a:prstGeom>
          <a:solidFill>
            <a:srgbClr val="31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10579607" y="155448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369295" y="1545336"/>
            <a:ext cx="548640" cy="146304"/>
          </a:xfrm>
          <a:prstGeom prst="rect">
            <a:avLst/>
          </a:prstGeom>
          <a:noFill/>
        </p:spPr>
        <p:txBody>
          <a:bodyPr wrap="square" lIns="0" rIns="0" tIns="0" bIns="0" anchor="t">
            <a:spAutoFit/>
          </a:bodyPr>
          <a:lstStyle/>
          <a:p>
            <a:pPr algn="l"/>
            <a:r>
              <a:rPr sz="700" b="1" i="0">
                <a:solidFill>
                  <a:srgbClr val="FFFFFF"/>
                </a:solidFill>
                <a:latin typeface="Arial"/>
              </a:rPr>
              <a:t>9:41</a:t>
            </a:r>
          </a:p>
        </p:txBody>
      </p:sp>
      <p:sp>
        <p:nvSpPr>
          <p:cNvPr id="83" name="TextBox 82"/>
          <p:cNvSpPr txBox="1"/>
          <p:nvPr/>
        </p:nvSpPr>
        <p:spPr>
          <a:xfrm>
            <a:off x="10277855" y="1764792"/>
            <a:ext cx="1335024" cy="201168"/>
          </a:xfrm>
          <a:prstGeom prst="rect">
            <a:avLst/>
          </a:prstGeom>
          <a:noFill/>
        </p:spPr>
        <p:txBody>
          <a:bodyPr wrap="square" lIns="0" rIns="0" tIns="0" bIns="0" anchor="t">
            <a:spAutoFit/>
          </a:bodyPr>
          <a:lstStyle/>
          <a:p>
            <a:pPr algn="l"/>
            <a:r>
              <a:rPr sz="900" b="1" i="0">
                <a:solidFill>
                  <a:srgbClr val="FFFFFF"/>
                </a:solidFill>
                <a:latin typeface="Arial"/>
              </a:rPr>
              <a:t>Discord</a:t>
            </a:r>
          </a:p>
        </p:txBody>
      </p:sp>
      <p:sp>
        <p:nvSpPr>
          <p:cNvPr id="84" name="Rounded Rectangle 83"/>
          <p:cNvSpPr/>
          <p:nvPr/>
        </p:nvSpPr>
        <p:spPr>
          <a:xfrm>
            <a:off x="10259567" y="2057400"/>
            <a:ext cx="1188720" cy="868680"/>
          </a:xfrm>
          <a:prstGeom prst="roundRect">
            <a:avLst>
              <a:gd name="adj" fmla="val 8000"/>
            </a:avLst>
          </a:prstGeom>
          <a:solidFill>
            <a:srgbClr val="4042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10296143" y="3044952"/>
            <a:ext cx="934516" cy="54864"/>
          </a:xfrm>
          <a:prstGeom prst="roundRect">
            <a:avLst>
              <a:gd name="adj" fmla="val 50000"/>
            </a:avLst>
          </a:prstGeom>
          <a:solidFill>
            <a:srgbClr val="5C5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10296143" y="3154680"/>
            <a:ext cx="667512" cy="54864"/>
          </a:xfrm>
          <a:prstGeom prst="roundRect">
            <a:avLst>
              <a:gd name="adj" fmla="val 50000"/>
            </a:avLst>
          </a:prstGeom>
          <a:solidFill>
            <a:srgbClr val="5C5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10296143" y="3264408"/>
            <a:ext cx="827714" cy="54864"/>
          </a:xfrm>
          <a:prstGeom prst="roundRect">
            <a:avLst>
              <a:gd name="adj" fmla="val 50000"/>
            </a:avLst>
          </a:prstGeom>
          <a:solidFill>
            <a:srgbClr val="5C5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0204703" y="3785615"/>
            <a:ext cx="1298448" cy="310896"/>
          </a:xfrm>
          <a:prstGeom prst="rect">
            <a:avLst/>
          </a:prstGeom>
          <a:solidFill>
            <a:srgbClr val="1E1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Isosceles Triangle 88"/>
          <p:cNvSpPr/>
          <p:nvPr/>
        </p:nvSpPr>
        <p:spPr>
          <a:xfrm>
            <a:off x="10357103" y="3877055"/>
            <a:ext cx="128016" cy="64008"/>
          </a:xfrm>
          <a:prstGeom prst="triangle">
            <a:avLst/>
          </a:prstGeom>
          <a:solidFill>
            <a:srgbClr val="B5B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378866" y="3935943"/>
            <a:ext cx="84490" cy="64008"/>
          </a:xfrm>
          <a:prstGeom prst="rect">
            <a:avLst/>
          </a:prstGeom>
          <a:solidFill>
            <a:srgbClr val="B5B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Delay 90"/>
          <p:cNvSpPr/>
          <p:nvPr/>
        </p:nvSpPr>
        <p:spPr>
          <a:xfrm rot="16200000">
            <a:off x="10802721" y="3877055"/>
            <a:ext cx="102412" cy="102412"/>
          </a:xfrm>
          <a:prstGeom prst="flowChartDelay">
            <a:avLst/>
          </a:prstGeom>
          <a:noFill/>
          <a:ln w="15875">
            <a:solidFill>
              <a:srgbClr val="B5BA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0841126" y="3976908"/>
            <a:ext cx="25603" cy="25603"/>
          </a:xfrm>
          <a:prstGeom prst="ellipse">
            <a:avLst/>
          </a:prstGeom>
          <a:solidFill>
            <a:srgbClr val="B5B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1222735" y="3877055"/>
            <a:ext cx="128016" cy="128016"/>
          </a:xfrm>
          <a:prstGeom prst="ellipse">
            <a:avLst/>
          </a:prstGeom>
          <a:noFill/>
          <a:ln w="15875">
            <a:solidFill>
              <a:srgbClr val="B5BA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0293095" y="3813048"/>
            <a:ext cx="256032" cy="256032"/>
          </a:xfrm>
          <a:prstGeom prst="ellipse">
            <a:avLst/>
          </a:prstGeom>
          <a:noFill/>
          <a:ln w="254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1158727" y="3813048"/>
            <a:ext cx="256032" cy="256032"/>
          </a:xfrm>
          <a:prstGeom prst="ellipse">
            <a:avLst/>
          </a:prstGeom>
          <a:noFill/>
          <a:ln w="254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113263" y="4279392"/>
            <a:ext cx="1481328" cy="228600"/>
          </a:xfrm>
          <a:prstGeom prst="rect">
            <a:avLst/>
          </a:prstGeom>
          <a:noFill/>
        </p:spPr>
        <p:txBody>
          <a:bodyPr wrap="square" lIns="0" rIns="0" tIns="0" bIns="0" anchor="t">
            <a:spAutoFit/>
          </a:bodyPr>
          <a:lstStyle/>
          <a:p>
            <a:pPr algn="ctr"/>
            <a:r>
              <a:rPr sz="1100" b="1" i="0">
                <a:solidFill>
                  <a:srgbClr val="5865F2"/>
                </a:solidFill>
                <a:latin typeface="Arial"/>
              </a:rPr>
              <a:t>Discord</a:t>
            </a:r>
          </a:p>
        </p:txBody>
      </p:sp>
      <p:sp>
        <p:nvSpPr>
          <p:cNvPr id="97" name="TextBox 96"/>
          <p:cNvSpPr txBox="1"/>
          <p:nvPr/>
        </p:nvSpPr>
        <p:spPr>
          <a:xfrm>
            <a:off x="4709160" y="4645152"/>
            <a:ext cx="6949440" cy="228600"/>
          </a:xfrm>
          <a:prstGeom prst="rect">
            <a:avLst/>
          </a:prstGeom>
          <a:noFill/>
        </p:spPr>
        <p:txBody>
          <a:bodyPr wrap="square" lIns="0" rIns="0" tIns="0" bIns="0" anchor="t">
            <a:spAutoFit/>
          </a:bodyPr>
          <a:lstStyle/>
          <a:p>
            <a:pPr algn="l"/>
            <a:r>
              <a:rPr sz="1100" b="1" i="0">
                <a:solidFill>
                  <a:srgbClr val="002060"/>
                </a:solidFill>
                <a:latin typeface="Arial"/>
              </a:rPr>
              <a:t>EVERYDAY EXAMPLE  ·  INSTAGRAM, FACEBOOK, GCASH, DISCORD</a:t>
            </a:r>
          </a:p>
        </p:txBody>
      </p:sp>
      <p:sp>
        <p:nvSpPr>
          <p:cNvPr id="98" name="TextBox 97"/>
          <p:cNvSpPr txBox="1"/>
          <p:nvPr/>
        </p:nvSpPr>
        <p:spPr>
          <a:xfrm>
            <a:off x="4709160" y="4919472"/>
            <a:ext cx="6949440" cy="365760"/>
          </a:xfrm>
          <a:prstGeom prst="rect">
            <a:avLst/>
          </a:prstGeom>
          <a:noFill/>
        </p:spPr>
        <p:txBody>
          <a:bodyPr wrap="square" lIns="0" rIns="0" tIns="0" bIns="0" anchor="t">
            <a:spAutoFit/>
          </a:bodyPr>
          <a:lstStyle/>
          <a:p>
            <a:pPr algn="l"/>
            <a:r>
              <a:rPr sz="2000" b="1" i="0">
                <a:solidFill>
                  <a:srgbClr val="002060"/>
                </a:solidFill>
                <a:latin typeface="Arial"/>
              </a:rPr>
              <a:t>Same spot, every app</a:t>
            </a:r>
          </a:p>
        </p:txBody>
      </p:sp>
      <p:sp>
        <p:nvSpPr>
          <p:cNvPr id="99" name="TextBox 98"/>
          <p:cNvSpPr txBox="1"/>
          <p:nvPr/>
        </p:nvSpPr>
        <p:spPr>
          <a:xfrm>
            <a:off x="4709160" y="5349240"/>
            <a:ext cx="6949440" cy="1005840"/>
          </a:xfrm>
          <a:prstGeom prst="rect">
            <a:avLst/>
          </a:prstGeom>
          <a:noFill/>
        </p:spPr>
        <p:txBody>
          <a:bodyPr wrap="square" lIns="0" rIns="0" tIns="0" bIns="0" anchor="t">
            <a:spAutoFit/>
          </a:bodyPr>
          <a:lstStyle/>
          <a:p>
            <a:pPr algn="l"/>
            <a:r>
              <a:rPr sz="1400" b="0" i="0">
                <a:solidFill>
                  <a:srgbClr val="333333"/>
                </a:solidFill>
                <a:latin typeface="Arial"/>
              </a:rPr>
              <a:t>Each app looks different, but Home is always the first tab at the bottom and your profile or menu sits at the far end (circled). You learned this pattern from other apps, so a new app feels familiar on day one.</a:t>
            </a:r>
          </a:p>
        </p:txBody>
      </p:sp>
      <p:sp>
        <p:nvSpPr>
          <p:cNvPr id="100" name="TextBox 99"/>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32123721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8BCF2-B017-1C71-DC98-3D66FF057B39}"/>
              </a:ext>
            </a:extLst>
          </p:cNvPr>
          <p:cNvSpPr>
            <a:spLocks noGrp="1"/>
          </p:cNvSpPr>
          <p:nvPr>
            <p:ph type="title"/>
          </p:nvPr>
        </p:nvSpPr>
        <p:spPr/>
        <p:txBody>
          <a:bodyPr/>
          <a:lstStyle/>
          <a:p>
            <a:r>
              <a:rPr lang="en-PH" dirty="0" err="1"/>
              <a:t>Jakob’s Law: Key Ideas</a:t>
            </a:r>
            <a:endParaRPr lang="en-PH" dirty="0"/>
          </a:p>
        </p:txBody>
      </p:sp>
      <p:sp>
        <p:nvSpPr>
          <p:cNvPr id="3" name="Content Placeholder 2">
            <a:extLst>
              <a:ext uri="{FF2B5EF4-FFF2-40B4-BE49-F238E27FC236}">
                <a16:creationId xmlns:a16="http://schemas.microsoft.com/office/drawing/2014/main" id="{AF59A16A-C5F1-C550-C420-67CDA55A8076}"/>
              </a:ext>
            </a:extLst>
          </p:cNvPr>
          <p:cNvSpPr>
            <a:spLocks noGrp="1"/>
          </p:cNvSpPr>
          <p:nvPr>
            <p:ph idx="1"/>
          </p:nvPr>
        </p:nvSpPr>
        <p:spPr/>
        <p:txBody>
          <a:bodyPr>
            <a:normAutofit fontScale="92500" lnSpcReduction="20000"/>
          </a:bodyPr>
          <a:lstStyle/>
          <a:p>
            <a:r>
              <a:rPr lang="en-US" b="1" dirty="0"/>
              <a:t>Expectation-Driven Design:</a:t>
            </a:r>
            <a:r>
              <a:rPr lang="en-US" dirty="0"/>
              <a:t> Users bring expectations from other sites; violating these patterns causes frustration.</a:t>
            </a:r>
          </a:p>
          <a:p>
            <a:r>
              <a:rPr lang="en-US" b="1" dirty="0"/>
              <a:t>Familiarity Over Novelty:</a:t>
            </a:r>
            <a:r>
              <a:rPr lang="en-US" dirty="0"/>
              <a:t> Users prefer familiar, predictable, and consistent layouts (e.g., logo on the top left, shopping cart icon, search bar).</a:t>
            </a:r>
          </a:p>
          <a:p>
            <a:r>
              <a:rPr lang="en-US" b="1" dirty="0"/>
              <a:t>Reduced Cognitive Load:</a:t>
            </a:r>
            <a:r>
              <a:rPr lang="en-US" dirty="0"/>
              <a:t> By using established patterns, you reduce the mental effort required to learn a new interface.</a:t>
            </a:r>
          </a:p>
          <a:p>
            <a:r>
              <a:rPr lang="en-US" b="1" dirty="0"/>
              <a:t>Context:</a:t>
            </a:r>
            <a:r>
              <a:rPr lang="en-US" dirty="0"/>
              <a:t> Applicable to websites, apps, and voice interfaces. </a:t>
            </a:r>
          </a:p>
          <a:p>
            <a:endParaRPr lang="en-PH" dirty="0"/>
          </a:p>
        </p:txBody>
      </p:sp>
    </p:spTree>
    <p:extLst>
      <p:ext uri="{BB962C8B-B14F-4D97-AF65-F5344CB8AC3E}">
        <p14:creationId xmlns:p14="http://schemas.microsoft.com/office/powerpoint/2010/main" val="5128933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80B3A-0A7F-6085-B4D1-43239BD74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813163-5062-A2DC-56DB-9279640D168F}"/>
              </a:ext>
            </a:extLst>
          </p:cNvPr>
          <p:cNvSpPr>
            <a:spLocks noGrp="1"/>
          </p:cNvSpPr>
          <p:nvPr>
            <p:ph type="title"/>
          </p:nvPr>
        </p:nvSpPr>
        <p:spPr/>
        <p:txBody>
          <a:bodyPr anchor="ctr">
            <a:normAutofit/>
          </a:bodyPr>
          <a:lstStyle/>
          <a:p>
            <a:r>
              <a:rPr lang="en-PH" dirty="0"/>
              <a:t>Law of Common Region</a:t>
            </a:r>
          </a:p>
        </p:txBody>
      </p:sp>
      <p:pic>
        <p:nvPicPr>
          <p:cNvPr id="6" name="Picture 5" descr="A green square with a white circle in it&#10;&#10;AI-generated content may be incorrect.">
            <a:extLst>
              <a:ext uri="{FF2B5EF4-FFF2-40B4-BE49-F238E27FC236}">
                <a16:creationId xmlns:a16="http://schemas.microsoft.com/office/drawing/2014/main" id="{B23E5E69-DA28-67B2-798B-C25F71E6FF98}"/>
              </a:ext>
            </a:extLst>
          </p:cNvPr>
          <p:cNvPicPr preferRelativeResize="0">
            <a:picLocks/>
          </p:cNvPicPr>
          <p:nvPr/>
        </p:nvPicPr>
        <p:blipFill>
          <a:blip r:embed="rId3"/>
          <a:stretch>
            <a:fillRect/>
          </a:stretch>
        </p:blipFill>
        <p:spPr>
          <a:xfrm>
            <a:off x="481781" y="1601993"/>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C9F31670-49E8-E02D-CEF9-08BAD297C91E}"/>
              </a:ext>
            </a:extLst>
          </p:cNvPr>
          <p:cNvPicPr>
            <a:picLocks noChangeAspect="1"/>
          </p:cNvPicPr>
          <p:nvPr/>
        </p:nvPicPr>
        <p:blipFill>
          <a:blip r:embed="rId4"/>
          <a:srcRect b="8078"/>
          <a:stretch>
            <a:fillRect/>
          </a:stretch>
        </p:blipFill>
        <p:spPr>
          <a:xfrm>
            <a:off x="7295622" y="1601993"/>
            <a:ext cx="2090101" cy="4748400"/>
          </a:xfrm>
          <a:prstGeom prst="rect">
            <a:avLst/>
          </a:prstGeom>
        </p:spPr>
      </p:pic>
    </p:spTree>
    <p:extLst>
      <p:ext uri="{BB962C8B-B14F-4D97-AF65-F5344CB8AC3E}">
        <p14:creationId xmlns:p14="http://schemas.microsoft.com/office/powerpoint/2010/main" val="2576528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80B3A-0A7F-6085-B4D1-43239BD74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813163-5062-A2DC-56DB-9279640D168F}"/>
              </a:ext>
            </a:extLst>
          </p:cNvPr>
          <p:cNvSpPr>
            <a:spLocks noGrp="1"/>
          </p:cNvSpPr>
          <p:nvPr>
            <p:ph type="title"/>
          </p:nvPr>
        </p:nvSpPr>
        <p:spPr/>
        <p:txBody>
          <a:bodyPr anchor="ctr">
            <a:normAutofit/>
          </a:bodyPr>
          <a:lstStyle/>
          <a:p>
            <a:r>
              <a:rPr lang="en-PH" dirty="0"/>
              <a:t>Law of Common Region</a:t>
            </a:r>
          </a:p>
        </p:txBody>
      </p:sp>
      <p:pic>
        <p:nvPicPr>
          <p:cNvPr id="6" name="Picture 5" descr="A green square with a white circle in it&#10;&#10;AI-generated content may be incorrect.">
            <a:extLst>
              <a:ext uri="{FF2B5EF4-FFF2-40B4-BE49-F238E27FC236}">
                <a16:creationId xmlns:a16="http://schemas.microsoft.com/office/drawing/2014/main" id="{B23E5E69-DA28-67B2-798B-C25F71E6FF98}"/>
              </a:ext>
            </a:extLst>
          </p:cNvPr>
          <p:cNvPicPr preferRelativeResize="0">
            <a:picLocks/>
          </p:cNvPicPr>
          <p:nvPr/>
        </p:nvPicPr>
        <p:blipFill>
          <a:blip r:embed="rId3"/>
          <a:stretch>
            <a:fillRect/>
          </a:stretch>
        </p:blipFill>
        <p:spPr>
          <a:xfrm>
            <a:off x="481781" y="1601993"/>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ounded Rectangle 7"/>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82312" y="1444752"/>
            <a:ext cx="2276856" cy="4791456"/>
          </a:xfrm>
          <a:prstGeom prst="roundRect">
            <a:avLst>
              <a:gd name="adj" fmla="val 9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12" name="Rectangle 11"/>
          <p:cNvSpPr/>
          <p:nvPr/>
        </p:nvSpPr>
        <p:spPr>
          <a:xfrm>
            <a:off x="4782312" y="1719072"/>
            <a:ext cx="2276856"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1783080"/>
            <a:ext cx="1463040" cy="256032"/>
          </a:xfrm>
          <a:prstGeom prst="rect">
            <a:avLst/>
          </a:prstGeom>
          <a:noFill/>
        </p:spPr>
        <p:txBody>
          <a:bodyPr wrap="square" lIns="0" rIns="0" tIns="0" bIns="0" anchor="t">
            <a:spAutoFit/>
          </a:bodyPr>
          <a:lstStyle/>
          <a:p>
            <a:pPr algn="l"/>
            <a:r>
              <a:rPr sz="1300" b="1" i="0">
                <a:solidFill>
                  <a:srgbClr val="1877F2"/>
                </a:solidFill>
                <a:latin typeface="Arial"/>
              </a:rPr>
              <a:t>Facebook</a:t>
            </a:r>
          </a:p>
        </p:txBody>
      </p:sp>
      <p:sp>
        <p:nvSpPr>
          <p:cNvPr id="14" name="Oval 13"/>
          <p:cNvSpPr/>
          <p:nvPr/>
        </p:nvSpPr>
        <p:spPr>
          <a:xfrm>
            <a:off x="6492240" y="1828800"/>
            <a:ext cx="123444" cy="123444"/>
          </a:xfrm>
          <a:prstGeom prst="ellipse">
            <a:avLst/>
          </a:prstGeom>
          <a:noFill/>
          <a:ln w="19050">
            <a:solidFill>
              <a:srgbClr val="0505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6594287" y="1930847"/>
            <a:ext cx="62545" cy="62545"/>
          </a:xfrm>
          <a:prstGeom prst="line">
            <a:avLst/>
          </a:prstGeom>
          <a:ln w="22225">
            <a:solidFill>
              <a:srgbClr val="05050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766560" y="1861261"/>
            <a:ext cx="155448" cy="0"/>
          </a:xfrm>
          <a:prstGeom prst="line">
            <a:avLst/>
          </a:prstGeom>
          <a:ln w="19050">
            <a:solidFill>
              <a:srgbClr val="05050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766560" y="1915668"/>
            <a:ext cx="155448" cy="0"/>
          </a:xfrm>
          <a:prstGeom prst="line">
            <a:avLst/>
          </a:prstGeom>
          <a:ln w="19050">
            <a:solidFill>
              <a:srgbClr val="05050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766560" y="1970074"/>
            <a:ext cx="155448" cy="0"/>
          </a:xfrm>
          <a:prstGeom prst="line">
            <a:avLst/>
          </a:prstGeom>
          <a:ln w="19050">
            <a:solidFill>
              <a:srgbClr val="05050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782312" y="2194560"/>
            <a:ext cx="2276856" cy="1920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92040" y="2286000"/>
            <a:ext cx="292608" cy="292608"/>
          </a:xfrm>
          <a:prstGeom prst="ellipse">
            <a:avLst/>
          </a:prstGeom>
          <a:solidFill>
            <a:srgbClr val="9C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2286000"/>
            <a:ext cx="1463040" cy="155448"/>
          </a:xfrm>
          <a:prstGeom prst="rect">
            <a:avLst/>
          </a:prstGeom>
          <a:noFill/>
        </p:spPr>
        <p:txBody>
          <a:bodyPr wrap="square" lIns="0" rIns="0" tIns="0" bIns="0" anchor="t">
            <a:spAutoFit/>
          </a:bodyPr>
          <a:lstStyle/>
          <a:p>
            <a:pPr algn="l"/>
            <a:r>
              <a:rPr sz="800" b="1" i="0">
                <a:solidFill>
                  <a:srgbClr val="222222"/>
                </a:solidFill>
                <a:latin typeface="Arial"/>
              </a:rPr>
              <a:t>Ana Reyes</a:t>
            </a:r>
          </a:p>
        </p:txBody>
      </p:sp>
      <p:sp>
        <p:nvSpPr>
          <p:cNvPr id="22" name="TextBox 21"/>
          <p:cNvSpPr txBox="1"/>
          <p:nvPr/>
        </p:nvSpPr>
        <p:spPr>
          <a:xfrm>
            <a:off x="5257800" y="2432304"/>
            <a:ext cx="1463040" cy="137160"/>
          </a:xfrm>
          <a:prstGeom prst="rect">
            <a:avLst/>
          </a:prstGeom>
          <a:noFill/>
        </p:spPr>
        <p:txBody>
          <a:bodyPr wrap="square" lIns="0" rIns="0" tIns="0" bIns="0" anchor="t">
            <a:spAutoFit/>
          </a:bodyPr>
          <a:lstStyle/>
          <a:p>
            <a:pPr algn="l"/>
            <a:r>
              <a:rPr sz="700" b="0" i="0">
                <a:solidFill>
                  <a:srgbClr val="65676B"/>
                </a:solidFill>
                <a:latin typeface="Arial"/>
              </a:rPr>
              <a:t>2h</a:t>
            </a:r>
          </a:p>
        </p:txBody>
      </p:sp>
      <p:sp>
        <p:nvSpPr>
          <p:cNvPr id="23" name="Rounded Rectangle 22"/>
          <p:cNvSpPr/>
          <p:nvPr/>
        </p:nvSpPr>
        <p:spPr>
          <a:xfrm>
            <a:off x="4892040" y="2670048"/>
            <a:ext cx="1821484"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92040" y="2779776"/>
            <a:ext cx="1252270"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82312" y="2907792"/>
            <a:ext cx="2276856" cy="868680"/>
          </a:xfrm>
          <a:prstGeom prst="rect">
            <a:avLst/>
          </a:prstGeom>
          <a:solidFill>
            <a:srgbClr val="BFE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85036" y="3046780"/>
            <a:ext cx="364296" cy="364296"/>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827849" y="3272637"/>
            <a:ext cx="1411650" cy="503834"/>
          </a:xfrm>
          <a:prstGeom prst="triangle">
            <a:avLst/>
          </a:prstGeom>
          <a:solidFill>
            <a:srgbClr val="7FB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647517" y="3168396"/>
            <a:ext cx="1411650" cy="608076"/>
          </a:xfrm>
          <a:prstGeom prst="triangle">
            <a:avLst/>
          </a:prstGeom>
          <a:solidFill>
            <a:srgbClr val="4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4873752" y="3803904"/>
            <a:ext cx="2093976" cy="0"/>
          </a:xfrm>
          <a:prstGeom prst="line">
            <a:avLst/>
          </a:prstGeom>
          <a:ln w="9525">
            <a:solidFill>
              <a:srgbClr val="E4E6E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782312" y="3867912"/>
            <a:ext cx="758952" cy="164592"/>
          </a:xfrm>
          <a:prstGeom prst="rect">
            <a:avLst/>
          </a:prstGeom>
          <a:noFill/>
        </p:spPr>
        <p:txBody>
          <a:bodyPr wrap="square" lIns="0" rIns="0" tIns="0" bIns="0" anchor="t">
            <a:spAutoFit/>
          </a:bodyPr>
          <a:lstStyle/>
          <a:p>
            <a:pPr algn="ctr"/>
            <a:r>
              <a:rPr sz="800" b="1" i="0">
                <a:solidFill>
                  <a:srgbClr val="65676B"/>
                </a:solidFill>
                <a:latin typeface="Arial"/>
              </a:rPr>
              <a:t>Like</a:t>
            </a:r>
          </a:p>
        </p:txBody>
      </p:sp>
      <p:sp>
        <p:nvSpPr>
          <p:cNvPr id="31" name="TextBox 30"/>
          <p:cNvSpPr txBox="1"/>
          <p:nvPr/>
        </p:nvSpPr>
        <p:spPr>
          <a:xfrm>
            <a:off x="5541264" y="3867912"/>
            <a:ext cx="758952" cy="164592"/>
          </a:xfrm>
          <a:prstGeom prst="rect">
            <a:avLst/>
          </a:prstGeom>
          <a:noFill/>
        </p:spPr>
        <p:txBody>
          <a:bodyPr wrap="square" lIns="0" rIns="0" tIns="0" bIns="0" anchor="t">
            <a:spAutoFit/>
          </a:bodyPr>
          <a:lstStyle/>
          <a:p>
            <a:pPr algn="ctr"/>
            <a:r>
              <a:rPr sz="800" b="1" i="0">
                <a:solidFill>
                  <a:srgbClr val="65676B"/>
                </a:solidFill>
                <a:latin typeface="Arial"/>
              </a:rPr>
              <a:t>Comment</a:t>
            </a:r>
          </a:p>
        </p:txBody>
      </p:sp>
      <p:sp>
        <p:nvSpPr>
          <p:cNvPr id="32" name="TextBox 31"/>
          <p:cNvSpPr txBox="1"/>
          <p:nvPr/>
        </p:nvSpPr>
        <p:spPr>
          <a:xfrm>
            <a:off x="6300216" y="3867912"/>
            <a:ext cx="758952" cy="164592"/>
          </a:xfrm>
          <a:prstGeom prst="rect">
            <a:avLst/>
          </a:prstGeom>
          <a:noFill/>
        </p:spPr>
        <p:txBody>
          <a:bodyPr wrap="square" lIns="0" rIns="0" tIns="0" bIns="0" anchor="t">
            <a:spAutoFit/>
          </a:bodyPr>
          <a:lstStyle/>
          <a:p>
            <a:pPr algn="ctr"/>
            <a:r>
              <a:rPr sz="800" b="1" i="0">
                <a:solidFill>
                  <a:srgbClr val="65676B"/>
                </a:solidFill>
                <a:latin typeface="Arial"/>
              </a:rPr>
              <a:t>Share</a:t>
            </a:r>
          </a:p>
        </p:txBody>
      </p:sp>
      <p:sp>
        <p:nvSpPr>
          <p:cNvPr id="33" name="Rectangle 32"/>
          <p:cNvSpPr/>
          <p:nvPr/>
        </p:nvSpPr>
        <p:spPr>
          <a:xfrm>
            <a:off x="4782312" y="4224528"/>
            <a:ext cx="2276856"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892040" y="4315968"/>
            <a:ext cx="292608" cy="292608"/>
          </a:xfrm>
          <a:prstGeom prst="ellipse">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57800" y="4315968"/>
            <a:ext cx="1463040" cy="155448"/>
          </a:xfrm>
          <a:prstGeom prst="rect">
            <a:avLst/>
          </a:prstGeom>
          <a:noFill/>
        </p:spPr>
        <p:txBody>
          <a:bodyPr wrap="square" lIns="0" rIns="0" tIns="0" bIns="0" anchor="t">
            <a:spAutoFit/>
          </a:bodyPr>
          <a:lstStyle/>
          <a:p>
            <a:pPr algn="l"/>
            <a:r>
              <a:rPr sz="800" b="1" i="0">
                <a:solidFill>
                  <a:srgbClr val="222222"/>
                </a:solidFill>
                <a:latin typeface="Arial"/>
              </a:rPr>
              <a:t>Carlo Santos</a:t>
            </a:r>
          </a:p>
        </p:txBody>
      </p:sp>
      <p:sp>
        <p:nvSpPr>
          <p:cNvPr id="36" name="TextBox 35"/>
          <p:cNvSpPr txBox="1"/>
          <p:nvPr/>
        </p:nvSpPr>
        <p:spPr>
          <a:xfrm>
            <a:off x="5257800" y="4462272"/>
            <a:ext cx="1463040" cy="137160"/>
          </a:xfrm>
          <a:prstGeom prst="rect">
            <a:avLst/>
          </a:prstGeom>
          <a:noFill/>
        </p:spPr>
        <p:txBody>
          <a:bodyPr wrap="square" lIns="0" rIns="0" tIns="0" bIns="0" anchor="t">
            <a:spAutoFit/>
          </a:bodyPr>
          <a:lstStyle/>
          <a:p>
            <a:pPr algn="l"/>
            <a:r>
              <a:rPr sz="700" b="0" i="0">
                <a:solidFill>
                  <a:srgbClr val="65676B"/>
                </a:solidFill>
                <a:latin typeface="Arial"/>
              </a:rPr>
              <a:t>5h</a:t>
            </a:r>
          </a:p>
        </p:txBody>
      </p:sp>
      <p:sp>
        <p:nvSpPr>
          <p:cNvPr id="37" name="Rounded Rectangle 36"/>
          <p:cNvSpPr/>
          <p:nvPr/>
        </p:nvSpPr>
        <p:spPr>
          <a:xfrm>
            <a:off x="4892040" y="4700016"/>
            <a:ext cx="1821484"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892040" y="4809744"/>
            <a:ext cx="1252270"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782312" y="4937760"/>
            <a:ext cx="2276856" cy="960120"/>
          </a:xfrm>
          <a:prstGeom prst="rect">
            <a:avLst/>
          </a:prstGeom>
          <a:solidFill>
            <a:srgbClr val="F9D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285036" y="5091379"/>
            <a:ext cx="364296" cy="364296"/>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a:off x="4827849" y="5341010"/>
            <a:ext cx="1411650" cy="556869"/>
          </a:xfrm>
          <a:prstGeom prst="triangle">
            <a:avLst/>
          </a:prstGeom>
          <a:solidFill>
            <a:srgbClr val="7FB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Isosceles Triangle 41"/>
          <p:cNvSpPr/>
          <p:nvPr/>
        </p:nvSpPr>
        <p:spPr>
          <a:xfrm>
            <a:off x="5647517" y="5225796"/>
            <a:ext cx="1411650" cy="672084"/>
          </a:xfrm>
          <a:prstGeom prst="triangle">
            <a:avLst/>
          </a:prstGeom>
          <a:solidFill>
            <a:srgbClr val="4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4873752" y="5925312"/>
            <a:ext cx="2093976" cy="0"/>
          </a:xfrm>
          <a:prstGeom prst="line">
            <a:avLst/>
          </a:prstGeom>
          <a:ln w="9525">
            <a:solidFill>
              <a:srgbClr val="E4E6EB"/>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4782312" y="5989320"/>
            <a:ext cx="758952" cy="164592"/>
          </a:xfrm>
          <a:prstGeom prst="rect">
            <a:avLst/>
          </a:prstGeom>
          <a:noFill/>
        </p:spPr>
        <p:txBody>
          <a:bodyPr wrap="square" lIns="0" rIns="0" tIns="0" bIns="0" anchor="t">
            <a:spAutoFit/>
          </a:bodyPr>
          <a:lstStyle/>
          <a:p>
            <a:pPr algn="ctr"/>
            <a:r>
              <a:rPr sz="800" b="1" i="0">
                <a:solidFill>
                  <a:srgbClr val="65676B"/>
                </a:solidFill>
                <a:latin typeface="Arial"/>
              </a:rPr>
              <a:t>Like</a:t>
            </a:r>
          </a:p>
        </p:txBody>
      </p:sp>
      <p:sp>
        <p:nvSpPr>
          <p:cNvPr id="45" name="TextBox 44"/>
          <p:cNvSpPr txBox="1"/>
          <p:nvPr/>
        </p:nvSpPr>
        <p:spPr>
          <a:xfrm>
            <a:off x="5541264" y="5989320"/>
            <a:ext cx="758952" cy="164592"/>
          </a:xfrm>
          <a:prstGeom prst="rect">
            <a:avLst/>
          </a:prstGeom>
          <a:noFill/>
        </p:spPr>
        <p:txBody>
          <a:bodyPr wrap="square" lIns="0" rIns="0" tIns="0" bIns="0" anchor="t">
            <a:spAutoFit/>
          </a:bodyPr>
          <a:lstStyle/>
          <a:p>
            <a:pPr algn="ctr"/>
            <a:r>
              <a:rPr sz="800" b="1" i="0">
                <a:solidFill>
                  <a:srgbClr val="65676B"/>
                </a:solidFill>
                <a:latin typeface="Arial"/>
              </a:rPr>
              <a:t>Comment</a:t>
            </a:r>
          </a:p>
        </p:txBody>
      </p:sp>
      <p:sp>
        <p:nvSpPr>
          <p:cNvPr id="46" name="TextBox 45"/>
          <p:cNvSpPr txBox="1"/>
          <p:nvPr/>
        </p:nvSpPr>
        <p:spPr>
          <a:xfrm>
            <a:off x="6300216" y="5989320"/>
            <a:ext cx="758952" cy="164592"/>
          </a:xfrm>
          <a:prstGeom prst="rect">
            <a:avLst/>
          </a:prstGeom>
          <a:noFill/>
        </p:spPr>
        <p:txBody>
          <a:bodyPr wrap="square" lIns="0" rIns="0" tIns="0" bIns="0" anchor="t">
            <a:spAutoFit/>
          </a:bodyPr>
          <a:lstStyle/>
          <a:p>
            <a:pPr algn="ctr"/>
            <a:r>
              <a:rPr sz="800" b="1" i="0">
                <a:solidFill>
                  <a:srgbClr val="65676B"/>
                </a:solidFill>
                <a:latin typeface="Arial"/>
              </a:rPr>
              <a:t>Share</a:t>
            </a:r>
          </a:p>
        </p:txBody>
      </p:sp>
      <p:sp>
        <p:nvSpPr>
          <p:cNvPr id="47" name="Rectangle 46"/>
          <p:cNvSpPr/>
          <p:nvPr/>
        </p:nvSpPr>
        <p:spPr>
          <a:xfrm>
            <a:off x="4809744" y="2212848"/>
            <a:ext cx="2221991" cy="1883664"/>
          </a:xfrm>
          <a:prstGeom prst="rect">
            <a:avLst/>
          </a:prstGeom>
          <a:noFill/>
          <a:ln w="28575">
            <a:solidFill>
              <a:srgbClr val="2EB8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1877F2"/>
                </a:solidFill>
                <a:latin typeface="Arial"/>
              </a:rPr>
              <a:t>EVERYDAY EXAMPLE  ·  FACEBOOK</a:t>
            </a:r>
          </a:p>
        </p:txBody>
      </p:sp>
      <p:sp>
        <p:nvSpPr>
          <p:cNvPr id="49" name="TextBox 48"/>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Every post is a card</a:t>
            </a:r>
          </a:p>
        </p:txBody>
      </p:sp>
      <p:sp>
        <p:nvSpPr>
          <p:cNvPr id="50" name="TextBox 49"/>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Each post sits on its own white card against a grey background.</a:t>
            </a:r>
          </a:p>
          <a:p>
            <a:pPr algn="l">
              <a:spcAft>
                <a:spcPts val="900"/>
              </a:spcAft>
            </a:pPr>
            <a:r>
              <a:rPr sz="1400" b="0" i="0">
                <a:solidFill>
                  <a:srgbClr val="333333"/>
                </a:solidFill>
                <a:latin typeface="Arial"/>
              </a:rPr>
              <a:t>Posts are stacked close together, yet the card edges tell you which photo, likes and comments belong together.</a:t>
            </a:r>
          </a:p>
        </p:txBody>
      </p:sp>
      <p:sp>
        <p:nvSpPr>
          <p:cNvPr id="51" name="TextBox 50"/>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2576528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54B9E-1D6F-6A06-D5E3-9D7D1E990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310A6-F0A8-ACE1-5CC0-850C7F5B312E}"/>
              </a:ext>
            </a:extLst>
          </p:cNvPr>
          <p:cNvSpPr>
            <a:spLocks noGrp="1"/>
          </p:cNvSpPr>
          <p:nvPr>
            <p:ph type="title"/>
          </p:nvPr>
        </p:nvSpPr>
        <p:spPr/>
        <p:txBody>
          <a:bodyPr anchor="ctr">
            <a:normAutofit/>
          </a:bodyPr>
          <a:lstStyle/>
          <a:p>
            <a:r>
              <a:rPr lang="en-PH" dirty="0"/>
              <a:t>Law of Proximity</a:t>
            </a:r>
            <a:endParaRPr dirty="0"/>
          </a:p>
        </p:txBody>
      </p:sp>
      <p:pic>
        <p:nvPicPr>
          <p:cNvPr id="4" name="Picture 3">
            <a:extLst>
              <a:ext uri="{FF2B5EF4-FFF2-40B4-BE49-F238E27FC236}">
                <a16:creationId xmlns:a16="http://schemas.microsoft.com/office/drawing/2014/main" id="{5E9F8A6B-AAA0-5462-0C31-AF2A3E2F54D7}"/>
              </a:ext>
            </a:extLst>
          </p:cNvPr>
          <p:cNvPicPr preferRelativeResize="0">
            <a:picLocks/>
          </p:cNvPicPr>
          <p:nvPr/>
        </p:nvPicPr>
        <p:blipFill>
          <a:blip r:embed="rId3"/>
          <a:stretch>
            <a:fillRect/>
          </a:stretch>
        </p:blipFill>
        <p:spPr>
          <a:xfrm>
            <a:off x="609600" y="1484006"/>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0EFC2CBB-A967-3550-DBBF-DACC79DC91A1}"/>
              </a:ext>
            </a:extLst>
          </p:cNvPr>
          <p:cNvPicPr>
            <a:picLocks noChangeAspect="1"/>
          </p:cNvPicPr>
          <p:nvPr/>
        </p:nvPicPr>
        <p:blipFill>
          <a:blip r:embed="rId4"/>
          <a:stretch>
            <a:fillRect/>
          </a:stretch>
        </p:blipFill>
        <p:spPr>
          <a:xfrm>
            <a:off x="5135880" y="1783080"/>
            <a:ext cx="6103620" cy="4069080"/>
          </a:xfrm>
          <a:prstGeom prst="rect">
            <a:avLst/>
          </a:prstGeom>
        </p:spPr>
      </p:pic>
    </p:spTree>
    <p:extLst>
      <p:ext uri="{BB962C8B-B14F-4D97-AF65-F5344CB8AC3E}">
        <p14:creationId xmlns:p14="http://schemas.microsoft.com/office/powerpoint/2010/main" val="41142979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54B9E-1D6F-6A06-D5E3-9D7D1E990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310A6-F0A8-ACE1-5CC0-850C7F5B312E}"/>
              </a:ext>
            </a:extLst>
          </p:cNvPr>
          <p:cNvSpPr>
            <a:spLocks noGrp="1"/>
          </p:cNvSpPr>
          <p:nvPr>
            <p:ph type="title"/>
          </p:nvPr>
        </p:nvSpPr>
        <p:spPr/>
        <p:txBody>
          <a:bodyPr anchor="ctr">
            <a:normAutofit/>
          </a:bodyPr>
          <a:lstStyle/>
          <a:p>
            <a:r>
              <a:rPr lang="en-PH" dirty="0"/>
              <a:t>Law of Proximity</a:t>
            </a:r>
            <a:endParaRPr dirty="0"/>
          </a:p>
        </p:txBody>
      </p:sp>
      <p:pic>
        <p:nvPicPr>
          <p:cNvPr id="4" name="Picture 3">
            <a:extLst>
              <a:ext uri="{FF2B5EF4-FFF2-40B4-BE49-F238E27FC236}">
                <a16:creationId xmlns:a16="http://schemas.microsoft.com/office/drawing/2014/main" id="{5E9F8A6B-AAA0-5462-0C31-AF2A3E2F54D7}"/>
              </a:ext>
            </a:extLst>
          </p:cNvPr>
          <p:cNvPicPr preferRelativeResize="0">
            <a:picLocks/>
          </p:cNvPicPr>
          <p:nvPr/>
        </p:nvPicPr>
        <p:blipFill>
          <a:blip r:embed="rId3"/>
          <a:stretch>
            <a:fillRect/>
          </a:stretch>
        </p:blipFill>
        <p:spPr>
          <a:xfrm>
            <a:off x="609600" y="1484006"/>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ounded Rectangle 4"/>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82312" y="1444752"/>
            <a:ext cx="2276856" cy="4791456"/>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9" name="TextBox 8"/>
          <p:cNvSpPr txBox="1"/>
          <p:nvPr/>
        </p:nvSpPr>
        <p:spPr>
          <a:xfrm>
            <a:off x="4919472" y="1719072"/>
            <a:ext cx="1371600" cy="228600"/>
          </a:xfrm>
          <a:prstGeom prst="rect">
            <a:avLst/>
          </a:prstGeom>
          <a:noFill/>
        </p:spPr>
        <p:txBody>
          <a:bodyPr wrap="square" lIns="0" rIns="0" tIns="0" bIns="0" anchor="t">
            <a:spAutoFit/>
          </a:bodyPr>
          <a:lstStyle/>
          <a:p>
            <a:pPr algn="l"/>
            <a:r>
              <a:rPr sz="1200" b="1" i="0">
                <a:solidFill>
                  <a:srgbClr val="222222"/>
                </a:solidFill>
                <a:latin typeface="Arial"/>
              </a:rPr>
              <a:t>Instagram</a:t>
            </a:r>
          </a:p>
        </p:txBody>
      </p:sp>
      <p:sp>
        <p:nvSpPr>
          <p:cNvPr id="10" name="Heart 9"/>
          <p:cNvSpPr/>
          <p:nvPr/>
        </p:nvSpPr>
        <p:spPr>
          <a:xfrm>
            <a:off x="6492240" y="1755648"/>
            <a:ext cx="164592" cy="148132"/>
          </a:xfrm>
          <a:prstGeom prst="heart">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sosceles Triangle 10"/>
          <p:cNvSpPr/>
          <p:nvPr/>
        </p:nvSpPr>
        <p:spPr>
          <a:xfrm rot="5400000">
            <a:off x="6766560" y="1754733"/>
            <a:ext cx="148132" cy="131673"/>
          </a:xfrm>
          <a:prstGeom prst="triangle">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892040" y="2066544"/>
            <a:ext cx="274320" cy="274320"/>
          </a:xfrm>
          <a:prstGeom prst="ellipse">
            <a:avLst/>
          </a:prstGeom>
          <a:noFill/>
          <a:ln w="22225">
            <a:solidFill>
              <a:srgbClr val="C135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928616" y="2103120"/>
            <a:ext cx="201168" cy="201168"/>
          </a:xfrm>
          <a:prstGeom prst="ellipse">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9512" y="2130552"/>
            <a:ext cx="1463040" cy="164592"/>
          </a:xfrm>
          <a:prstGeom prst="rect">
            <a:avLst/>
          </a:prstGeom>
          <a:noFill/>
        </p:spPr>
        <p:txBody>
          <a:bodyPr wrap="square" lIns="0" rIns="0" tIns="0" bIns="0" anchor="t">
            <a:spAutoFit/>
          </a:bodyPr>
          <a:lstStyle/>
          <a:p>
            <a:pPr algn="l"/>
            <a:r>
              <a:rPr sz="800" b="1" i="0">
                <a:solidFill>
                  <a:srgbClr val="222222"/>
                </a:solidFill>
                <a:latin typeface="Arial"/>
              </a:rPr>
              <a:t>sagada.trips</a:t>
            </a:r>
          </a:p>
        </p:txBody>
      </p:sp>
      <p:sp>
        <p:nvSpPr>
          <p:cNvPr id="15" name="Rectangle 14"/>
          <p:cNvSpPr/>
          <p:nvPr/>
        </p:nvSpPr>
        <p:spPr>
          <a:xfrm>
            <a:off x="4782312" y="2432304"/>
            <a:ext cx="2276856" cy="2276856"/>
          </a:xfrm>
          <a:prstGeom prst="rect">
            <a:avLst/>
          </a:prstGeom>
          <a:solidFill>
            <a:srgbClr val="F9D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85036" y="2796600"/>
            <a:ext cx="364296" cy="364296"/>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827849" y="3388583"/>
            <a:ext cx="1411650" cy="1320576"/>
          </a:xfrm>
          <a:prstGeom prst="triangle">
            <a:avLst/>
          </a:prstGeom>
          <a:solidFill>
            <a:srgbClr val="7FB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647517" y="3115360"/>
            <a:ext cx="1411650" cy="1593799"/>
          </a:xfrm>
          <a:prstGeom prst="triangle">
            <a:avLst/>
          </a:prstGeom>
          <a:solidFill>
            <a:srgbClr val="4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eart 18"/>
          <p:cNvSpPr/>
          <p:nvPr/>
        </p:nvSpPr>
        <p:spPr>
          <a:xfrm>
            <a:off x="4910328" y="4800600"/>
            <a:ext cx="201168" cy="181051"/>
          </a:xfrm>
          <a:prstGeom prst="heart">
            <a:avLst/>
          </a:prstGeom>
          <a:solidFill>
            <a:srgbClr val="FF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Callout 19"/>
          <p:cNvSpPr/>
          <p:nvPr/>
        </p:nvSpPr>
        <p:spPr>
          <a:xfrm>
            <a:off x="5202936" y="4800600"/>
            <a:ext cx="201168" cy="170992"/>
          </a:xfrm>
          <a:prstGeom prst="wedgeEllipseCallout">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5400000">
            <a:off x="5495544" y="4810658"/>
            <a:ext cx="181051" cy="160934"/>
          </a:xfrm>
          <a:prstGeom prst="triangle">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ff-page Connector 21"/>
          <p:cNvSpPr/>
          <p:nvPr/>
        </p:nvSpPr>
        <p:spPr>
          <a:xfrm rot="10800000">
            <a:off x="6778447" y="4800600"/>
            <a:ext cx="140817" cy="201168"/>
          </a:xfrm>
          <a:prstGeom prst="flowChartOffpageConnector">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5074920"/>
            <a:ext cx="1828800" cy="146304"/>
          </a:xfrm>
          <a:prstGeom prst="rect">
            <a:avLst/>
          </a:prstGeom>
          <a:noFill/>
        </p:spPr>
        <p:txBody>
          <a:bodyPr wrap="square" lIns="0" rIns="0" tIns="0" bIns="0" anchor="t">
            <a:spAutoFit/>
          </a:bodyPr>
          <a:lstStyle/>
          <a:p>
            <a:pPr algn="l"/>
            <a:r>
              <a:rPr sz="800" b="1" i="0">
                <a:solidFill>
                  <a:srgbClr val="222222"/>
                </a:solidFill>
                <a:latin typeface="Arial"/>
              </a:rPr>
              <a:t>1,204 likes</a:t>
            </a:r>
          </a:p>
        </p:txBody>
      </p:sp>
      <p:sp>
        <p:nvSpPr>
          <p:cNvPr id="24" name="TextBox 23"/>
          <p:cNvSpPr txBox="1"/>
          <p:nvPr/>
        </p:nvSpPr>
        <p:spPr>
          <a:xfrm>
            <a:off x="4910328" y="5230368"/>
            <a:ext cx="2093975" cy="146304"/>
          </a:xfrm>
          <a:prstGeom prst="rect">
            <a:avLst/>
          </a:prstGeom>
          <a:noFill/>
        </p:spPr>
        <p:txBody>
          <a:bodyPr wrap="square" lIns="0" rIns="0" tIns="0" bIns="0" anchor="t">
            <a:spAutoFit/>
          </a:bodyPr>
          <a:lstStyle/>
          <a:p>
            <a:pPr algn="l"/>
            <a:r>
              <a:rPr sz="800" b="1" i="0">
                <a:solidFill>
                  <a:srgbClr val="222222"/>
                </a:solidFill>
                <a:latin typeface="Arial"/>
              </a:rPr>
              <a:t>sagada.trips </a:t>
            </a:r>
            <a:r>
              <a:rPr sz="800" b="0" i="0">
                <a:solidFill>
                  <a:srgbClr val="222222"/>
                </a:solidFill>
                <a:latin typeface="Arial"/>
              </a:rPr>
              <a:t>Sunrise at Kiltepan</a:t>
            </a:r>
          </a:p>
        </p:txBody>
      </p:sp>
      <p:sp>
        <p:nvSpPr>
          <p:cNvPr id="25" name="Rounded Rectangle 24"/>
          <p:cNvSpPr/>
          <p:nvPr/>
        </p:nvSpPr>
        <p:spPr>
          <a:xfrm>
            <a:off x="4846320" y="4745736"/>
            <a:ext cx="932688" cy="310896"/>
          </a:xfrm>
          <a:prstGeom prst="roundRect">
            <a:avLst>
              <a:gd name="adj" fmla="val 30000"/>
            </a:avLst>
          </a:prstGeom>
          <a:noFill/>
          <a:ln w="25400">
            <a:solidFill>
              <a:srgbClr val="2EB8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684264" y="4745736"/>
            <a:ext cx="329184" cy="310896"/>
          </a:xfrm>
          <a:prstGeom prst="roundRect">
            <a:avLst>
              <a:gd name="adj" fmla="val 30000"/>
            </a:avLst>
          </a:prstGeom>
          <a:noFill/>
          <a:ln w="25400">
            <a:solidFill>
              <a:srgbClr val="E67E2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00600" y="5797296"/>
            <a:ext cx="224027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4800600" y="5797296"/>
            <a:ext cx="2240279" cy="0"/>
          </a:xfrm>
          <a:prstGeom prst="line">
            <a:avLst/>
          </a:prstGeom>
          <a:ln w="9525">
            <a:solidFill>
              <a:srgbClr val="DBDBDB"/>
            </a:solidFill>
          </a:ln>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a:off x="4937760" y="5902452"/>
            <a:ext cx="173736" cy="86868"/>
          </a:xfrm>
          <a:prstGeom prst="triangl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967295" y="5982370"/>
            <a:ext cx="114665" cy="8686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385816" y="5902452"/>
            <a:ext cx="130302" cy="130302"/>
          </a:xfrm>
          <a:prstGeom prst="ellipse">
            <a:avLst/>
          </a:prstGeom>
          <a:noFill/>
          <a:ln w="1905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5493532" y="6010168"/>
            <a:ext cx="66020" cy="66020"/>
          </a:xfrm>
          <a:prstGeom prst="line">
            <a:avLst/>
          </a:prstGeom>
          <a:ln w="22225">
            <a:solidFill>
              <a:srgbClr val="262626"/>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833872" y="5902452"/>
            <a:ext cx="173736" cy="173736"/>
          </a:xfrm>
          <a:prstGeom prst="roundRect">
            <a:avLst>
              <a:gd name="adj" fmla="val 25000"/>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5920740" y="5945886"/>
            <a:ext cx="0" cy="86868"/>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877306" y="5989320"/>
            <a:ext cx="86868" cy="0"/>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281928" y="5902452"/>
            <a:ext cx="173736" cy="173736"/>
          </a:xfrm>
          <a:prstGeom prst="roundRect">
            <a:avLst>
              <a:gd name="adj" fmla="val 25000"/>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5400000">
            <a:off x="6339260" y="5954572"/>
            <a:ext cx="69494" cy="69494"/>
          </a:xfrm>
          <a:prstGeom prst="triangl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729984" y="5902452"/>
            <a:ext cx="173736" cy="173736"/>
          </a:xfrm>
          <a:prstGeom prst="ellipse">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C13584"/>
                </a:solidFill>
                <a:latin typeface="Arial"/>
              </a:rPr>
              <a:t>EVERYDAY EXAMPLE  ·  INSTAGRAM</a:t>
            </a:r>
          </a:p>
        </p:txBody>
      </p:sp>
      <p:sp>
        <p:nvSpPr>
          <p:cNvPr id="40" name="TextBox 39"/>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Spacing does the labeling</a:t>
            </a:r>
          </a:p>
        </p:txBody>
      </p:sp>
      <p:sp>
        <p:nvSpPr>
          <p:cNvPr id="41" name="TextBox 40"/>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Like, Comment and Share sit together on the left (green): all ways to interact with other people.</a:t>
            </a:r>
          </a:p>
          <a:p>
            <a:pPr algn="l">
              <a:spcAft>
                <a:spcPts val="900"/>
              </a:spcAft>
            </a:pPr>
            <a:r>
              <a:rPr sz="1400" b="0" i="0">
                <a:solidFill>
                  <a:srgbClr val="333333"/>
                </a:solidFill>
                <a:latin typeface="Arial"/>
              </a:rPr>
              <a:t>Save sits alone on the right (orange) because it is just for you.</a:t>
            </a:r>
          </a:p>
          <a:p>
            <a:pPr algn="l">
              <a:spcAft>
                <a:spcPts val="900"/>
              </a:spcAft>
            </a:pPr>
            <a:r>
              <a:rPr sz="1400" b="0" i="0">
                <a:solidFill>
                  <a:srgbClr val="333333"/>
                </a:solidFill>
                <a:latin typeface="Arial"/>
              </a:rPr>
              <a:t>No labels needed. The gaps tell you what belongs together.</a:t>
            </a:r>
          </a:p>
        </p:txBody>
      </p:sp>
      <p:sp>
        <p:nvSpPr>
          <p:cNvPr id="42" name="TextBox 41"/>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41142979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7D841-07FC-A05C-B39B-76A2BA22D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2E07FD-7C41-CC6C-764A-C8D4BE5F3A1A}"/>
              </a:ext>
            </a:extLst>
          </p:cNvPr>
          <p:cNvSpPr>
            <a:spLocks noGrp="1"/>
          </p:cNvSpPr>
          <p:nvPr>
            <p:ph type="title"/>
          </p:nvPr>
        </p:nvSpPr>
        <p:spPr/>
        <p:txBody>
          <a:bodyPr anchor="ctr">
            <a:normAutofit/>
          </a:bodyPr>
          <a:lstStyle/>
          <a:p>
            <a:r>
              <a:rPr lang="en-PH" dirty="0"/>
              <a:t>Law of Prägnanz</a:t>
            </a:r>
            <a:endParaRPr dirty="0"/>
          </a:p>
        </p:txBody>
      </p:sp>
      <p:pic>
        <p:nvPicPr>
          <p:cNvPr id="5" name="Picture 4" descr="A pink background with white lines and a pink background&#10;&#10;AI-generated content may be incorrect.">
            <a:extLst>
              <a:ext uri="{FF2B5EF4-FFF2-40B4-BE49-F238E27FC236}">
                <a16:creationId xmlns:a16="http://schemas.microsoft.com/office/drawing/2014/main" id="{8C5652AA-905D-A12D-E9DC-39A7592E674E}"/>
              </a:ext>
            </a:extLst>
          </p:cNvPr>
          <p:cNvPicPr preferRelativeResize="0">
            <a:picLocks/>
          </p:cNvPicPr>
          <p:nvPr/>
        </p:nvPicPr>
        <p:blipFill>
          <a:blip r:embed="rId3"/>
          <a:stretch>
            <a:fillRect/>
          </a:stretch>
        </p:blipFill>
        <p:spPr>
          <a:xfrm>
            <a:off x="609600" y="1417638"/>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3E6B15A0-7C9D-D86B-BC27-28D58984B818}"/>
              </a:ext>
            </a:extLst>
          </p:cNvPr>
          <p:cNvPicPr>
            <a:picLocks noChangeAspect="1"/>
          </p:cNvPicPr>
          <p:nvPr/>
        </p:nvPicPr>
        <p:blipFill>
          <a:blip r:embed="rId4"/>
          <a:stretch>
            <a:fillRect/>
          </a:stretch>
        </p:blipFill>
        <p:spPr>
          <a:xfrm>
            <a:off x="5137891" y="2003331"/>
            <a:ext cx="6316318" cy="3537138"/>
          </a:xfrm>
          <a:prstGeom prst="rect">
            <a:avLst/>
          </a:prstGeom>
        </p:spPr>
      </p:pic>
    </p:spTree>
    <p:extLst>
      <p:ext uri="{BB962C8B-B14F-4D97-AF65-F5344CB8AC3E}">
        <p14:creationId xmlns:p14="http://schemas.microsoft.com/office/powerpoint/2010/main" val="42228709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84E02-21A6-CD55-2B99-561756041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BD0093-C48C-0D6B-0DD9-790404362DED}"/>
              </a:ext>
            </a:extLst>
          </p:cNvPr>
          <p:cNvSpPr>
            <a:spLocks noGrp="1"/>
          </p:cNvSpPr>
          <p:nvPr>
            <p:ph type="title"/>
          </p:nvPr>
        </p:nvSpPr>
        <p:spPr/>
        <p:txBody>
          <a:bodyPr anchor="ctr">
            <a:normAutofit/>
          </a:bodyPr>
          <a:lstStyle/>
          <a:p>
            <a:r>
              <a:rPr lang="en-PH" dirty="0"/>
              <a:t>Law of Prägnanz</a:t>
            </a:r>
            <a:endParaRPr dirty="0"/>
          </a:p>
        </p:txBody>
      </p:sp>
      <p:pic>
        <p:nvPicPr>
          <p:cNvPr id="5" name="Picture 4" descr="A pink background with white lines and a pink background&#10;&#10;AI-generated content may be incorrect.">
            <a:extLst>
              <a:ext uri="{FF2B5EF4-FFF2-40B4-BE49-F238E27FC236}">
                <a16:creationId xmlns:a16="http://schemas.microsoft.com/office/drawing/2014/main" id="{CF89562D-86E1-4D5D-453C-E94B753EFA78}"/>
              </a:ext>
            </a:extLst>
          </p:cNvPr>
          <p:cNvPicPr preferRelativeResize="0">
            <a:picLocks/>
          </p:cNvPicPr>
          <p:nvPr/>
        </p:nvPicPr>
        <p:blipFill>
          <a:blip r:embed="rId3"/>
          <a:stretch>
            <a:fillRect/>
          </a:stretch>
        </p:blipFill>
        <p:spPr>
          <a:xfrm>
            <a:off x="609600" y="1417638"/>
            <a:ext cx="3628800" cy="474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5D589193-5B8A-16D9-42C1-3AB2D5AB46E6}"/>
              </a:ext>
            </a:extLst>
          </p:cNvPr>
          <p:cNvPicPr>
            <a:picLocks noChangeAspect="1"/>
          </p:cNvPicPr>
          <p:nvPr/>
        </p:nvPicPr>
        <p:blipFill>
          <a:blip r:embed="rId4"/>
          <a:srcRect t="4755"/>
          <a:stretch>
            <a:fillRect/>
          </a:stretch>
        </p:blipFill>
        <p:spPr>
          <a:xfrm>
            <a:off x="4671645" y="1828800"/>
            <a:ext cx="7178662" cy="3679955"/>
          </a:xfrm>
          <a:prstGeom prst="rect">
            <a:avLst/>
          </a:prstGeom>
        </p:spPr>
      </p:pic>
    </p:spTree>
    <p:extLst>
      <p:ext uri="{BB962C8B-B14F-4D97-AF65-F5344CB8AC3E}">
        <p14:creationId xmlns:p14="http://schemas.microsoft.com/office/powerpoint/2010/main" val="24290145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FEDFD-BB68-ECE7-DCD5-2963B690C656}"/>
              </a:ext>
            </a:extLst>
          </p:cNvPr>
          <p:cNvSpPr>
            <a:spLocks noGrp="1"/>
          </p:cNvSpPr>
          <p:nvPr>
            <p:ph type="title"/>
          </p:nvPr>
        </p:nvSpPr>
        <p:spPr/>
        <p:txBody>
          <a:bodyPr>
            <a:normAutofit fontScale="90000"/>
          </a:bodyPr>
          <a:lstStyle/>
          <a:p>
            <a:r>
              <a:rPr lang="en-US" dirty="0"/>
              <a:t>Prägnanz and Related Gestalt Principles</a:t>
            </a:r>
            <a:br>
              <a:rPr lang="en-US" dirty="0"/>
            </a:br>
            <a:endParaRPr lang="en-PH" dirty="0"/>
          </a:p>
        </p:txBody>
      </p:sp>
      <p:sp>
        <p:nvSpPr>
          <p:cNvPr id="3" name="Content Placeholder 2">
            <a:extLst>
              <a:ext uri="{FF2B5EF4-FFF2-40B4-BE49-F238E27FC236}">
                <a16:creationId xmlns:a16="http://schemas.microsoft.com/office/drawing/2014/main" id="{CBA0DDCF-2D88-8A75-B550-42948E5876CB}"/>
              </a:ext>
            </a:extLst>
          </p:cNvPr>
          <p:cNvSpPr>
            <a:spLocks noGrp="1"/>
          </p:cNvSpPr>
          <p:nvPr>
            <p:ph idx="1"/>
          </p:nvPr>
        </p:nvSpPr>
        <p:spPr/>
        <p:txBody>
          <a:bodyPr>
            <a:normAutofit fontScale="70000" lnSpcReduction="20000"/>
          </a:bodyPr>
          <a:lstStyle/>
          <a:p>
            <a:pPr fontAlgn="base"/>
            <a:r>
              <a:rPr lang="en-US" b="1" dirty="0">
                <a:solidFill>
                  <a:srgbClr val="002060"/>
                </a:solidFill>
              </a:rPr>
              <a:t>Closure:</a:t>
            </a:r>
            <a:r>
              <a:rPr lang="en-US" dirty="0">
                <a:solidFill>
                  <a:srgbClr val="002060"/>
                </a:solidFill>
              </a:rPr>
              <a:t> The mind fills in the blanks in shapes, making a whole even when some components are absent. This is seen in design when a part of an image is left up to the viewer's meaning in logos or icons.</a:t>
            </a:r>
          </a:p>
          <a:p>
            <a:pPr fontAlgn="base"/>
            <a:r>
              <a:rPr lang="en-US" b="1" dirty="0">
                <a:solidFill>
                  <a:srgbClr val="002060"/>
                </a:solidFill>
              </a:rPr>
              <a:t>Symmetry:</a:t>
            </a:r>
            <a:r>
              <a:rPr lang="en-US" dirty="0">
                <a:solidFill>
                  <a:srgbClr val="002060"/>
                </a:solidFill>
              </a:rPr>
              <a:t> People tend to view symmetrical forms as more harmonious and stable. Symmetry is a tool that UX designers frequently use to balance layouts and appeal to users' sense of order.</a:t>
            </a:r>
          </a:p>
          <a:p>
            <a:pPr fontAlgn="base"/>
            <a:r>
              <a:rPr lang="en-US" b="1" dirty="0">
                <a:solidFill>
                  <a:srgbClr val="002060"/>
                </a:solidFill>
              </a:rPr>
              <a:t>Continuity:</a:t>
            </a:r>
            <a:r>
              <a:rPr lang="en-US" dirty="0">
                <a:solidFill>
                  <a:srgbClr val="002060"/>
                </a:solidFill>
              </a:rPr>
              <a:t> Objects arranged in a flowing or continuous line are thought to be more related. This idea is applied when creating user flows or navigation menus to guarantee a seamless combined experience.</a:t>
            </a:r>
          </a:p>
          <a:p>
            <a:pPr fontAlgn="base"/>
            <a:r>
              <a:rPr lang="en-US" b="1" dirty="0">
                <a:solidFill>
                  <a:srgbClr val="002060"/>
                </a:solidFill>
              </a:rPr>
              <a:t>Similarity:</a:t>
            </a:r>
            <a:r>
              <a:rPr lang="en-US" dirty="0">
                <a:solidFill>
                  <a:srgbClr val="002060"/>
                </a:solidFill>
              </a:rPr>
              <a:t> We group elements that look alike. This principle highlights related elements' similarities and sets them apart from other elements in UX design, helping to create a visual hierarchy.</a:t>
            </a:r>
          </a:p>
          <a:p>
            <a:endParaRPr lang="en-PH" dirty="0">
              <a:solidFill>
                <a:srgbClr val="FF0000"/>
              </a:solidFill>
            </a:endParaRPr>
          </a:p>
        </p:txBody>
      </p:sp>
    </p:spTree>
    <p:extLst>
      <p:ext uri="{BB962C8B-B14F-4D97-AF65-F5344CB8AC3E}">
        <p14:creationId xmlns:p14="http://schemas.microsoft.com/office/powerpoint/2010/main" val="35616612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6ED94-3AF6-F7B2-3660-5EC4B08C1807}"/>
              </a:ext>
            </a:extLst>
          </p:cNvPr>
          <p:cNvSpPr>
            <a:spLocks noGrp="1"/>
          </p:cNvSpPr>
          <p:nvPr>
            <p:ph type="title"/>
          </p:nvPr>
        </p:nvSpPr>
        <p:spPr/>
        <p:txBody>
          <a:bodyPr/>
          <a:lstStyle/>
          <a:p>
            <a:r>
              <a:rPr lang="en-PH" dirty="0" err="1"/>
              <a:t>Law of Prägnanz: Key Ideas</a:t>
            </a:r>
            <a:endParaRPr lang="en-PH" dirty="0"/>
          </a:p>
        </p:txBody>
      </p:sp>
      <p:sp>
        <p:nvSpPr>
          <p:cNvPr id="4" name="Rectangle 1">
            <a:extLst>
              <a:ext uri="{FF2B5EF4-FFF2-40B4-BE49-F238E27FC236}">
                <a16:creationId xmlns:a16="http://schemas.microsoft.com/office/drawing/2014/main" id="{428E49DB-33D7-391D-E459-A4A1300AEB2F}"/>
              </a:ext>
            </a:extLst>
          </p:cNvPr>
          <p:cNvSpPr>
            <a:spLocks noGrp="1" noChangeArrowheads="1"/>
          </p:cNvSpPr>
          <p:nvPr>
            <p:ph idx="1"/>
          </p:nvPr>
        </p:nvSpPr>
        <p:spPr bwMode="auto">
          <a:xfrm>
            <a:off x="952500" y="1325880"/>
            <a:ext cx="9804400" cy="53492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rgbClr val="002060"/>
                </a:solidFill>
                <a:latin typeface="+mj-lt"/>
              </a:rPr>
              <a:t>Key</a:t>
            </a:r>
            <a:r>
              <a:rPr kumimoji="0" lang="en-US" altLang="en-US" sz="2000" b="1" i="0" u="none" strike="noStrike" cap="none" normalizeH="0" baseline="0" dirty="0">
                <a:ln>
                  <a:noFill/>
                </a:ln>
                <a:solidFill>
                  <a:srgbClr val="002060"/>
                </a:solidFill>
                <a:effectLst/>
                <a:latin typeface="+mj-lt"/>
              </a:rPr>
              <a:t> Aspects and Applications:</a:t>
            </a:r>
            <a:endParaRPr kumimoji="0" lang="en-US" altLang="en-US" sz="1100" b="0" i="0" u="none" strike="noStrike" cap="none" normalizeH="0" baseline="0" dirty="0">
              <a:ln>
                <a:noFill/>
              </a:ln>
              <a:solidFill>
                <a:srgbClr val="FF0000"/>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mj-lt"/>
              </a:rPr>
              <a:t>Fundamental Principle:</a:t>
            </a:r>
            <a:r>
              <a:rPr kumimoji="0" lang="en-US" altLang="en-US" sz="2000" b="0" i="0" u="none" strike="noStrike" cap="none" normalizeH="0" baseline="0" dirty="0">
                <a:ln>
                  <a:noFill/>
                </a:ln>
                <a:solidFill>
                  <a:srgbClr val="002060"/>
                </a:solidFill>
                <a:effectLst/>
                <a:latin typeface="+mj-lt"/>
              </a:rPr>
              <a:t> It serves as a foundation for other Gestalt laws, including closure, similarity, and proximity.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mj-lt"/>
              </a:rPr>
              <a:t>Definition:</a:t>
            </a:r>
            <a:r>
              <a:rPr kumimoji="0" lang="en-US" altLang="en-US" sz="2000" b="0" i="0" u="none" strike="noStrike" cap="none" normalizeH="0" baseline="0" dirty="0">
                <a:ln>
                  <a:noFill/>
                </a:ln>
                <a:solidFill>
                  <a:srgbClr val="002060"/>
                </a:solidFill>
                <a:effectLst/>
                <a:latin typeface="+mj-lt"/>
              </a:rPr>
              <a:t> "</a:t>
            </a:r>
            <a:r>
              <a:rPr kumimoji="0" lang="en-US" altLang="en-US" sz="2000" b="0" i="0" u="none" strike="noStrike" cap="none" normalizeH="0" baseline="0" dirty="0" err="1">
                <a:ln>
                  <a:noFill/>
                </a:ln>
                <a:solidFill>
                  <a:srgbClr val="002060"/>
                </a:solidFill>
                <a:effectLst/>
                <a:latin typeface="+mj-lt"/>
              </a:rPr>
              <a:t>Prägnanz</a:t>
            </a:r>
            <a:r>
              <a:rPr kumimoji="0" lang="en-US" altLang="en-US" sz="2000" b="0" i="0" u="none" strike="noStrike" cap="none" normalizeH="0" baseline="0" dirty="0">
                <a:ln>
                  <a:noFill/>
                </a:ln>
                <a:solidFill>
                  <a:srgbClr val="002060"/>
                </a:solidFill>
                <a:effectLst/>
                <a:latin typeface="+mj-lt"/>
              </a:rPr>
              <a:t>" is German for "pithiness" or "conciseness," implying that the mind organizes visual input into "good figures" (e.g., shapes, patterns) that are easy to interpret.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mj-lt"/>
              </a:rPr>
              <a:t>UX/UI Design:</a:t>
            </a:r>
            <a:r>
              <a:rPr kumimoji="0" lang="en-US" altLang="en-US" sz="2000" b="0" i="0" u="none" strike="noStrike" cap="none" normalizeH="0" baseline="0" dirty="0">
                <a:ln>
                  <a:noFill/>
                </a:ln>
                <a:solidFill>
                  <a:srgbClr val="002060"/>
                </a:solidFill>
                <a:effectLst/>
                <a:latin typeface="+mj-lt"/>
              </a:rPr>
              <a:t> Designers use this to create minimalist, intuitive interfaces (e.g., Google’s homepage is little more than a logo and a search bar), reducing user confusion, and improving memorability.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mj-lt"/>
              </a:rPr>
              <a:t>Examples:</a:t>
            </a:r>
            <a:endParaRPr kumimoji="0" lang="en-US" altLang="en-US" sz="2000" b="0" i="0" u="none" strike="noStrike" cap="none" normalizeH="0" baseline="0" dirty="0">
              <a:ln>
                <a:noFill/>
              </a:ln>
              <a:solidFill>
                <a:srgbClr val="FF0000"/>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mj-lt"/>
              </a:rPr>
              <a:t>Logos:</a:t>
            </a:r>
            <a:r>
              <a:rPr kumimoji="0" lang="en-US" altLang="en-US" sz="2000" b="0" i="0" u="none" strike="noStrike" cap="none" normalizeH="0" baseline="0" dirty="0">
                <a:ln>
                  <a:noFill/>
                </a:ln>
                <a:solidFill>
                  <a:srgbClr val="002060"/>
                </a:solidFill>
                <a:effectLst/>
                <a:latin typeface="+mj-lt"/>
              </a:rPr>
              <a:t> </a:t>
            </a:r>
            <a:r>
              <a:rPr kumimoji="0" lang="en-US" altLang="en-US" sz="2000" b="0" i="0" u="none" strike="noStrike" cap="none" normalizeH="0" baseline="0" dirty="0">
                <a:ln>
                  <a:noFill/>
                </a:ln>
                <a:solidFill>
                  <a:srgbClr val="002060"/>
                </a:solidFill>
                <a:effectLst/>
                <a:latin typeface="+mj-lt"/>
                <a:hlinkClick r:id="rId3">
                  <a:extLst>
                    <a:ext uri="{A12FA001-AC4F-418D-AE19-62706E023703}">
                      <ahyp:hlinkClr xmlns:ahyp="http://schemas.microsoft.com/office/drawing/2018/hyperlinkcolor" val="tx"/>
                    </a:ext>
                  </a:extLst>
                </a:hlinkClick>
              </a:rPr>
              <a:t>Nike's swoosh</a:t>
            </a:r>
            <a:r>
              <a:rPr kumimoji="0" lang="en-US" altLang="en-US" sz="2000" b="0" i="0" u="none" strike="noStrike" cap="none" normalizeH="0" baseline="0" dirty="0">
                <a:ln>
                  <a:noFill/>
                </a:ln>
                <a:solidFill>
                  <a:srgbClr val="002060"/>
                </a:solidFill>
                <a:effectLst/>
                <a:latin typeface="+mj-lt"/>
              </a:rPr>
              <a:t> or Apple's logo are instantly recognized because they are simple, organized shapes.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mj-lt"/>
              </a:rPr>
              <a:t>Visuals:</a:t>
            </a:r>
            <a:r>
              <a:rPr kumimoji="0" lang="en-US" altLang="en-US" sz="2000" b="0" i="0" u="none" strike="noStrike" cap="none" normalizeH="0" baseline="0" dirty="0">
                <a:ln>
                  <a:noFill/>
                </a:ln>
                <a:solidFill>
                  <a:srgbClr val="002060"/>
                </a:solidFill>
                <a:effectLst/>
                <a:latin typeface="+mj-lt"/>
              </a:rPr>
              <a:t> Perceiving five separate Olympic rings as a unified, simple symbol rather than a complex arrangement of lines.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2060"/>
                </a:solidFill>
                <a:effectLst/>
                <a:latin typeface="+mj-lt"/>
              </a:rPr>
              <a:t>Core Benefit:</a:t>
            </a:r>
            <a:r>
              <a:rPr kumimoji="0" lang="en-US" altLang="en-US" sz="2000" b="0" i="0" u="none" strike="noStrike" cap="none" normalizeH="0" baseline="0" dirty="0">
                <a:ln>
                  <a:noFill/>
                </a:ln>
                <a:solidFill>
                  <a:srgbClr val="002060"/>
                </a:solidFill>
                <a:effectLst/>
                <a:latin typeface="+mj-lt"/>
              </a:rPr>
              <a:t> It minimizes the mental effort required to interpret visual information.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FF0000"/>
              </a:solidFill>
              <a:effectLst/>
              <a:latin typeface="+mj-lt"/>
            </a:endParaRPr>
          </a:p>
        </p:txBody>
      </p:sp>
    </p:spTree>
    <p:extLst>
      <p:ext uri="{BB962C8B-B14F-4D97-AF65-F5344CB8AC3E}">
        <p14:creationId xmlns:p14="http://schemas.microsoft.com/office/powerpoint/2010/main" val="36487485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8B7A9-5559-C9AE-C539-D61392EC5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7874E-8708-D920-21BC-A2962CDC7A9F}"/>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Law of Similarity</a:t>
            </a:r>
            <a:endParaRPr b="1" dirty="0">
              <a:solidFill>
                <a:srgbClr val="002060"/>
              </a:solidFill>
              <a:latin typeface="Bebas Neue" panose="020B0606020202050201" pitchFamily="34" charset="0"/>
            </a:endParaRPr>
          </a:p>
        </p:txBody>
      </p:sp>
      <p:pic>
        <p:nvPicPr>
          <p:cNvPr id="4" name="Picture 3" descr="A screenshot of a cell phone&#10;&#10;AI-generated content may be incorrect.">
            <a:extLst>
              <a:ext uri="{FF2B5EF4-FFF2-40B4-BE49-F238E27FC236}">
                <a16:creationId xmlns:a16="http://schemas.microsoft.com/office/drawing/2014/main" id="{5CE5F822-A89E-9217-B0F1-F3534D3D9628}"/>
              </a:ext>
            </a:extLst>
          </p:cNvPr>
          <p:cNvPicPr preferRelativeResize="0">
            <a:picLocks/>
          </p:cNvPicPr>
          <p:nvPr/>
        </p:nvPicPr>
        <p:blipFill>
          <a:blip r:embed="rId3"/>
          <a:stretch>
            <a:fillRect/>
          </a:stretch>
        </p:blipFill>
        <p:spPr>
          <a:xfrm>
            <a:off x="609600" y="1600200"/>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AutoShape 4" descr="Instagram interface based on similarity principle">
            <a:extLst>
              <a:ext uri="{FF2B5EF4-FFF2-40B4-BE49-F238E27FC236}">
                <a16:creationId xmlns:a16="http://schemas.microsoft.com/office/drawing/2014/main" id="{720DA51E-A2AB-63EE-419E-7183F8C4AB0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9" name="Picture 8" descr="A group of pink dots&#10;&#10;AI-generated content may be incorrect.">
            <a:extLst>
              <a:ext uri="{FF2B5EF4-FFF2-40B4-BE49-F238E27FC236}">
                <a16:creationId xmlns:a16="http://schemas.microsoft.com/office/drawing/2014/main" id="{CCBC9508-2BA1-C520-817F-D9C2792CF918}"/>
              </a:ext>
            </a:extLst>
          </p:cNvPr>
          <p:cNvPicPr>
            <a:picLocks noChangeAspect="1"/>
          </p:cNvPicPr>
          <p:nvPr/>
        </p:nvPicPr>
        <p:blipFill>
          <a:blip r:embed="rId4"/>
          <a:stretch>
            <a:fillRect/>
          </a:stretch>
        </p:blipFill>
        <p:spPr>
          <a:xfrm>
            <a:off x="4880329" y="3082782"/>
            <a:ext cx="6485182" cy="1783235"/>
          </a:xfrm>
          <a:prstGeom prst="rect">
            <a:avLst/>
          </a:prstGeom>
        </p:spPr>
      </p:pic>
    </p:spTree>
    <p:extLst>
      <p:ext uri="{BB962C8B-B14F-4D97-AF65-F5344CB8AC3E}">
        <p14:creationId xmlns:p14="http://schemas.microsoft.com/office/powerpoint/2010/main" val="26102124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30BB1-7339-61ED-A188-1754D112C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97C9C-330E-FB74-5DC8-1CE1103E3936}"/>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Law of Similarity</a:t>
            </a:r>
            <a:endParaRPr b="1" dirty="0">
              <a:solidFill>
                <a:srgbClr val="002060"/>
              </a:solidFill>
              <a:latin typeface="Bebas Neue" panose="020B0606020202050201" pitchFamily="34" charset="0"/>
            </a:endParaRPr>
          </a:p>
        </p:txBody>
      </p:sp>
      <p:pic>
        <p:nvPicPr>
          <p:cNvPr id="4" name="Picture 3" descr="A screenshot of a cell phone&#10;&#10;AI-generated content may be incorrect.">
            <a:extLst>
              <a:ext uri="{FF2B5EF4-FFF2-40B4-BE49-F238E27FC236}">
                <a16:creationId xmlns:a16="http://schemas.microsoft.com/office/drawing/2014/main" id="{8788A536-117D-F8CB-140C-5D1607FD7453}"/>
              </a:ext>
            </a:extLst>
          </p:cNvPr>
          <p:cNvPicPr preferRelativeResize="0">
            <a:picLocks/>
          </p:cNvPicPr>
          <p:nvPr/>
        </p:nvPicPr>
        <p:blipFill>
          <a:blip r:embed="rId3"/>
          <a:stretch>
            <a:fillRect/>
          </a:stretch>
        </p:blipFill>
        <p:spPr>
          <a:xfrm>
            <a:off x="609600" y="1600200"/>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AutoShape 4" descr="Instagram interface based on similarity principle">
            <a:extLst>
              <a:ext uri="{FF2B5EF4-FFF2-40B4-BE49-F238E27FC236}">
                <a16:creationId xmlns:a16="http://schemas.microsoft.com/office/drawing/2014/main" id="{98A47B43-09A4-DEA7-B130-1EA034BCFA7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6146" name="Picture 2" descr="7 Gestalt Principles of Visual Perception Better UX Design">
            <a:extLst>
              <a:ext uri="{FF2B5EF4-FFF2-40B4-BE49-F238E27FC236}">
                <a16:creationId xmlns:a16="http://schemas.microsoft.com/office/drawing/2014/main" id="{18DDB036-8FC5-77EB-DE6A-41321B5C2F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2259900"/>
            <a:ext cx="3705225"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77285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3CCAE-C2FD-1F52-89FA-2A535BE2E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44D23-72C0-993D-01D1-D902F39D7060}"/>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Law of Similarity</a:t>
            </a:r>
            <a:endParaRPr b="1" dirty="0">
              <a:solidFill>
                <a:srgbClr val="002060"/>
              </a:solidFill>
              <a:latin typeface="Bebas Neue" panose="020B0606020202050201" pitchFamily="34" charset="0"/>
            </a:endParaRPr>
          </a:p>
        </p:txBody>
      </p:sp>
      <p:pic>
        <p:nvPicPr>
          <p:cNvPr id="4" name="Picture 3" descr="A screenshot of a cell phone&#10;&#10;AI-generated content may be incorrect.">
            <a:extLst>
              <a:ext uri="{FF2B5EF4-FFF2-40B4-BE49-F238E27FC236}">
                <a16:creationId xmlns:a16="http://schemas.microsoft.com/office/drawing/2014/main" id="{45735916-1A39-9436-2EFA-CFBA2018375B}"/>
              </a:ext>
            </a:extLst>
          </p:cNvPr>
          <p:cNvPicPr preferRelativeResize="0">
            <a:picLocks/>
          </p:cNvPicPr>
          <p:nvPr/>
        </p:nvPicPr>
        <p:blipFill>
          <a:blip r:embed="rId3"/>
          <a:stretch>
            <a:fillRect/>
          </a:stretch>
        </p:blipFill>
        <p:spPr>
          <a:xfrm>
            <a:off x="609600" y="1600200"/>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AutoShape 4" descr="Instagram interface based on similarity principle">
            <a:extLst>
              <a:ext uri="{FF2B5EF4-FFF2-40B4-BE49-F238E27FC236}">
                <a16:creationId xmlns:a16="http://schemas.microsoft.com/office/drawing/2014/main" id="{94375A27-D889-591D-7FE9-E61A1A556D2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7170" name="Picture 2" descr="Gestalt principles - pyramid, triangles or pac-men">
            <a:extLst>
              <a:ext uri="{FF2B5EF4-FFF2-40B4-BE49-F238E27FC236}">
                <a16:creationId xmlns:a16="http://schemas.microsoft.com/office/drawing/2014/main" id="{99641842-8DED-5866-B0BD-EA5FF40C5F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1658158"/>
            <a:ext cx="4484034" cy="4690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6853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3CCAE-C2FD-1F52-89FA-2A535BE2E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44D23-72C0-993D-01D1-D902F39D7060}"/>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Law of Similarity</a:t>
            </a:r>
            <a:endParaRPr b="1" dirty="0">
              <a:solidFill>
                <a:srgbClr val="002060"/>
              </a:solidFill>
              <a:latin typeface="Bebas Neue" panose="020B0606020202050201" pitchFamily="34" charset="0"/>
            </a:endParaRPr>
          </a:p>
        </p:txBody>
      </p:sp>
      <p:pic>
        <p:nvPicPr>
          <p:cNvPr id="4" name="Picture 3" descr="A screenshot of a cell phone&#10;&#10;AI-generated content may be incorrect.">
            <a:extLst>
              <a:ext uri="{FF2B5EF4-FFF2-40B4-BE49-F238E27FC236}">
                <a16:creationId xmlns:a16="http://schemas.microsoft.com/office/drawing/2014/main" id="{45735916-1A39-9436-2EFA-CFBA2018375B}"/>
              </a:ext>
            </a:extLst>
          </p:cNvPr>
          <p:cNvPicPr preferRelativeResize="0">
            <a:picLocks/>
          </p:cNvPicPr>
          <p:nvPr/>
        </p:nvPicPr>
        <p:blipFill>
          <a:blip r:embed="rId3"/>
          <a:stretch>
            <a:fillRect/>
          </a:stretch>
        </p:blipFill>
        <p:spPr>
          <a:xfrm>
            <a:off x="609600" y="1600200"/>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ounded Rectangle 4"/>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82312" y="1444752"/>
            <a:ext cx="2276856" cy="4791456"/>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9" name="Oval 8"/>
          <p:cNvSpPr/>
          <p:nvPr/>
        </p:nvSpPr>
        <p:spPr>
          <a:xfrm>
            <a:off x="4919472" y="1755648"/>
            <a:ext cx="310896" cy="310896"/>
          </a:xfrm>
          <a:prstGeom prst="ellipse">
            <a:avLst/>
          </a:prstGeom>
          <a:solidFill>
            <a:srgbClr val="C7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12664" y="1755648"/>
            <a:ext cx="1371600" cy="164592"/>
          </a:xfrm>
          <a:prstGeom prst="rect">
            <a:avLst/>
          </a:prstGeom>
          <a:noFill/>
        </p:spPr>
        <p:txBody>
          <a:bodyPr wrap="square" lIns="0" rIns="0" tIns="0" bIns="0" anchor="t">
            <a:spAutoFit/>
          </a:bodyPr>
          <a:lstStyle/>
          <a:p>
            <a:pPr algn="l"/>
            <a:r>
              <a:rPr sz="900" b="1" i="0">
                <a:solidFill>
                  <a:srgbClr val="222222"/>
                </a:solidFill>
                <a:latin typeface="Arial"/>
              </a:rPr>
              <a:t>Mika</a:t>
            </a:r>
          </a:p>
        </p:txBody>
      </p:sp>
      <p:sp>
        <p:nvSpPr>
          <p:cNvPr id="11" name="TextBox 10"/>
          <p:cNvSpPr txBox="1"/>
          <p:nvPr/>
        </p:nvSpPr>
        <p:spPr>
          <a:xfrm>
            <a:off x="5312664" y="1920240"/>
            <a:ext cx="1371600" cy="146304"/>
          </a:xfrm>
          <a:prstGeom prst="rect">
            <a:avLst/>
          </a:prstGeom>
          <a:noFill/>
        </p:spPr>
        <p:txBody>
          <a:bodyPr wrap="square" lIns="0" rIns="0" tIns="0" bIns="0" anchor="t">
            <a:spAutoFit/>
          </a:bodyPr>
          <a:lstStyle/>
          <a:p>
            <a:pPr algn="l"/>
            <a:r>
              <a:rPr sz="700" b="0" i="0">
                <a:solidFill>
                  <a:srgbClr val="7F7F7F"/>
                </a:solidFill>
                <a:latin typeface="Arial"/>
              </a:rPr>
              <a:t>Active 2m ago</a:t>
            </a:r>
          </a:p>
        </p:txBody>
      </p:sp>
      <p:cxnSp>
        <p:nvCxnSpPr>
          <p:cNvPr id="12" name="Connector 11"/>
          <p:cNvCxnSpPr/>
          <p:nvPr/>
        </p:nvCxnSpPr>
        <p:spPr>
          <a:xfrm>
            <a:off x="4782312" y="2157984"/>
            <a:ext cx="2276856" cy="0"/>
          </a:xfrm>
          <a:prstGeom prst="line">
            <a:avLst/>
          </a:prstGeom>
          <a:ln w="9525">
            <a:solidFill>
              <a:srgbClr val="E4E6E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892040" y="2313432"/>
            <a:ext cx="1593799" cy="393192"/>
          </a:xfrm>
          <a:prstGeom prst="roundRect">
            <a:avLst>
              <a:gd name="adj" fmla="val 32000"/>
            </a:avLst>
          </a:prstGeom>
          <a:solidFill>
            <a:srgbClr val="E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l"/>
            <a:r>
              <a:rPr sz="850" b="0" i="0">
                <a:solidFill>
                  <a:srgbClr val="111111"/>
                </a:solidFill>
                <a:latin typeface="Arial"/>
              </a:rPr>
              <a:t>Did you finish the UX reviewer?</a:t>
            </a:r>
          </a:p>
        </p:txBody>
      </p:sp>
      <p:sp>
        <p:nvSpPr>
          <p:cNvPr id="14" name="Rounded Rectangle 13"/>
          <p:cNvSpPr/>
          <p:nvPr/>
        </p:nvSpPr>
        <p:spPr>
          <a:xfrm>
            <a:off x="5355640" y="2807208"/>
            <a:ext cx="1593799" cy="393192"/>
          </a:xfrm>
          <a:prstGeom prst="roundRect">
            <a:avLst>
              <a:gd name="adj" fmla="val 32000"/>
            </a:avLst>
          </a:prstGeom>
          <a:solidFill>
            <a:srgbClr val="008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l"/>
            <a:r>
              <a:rPr sz="850" b="0" i="0">
                <a:solidFill>
                  <a:srgbClr val="FFFFFF"/>
                </a:solidFill>
                <a:latin typeface="Arial"/>
              </a:rPr>
              <a:t>Almost! Stuck on Hick's Law</a:t>
            </a:r>
          </a:p>
        </p:txBody>
      </p:sp>
      <p:sp>
        <p:nvSpPr>
          <p:cNvPr id="15" name="Rounded Rectangle 14"/>
          <p:cNvSpPr/>
          <p:nvPr/>
        </p:nvSpPr>
        <p:spPr>
          <a:xfrm>
            <a:off x="4892040" y="3300984"/>
            <a:ext cx="1593799" cy="393192"/>
          </a:xfrm>
          <a:prstGeom prst="roundRect">
            <a:avLst>
              <a:gd name="adj" fmla="val 32000"/>
            </a:avLst>
          </a:prstGeom>
          <a:solidFill>
            <a:srgbClr val="E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l"/>
            <a:r>
              <a:rPr sz="850" b="0" i="0">
                <a:solidFill>
                  <a:srgbClr val="111111"/>
                </a:solidFill>
                <a:latin typeface="Arial"/>
              </a:rPr>
              <a:t>Fewer choices = faster decisions</a:t>
            </a:r>
          </a:p>
        </p:txBody>
      </p:sp>
      <p:sp>
        <p:nvSpPr>
          <p:cNvPr id="16" name="Rounded Rectangle 15"/>
          <p:cNvSpPr/>
          <p:nvPr/>
        </p:nvSpPr>
        <p:spPr>
          <a:xfrm>
            <a:off x="5431536" y="3794760"/>
            <a:ext cx="1517904" cy="256032"/>
          </a:xfrm>
          <a:prstGeom prst="roundRect">
            <a:avLst>
              <a:gd name="adj" fmla="val 50000"/>
            </a:avLst>
          </a:prstGeom>
          <a:solidFill>
            <a:srgbClr val="008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l"/>
            <a:r>
              <a:rPr sz="850" b="0" i="0">
                <a:solidFill>
                  <a:srgbClr val="FFFFFF"/>
                </a:solidFill>
                <a:latin typeface="Arial"/>
              </a:rPr>
              <a:t>Ohh that makes sense</a:t>
            </a:r>
          </a:p>
        </p:txBody>
      </p:sp>
      <p:sp>
        <p:nvSpPr>
          <p:cNvPr id="17" name="Rounded Rectangle 16"/>
          <p:cNvSpPr/>
          <p:nvPr/>
        </p:nvSpPr>
        <p:spPr>
          <a:xfrm>
            <a:off x="6177686" y="4151376"/>
            <a:ext cx="771753" cy="256032"/>
          </a:xfrm>
          <a:prstGeom prst="roundRect">
            <a:avLst>
              <a:gd name="adj" fmla="val 50000"/>
            </a:avLst>
          </a:prstGeom>
          <a:solidFill>
            <a:srgbClr val="008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l"/>
            <a:r>
              <a:rPr sz="850" b="0" i="0">
                <a:solidFill>
                  <a:srgbClr val="FFFFFF"/>
                </a:solidFill>
                <a:latin typeface="Arial"/>
              </a:rPr>
              <a:t>Thanks!!</a:t>
            </a:r>
          </a:p>
        </p:txBody>
      </p:sp>
      <p:sp>
        <p:nvSpPr>
          <p:cNvPr id="18" name="Rounded Rectangle 17"/>
          <p:cNvSpPr/>
          <p:nvPr/>
        </p:nvSpPr>
        <p:spPr>
          <a:xfrm>
            <a:off x="4892040" y="4507992"/>
            <a:ext cx="1455724" cy="256032"/>
          </a:xfrm>
          <a:prstGeom prst="roundRect">
            <a:avLst>
              <a:gd name="adj" fmla="val 50000"/>
            </a:avLst>
          </a:prstGeom>
          <a:solidFill>
            <a:srgbClr val="E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l"/>
            <a:r>
              <a:rPr sz="850" b="0" i="0">
                <a:solidFill>
                  <a:srgbClr val="111111"/>
                </a:solidFill>
                <a:latin typeface="Arial"/>
              </a:rPr>
              <a:t>Good luck tomorrow!</a:t>
            </a:r>
          </a:p>
        </p:txBody>
      </p:sp>
      <p:sp>
        <p:nvSpPr>
          <p:cNvPr id="19" name="Rounded Rectangle 18"/>
          <p:cNvSpPr/>
          <p:nvPr/>
        </p:nvSpPr>
        <p:spPr>
          <a:xfrm>
            <a:off x="4919472" y="5797296"/>
            <a:ext cx="1709927" cy="292608"/>
          </a:xfrm>
          <a:prstGeom prst="roundRect">
            <a:avLst>
              <a:gd name="adj" fmla="val 50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r>
              <a:rPr sz="800" b="0" i="0">
                <a:solidFill>
                  <a:srgbClr val="7F7F7F"/>
                </a:solidFill>
                <a:latin typeface="Arial"/>
              </a:rPr>
              <a:t>Aa</a:t>
            </a:r>
          </a:p>
        </p:txBody>
      </p:sp>
      <p:sp>
        <p:nvSpPr>
          <p:cNvPr id="20" name="Isosceles Triangle 19"/>
          <p:cNvSpPr/>
          <p:nvPr/>
        </p:nvSpPr>
        <p:spPr>
          <a:xfrm rot="5400000">
            <a:off x="6711696" y="5853074"/>
            <a:ext cx="181051" cy="160934"/>
          </a:xfrm>
          <a:prstGeom prst="triangle">
            <a:avLst/>
          </a:prstGeom>
          <a:noFill/>
          <a:ln w="15875">
            <a:solidFill>
              <a:srgbClr val="008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0084FF"/>
                </a:solidFill>
                <a:latin typeface="Arial"/>
              </a:rPr>
              <a:t>EVERYDAY EXAMPLE  ·  MESSENGER</a:t>
            </a:r>
          </a:p>
        </p:txBody>
      </p:sp>
      <p:sp>
        <p:nvSpPr>
          <p:cNvPr id="22" name="TextBox 21"/>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Blue = you, grey = them</a:t>
            </a:r>
          </a:p>
        </p:txBody>
      </p:sp>
      <p:sp>
        <p:nvSpPr>
          <p:cNvPr id="23" name="TextBox 22"/>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You never read names in a chat. The color and side of each bubble tell you who said what.</a:t>
            </a:r>
          </a:p>
          <a:p>
            <a:pPr algn="l">
              <a:spcAft>
                <a:spcPts val="900"/>
              </a:spcAft>
            </a:pPr>
            <a:r>
              <a:rPr sz="1400" b="0" i="0">
                <a:solidFill>
                  <a:srgbClr val="333333"/>
                </a:solidFill>
                <a:latin typeface="Arial"/>
              </a:rPr>
              <a:t>Things that look alike are seen as one group, even when they are far apart.</a:t>
            </a:r>
          </a:p>
        </p:txBody>
      </p:sp>
      <p:sp>
        <p:nvSpPr>
          <p:cNvPr id="24" name="TextBox 23"/>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20446853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D56F8-1208-4536-D2E8-0B702D3EE0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B2836B-331B-6255-7539-3AFF42BFD14D}"/>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Law of Uniform Connectedness</a:t>
            </a:r>
            <a:endParaRPr b="1" dirty="0">
              <a:solidFill>
                <a:srgbClr val="002060"/>
              </a:solidFill>
              <a:latin typeface="Bebas Neue" panose="020B0606020202050201" pitchFamily="34" charset="0"/>
            </a:endParaRPr>
          </a:p>
        </p:txBody>
      </p:sp>
      <p:pic>
        <p:nvPicPr>
          <p:cNvPr id="5" name="Picture 4" descr="A blue background with white circles and dots&#10;&#10;AI-generated content may be incorrect.">
            <a:extLst>
              <a:ext uri="{FF2B5EF4-FFF2-40B4-BE49-F238E27FC236}">
                <a16:creationId xmlns:a16="http://schemas.microsoft.com/office/drawing/2014/main" id="{E6B25CE4-5259-BF57-C1FE-7C2570572650}"/>
              </a:ext>
            </a:extLst>
          </p:cNvPr>
          <p:cNvPicPr preferRelativeResize="0">
            <a:picLocks/>
          </p:cNvPicPr>
          <p:nvPr/>
        </p:nvPicPr>
        <p:blipFill>
          <a:blip r:embed="rId3"/>
          <a:stretch>
            <a:fillRect/>
          </a:stretch>
        </p:blipFill>
        <p:spPr>
          <a:xfrm>
            <a:off x="609600" y="1417638"/>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20D6B80E-2046-221E-33FE-B47CA97E5FE0}"/>
              </a:ext>
            </a:extLst>
          </p:cNvPr>
          <p:cNvPicPr>
            <a:picLocks noChangeAspect="1"/>
          </p:cNvPicPr>
          <p:nvPr/>
        </p:nvPicPr>
        <p:blipFill>
          <a:blip r:embed="rId4"/>
          <a:stretch>
            <a:fillRect/>
          </a:stretch>
        </p:blipFill>
        <p:spPr>
          <a:xfrm>
            <a:off x="6663390" y="1749360"/>
            <a:ext cx="3212129" cy="4416678"/>
          </a:xfrm>
          <a:prstGeom prst="rect">
            <a:avLst/>
          </a:prstGeom>
        </p:spPr>
      </p:pic>
    </p:spTree>
    <p:extLst>
      <p:ext uri="{BB962C8B-B14F-4D97-AF65-F5344CB8AC3E}">
        <p14:creationId xmlns:p14="http://schemas.microsoft.com/office/powerpoint/2010/main" val="26008069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314AF-C4F1-7BBA-9642-84CE5E8C0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60D83-2574-90A8-80F3-A443B13FA8DB}"/>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Mental Model</a:t>
            </a:r>
            <a:endParaRPr b="1" dirty="0">
              <a:solidFill>
                <a:srgbClr val="002060"/>
              </a:solidFill>
              <a:latin typeface="Bebas Neue" panose="020B0606020202050201" pitchFamily="34" charset="0"/>
            </a:endParaRPr>
          </a:p>
        </p:txBody>
      </p:sp>
      <p:pic>
        <p:nvPicPr>
          <p:cNvPr id="4" name="Picture 3" descr="A yellow and white logo&#10;&#10;AI-generated content may be incorrect.">
            <a:extLst>
              <a:ext uri="{FF2B5EF4-FFF2-40B4-BE49-F238E27FC236}">
                <a16:creationId xmlns:a16="http://schemas.microsoft.com/office/drawing/2014/main" id="{0712014E-8503-A0C8-D1A7-06432D3D100E}"/>
              </a:ext>
            </a:extLst>
          </p:cNvPr>
          <p:cNvPicPr preferRelativeResize="0">
            <a:picLocks/>
          </p:cNvPicPr>
          <p:nvPr/>
        </p:nvPicPr>
        <p:blipFill>
          <a:blip r:embed="rId3"/>
          <a:stretch>
            <a:fillRect/>
          </a:stretch>
        </p:blipFill>
        <p:spPr>
          <a:xfrm>
            <a:off x="609600" y="1417638"/>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F0D652B3-1AE2-DCC6-9883-F70F3406E929}"/>
              </a:ext>
            </a:extLst>
          </p:cNvPr>
          <p:cNvPicPr>
            <a:picLocks noChangeAspect="1"/>
          </p:cNvPicPr>
          <p:nvPr/>
        </p:nvPicPr>
        <p:blipFill>
          <a:blip r:embed="rId4"/>
          <a:stretch>
            <a:fillRect/>
          </a:stretch>
        </p:blipFill>
        <p:spPr>
          <a:xfrm>
            <a:off x="4434840" y="1917318"/>
            <a:ext cx="7498080" cy="3749040"/>
          </a:xfrm>
          <a:prstGeom prst="rect">
            <a:avLst/>
          </a:prstGeom>
        </p:spPr>
      </p:pic>
    </p:spTree>
    <p:extLst>
      <p:ext uri="{BB962C8B-B14F-4D97-AF65-F5344CB8AC3E}">
        <p14:creationId xmlns:p14="http://schemas.microsoft.com/office/powerpoint/2010/main" val="293727134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6CE66-7963-CB0D-1440-458EE0644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C4128-E313-8851-E30C-66D3C4A3405E}"/>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Miller’s Law</a:t>
            </a:r>
            <a:endParaRPr b="1" dirty="0">
              <a:solidFill>
                <a:srgbClr val="002060"/>
              </a:solidFill>
              <a:latin typeface="Bebas Neue" panose="020B0606020202050201" pitchFamily="34" charset="0"/>
            </a:endParaRPr>
          </a:p>
        </p:txBody>
      </p:sp>
      <p:pic>
        <p:nvPicPr>
          <p:cNvPr id="6" name="Picture 5" descr="A red and white background with white text and dots&#10;&#10;AI-generated content may be incorrect.">
            <a:extLst>
              <a:ext uri="{FF2B5EF4-FFF2-40B4-BE49-F238E27FC236}">
                <a16:creationId xmlns:a16="http://schemas.microsoft.com/office/drawing/2014/main" id="{3AFD8179-A663-1816-E710-D2E0C811AEE6}"/>
              </a:ext>
            </a:extLst>
          </p:cNvPr>
          <p:cNvPicPr preferRelativeResize="0">
            <a:picLocks/>
          </p:cNvPicPr>
          <p:nvPr/>
        </p:nvPicPr>
        <p:blipFill>
          <a:blip r:embed="rId3"/>
          <a:stretch>
            <a:fillRect/>
          </a:stretch>
        </p:blipFill>
        <p:spPr>
          <a:xfrm>
            <a:off x="609600" y="1417638"/>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26" name="Picture 2" descr="miller's law">
            <a:extLst>
              <a:ext uri="{FF2B5EF4-FFF2-40B4-BE49-F238E27FC236}">
                <a16:creationId xmlns:a16="http://schemas.microsoft.com/office/drawing/2014/main" id="{BFDB9412-BBD8-AA41-D4D3-520B2A3991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6040" y="1663000"/>
            <a:ext cx="7620000"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9527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6CE66-7963-CB0D-1440-458EE0644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C4128-E313-8851-E30C-66D3C4A3405E}"/>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Miller’s Law</a:t>
            </a:r>
            <a:endParaRPr b="1" dirty="0">
              <a:solidFill>
                <a:srgbClr val="002060"/>
              </a:solidFill>
              <a:latin typeface="Bebas Neue" panose="020B0606020202050201" pitchFamily="34" charset="0"/>
            </a:endParaRPr>
          </a:p>
        </p:txBody>
      </p:sp>
      <p:pic>
        <p:nvPicPr>
          <p:cNvPr id="6" name="Picture 5" descr="A red and white background with white text and dots&#10;&#10;AI-generated content may be incorrect.">
            <a:extLst>
              <a:ext uri="{FF2B5EF4-FFF2-40B4-BE49-F238E27FC236}">
                <a16:creationId xmlns:a16="http://schemas.microsoft.com/office/drawing/2014/main" id="{3AFD8179-A663-1816-E710-D2E0C811AEE6}"/>
              </a:ext>
            </a:extLst>
          </p:cNvPr>
          <p:cNvPicPr preferRelativeResize="0">
            <a:picLocks/>
          </p:cNvPicPr>
          <p:nvPr/>
        </p:nvPicPr>
        <p:blipFill>
          <a:blip r:embed="rId3"/>
          <a:stretch>
            <a:fillRect/>
          </a:stretch>
        </p:blipFill>
        <p:spPr>
          <a:xfrm>
            <a:off x="609600" y="1417638"/>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ounded Rectangle 6"/>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782312" y="1444752"/>
            <a:ext cx="2276856" cy="4791456"/>
          </a:xfrm>
          <a:prstGeom prst="roundRect">
            <a:avLst>
              <a:gd name="adj" fmla="val 9000"/>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11" name="Rectangle 10"/>
          <p:cNvSpPr/>
          <p:nvPr/>
        </p:nvSpPr>
        <p:spPr>
          <a:xfrm>
            <a:off x="4782312" y="1719072"/>
            <a:ext cx="2276856" cy="566928"/>
          </a:xfrm>
          <a:prstGeom prst="rect">
            <a:avLst/>
          </a:prstGeom>
          <a:solidFill>
            <a:srgbClr val="005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19472" y="1874520"/>
            <a:ext cx="2002536" cy="274320"/>
          </a:xfrm>
          <a:prstGeom prst="rect">
            <a:avLst/>
          </a:prstGeom>
          <a:noFill/>
        </p:spPr>
        <p:txBody>
          <a:bodyPr wrap="square" lIns="0" rIns="0" tIns="0" bIns="0" anchor="t">
            <a:spAutoFit/>
          </a:bodyPr>
          <a:lstStyle/>
          <a:p>
            <a:pPr algn="l"/>
            <a:r>
              <a:rPr sz="1200" b="1" i="0">
                <a:solidFill>
                  <a:srgbClr val="FFFFFF"/>
                </a:solidFill>
                <a:latin typeface="Arial"/>
              </a:rPr>
              <a:t>Send Money</a:t>
            </a:r>
          </a:p>
        </p:txBody>
      </p:sp>
      <p:sp>
        <p:nvSpPr>
          <p:cNvPr id="13" name="TextBox 12"/>
          <p:cNvSpPr txBox="1"/>
          <p:nvPr/>
        </p:nvSpPr>
        <p:spPr>
          <a:xfrm>
            <a:off x="4965192" y="2496312"/>
            <a:ext cx="1911095" cy="146304"/>
          </a:xfrm>
          <a:prstGeom prst="rect">
            <a:avLst/>
          </a:prstGeom>
          <a:noFill/>
        </p:spPr>
        <p:txBody>
          <a:bodyPr wrap="square" lIns="0" rIns="0" tIns="0" bIns="0" anchor="t">
            <a:spAutoFit/>
          </a:bodyPr>
          <a:lstStyle/>
          <a:p>
            <a:pPr algn="l"/>
            <a:r>
              <a:rPr sz="750" b="0" i="0">
                <a:solidFill>
                  <a:srgbClr val="7F7F7F"/>
                </a:solidFill>
                <a:latin typeface="Arial"/>
              </a:rPr>
              <a:t>Mobile number</a:t>
            </a:r>
          </a:p>
        </p:txBody>
      </p:sp>
      <p:sp>
        <p:nvSpPr>
          <p:cNvPr id="14" name="Rounded Rectangle 13"/>
          <p:cNvSpPr/>
          <p:nvPr/>
        </p:nvSpPr>
        <p:spPr>
          <a:xfrm>
            <a:off x="4965192" y="2660904"/>
            <a:ext cx="1911095" cy="365760"/>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r>
              <a:rPr sz="1100" b="1" i="0">
                <a:solidFill>
                  <a:srgbClr val="111111"/>
                </a:solidFill>
                <a:latin typeface="Arial"/>
              </a:rPr>
              <a:t>0917 123 4567</a:t>
            </a:r>
          </a:p>
        </p:txBody>
      </p:sp>
      <p:sp>
        <p:nvSpPr>
          <p:cNvPr id="15" name="TextBox 14"/>
          <p:cNvSpPr txBox="1"/>
          <p:nvPr/>
        </p:nvSpPr>
        <p:spPr>
          <a:xfrm>
            <a:off x="4965192" y="3136392"/>
            <a:ext cx="1911095" cy="146304"/>
          </a:xfrm>
          <a:prstGeom prst="rect">
            <a:avLst/>
          </a:prstGeom>
          <a:noFill/>
        </p:spPr>
        <p:txBody>
          <a:bodyPr wrap="square" lIns="0" rIns="0" tIns="0" bIns="0" anchor="t">
            <a:spAutoFit/>
          </a:bodyPr>
          <a:lstStyle/>
          <a:p>
            <a:pPr algn="l"/>
            <a:r>
              <a:rPr sz="750" b="0" i="0">
                <a:solidFill>
                  <a:srgbClr val="7F7F7F"/>
                </a:solidFill>
                <a:latin typeface="Arial"/>
              </a:rPr>
              <a:t>Amount</a:t>
            </a:r>
          </a:p>
        </p:txBody>
      </p:sp>
      <p:sp>
        <p:nvSpPr>
          <p:cNvPr id="16" name="Rounded Rectangle 15"/>
          <p:cNvSpPr/>
          <p:nvPr/>
        </p:nvSpPr>
        <p:spPr>
          <a:xfrm>
            <a:off x="4965192" y="3300984"/>
            <a:ext cx="1911095" cy="365760"/>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r>
              <a:rPr sz="1100" b="1" i="0">
                <a:solidFill>
                  <a:srgbClr val="111111"/>
                </a:solidFill>
                <a:latin typeface="Arial"/>
              </a:rPr>
              <a:t>PHP 500.00</a:t>
            </a:r>
          </a:p>
        </p:txBody>
      </p:sp>
      <p:sp>
        <p:nvSpPr>
          <p:cNvPr id="17" name="TextBox 16"/>
          <p:cNvSpPr txBox="1"/>
          <p:nvPr/>
        </p:nvSpPr>
        <p:spPr>
          <a:xfrm>
            <a:off x="4965192" y="3913632"/>
            <a:ext cx="914400" cy="164592"/>
          </a:xfrm>
          <a:prstGeom prst="rect">
            <a:avLst/>
          </a:prstGeom>
          <a:noFill/>
        </p:spPr>
        <p:txBody>
          <a:bodyPr wrap="square" lIns="0" rIns="0" tIns="0" bIns="0" anchor="t">
            <a:spAutoFit/>
          </a:bodyPr>
          <a:lstStyle/>
          <a:p>
            <a:pPr algn="l"/>
            <a:r>
              <a:rPr sz="800" b="1" i="0">
                <a:solidFill>
                  <a:srgbClr val="111111"/>
                </a:solidFill>
                <a:latin typeface="Arial"/>
              </a:rPr>
              <a:t>Recent</a:t>
            </a:r>
          </a:p>
        </p:txBody>
      </p:sp>
      <p:sp>
        <p:nvSpPr>
          <p:cNvPr id="18" name="Oval 17"/>
          <p:cNvSpPr/>
          <p:nvPr/>
        </p:nvSpPr>
        <p:spPr>
          <a:xfrm>
            <a:off x="4965192" y="4169664"/>
            <a:ext cx="310896" cy="310896"/>
          </a:xfrm>
          <a:prstGeom prst="ellipse">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67528" y="4169664"/>
            <a:ext cx="1463040" cy="155448"/>
          </a:xfrm>
          <a:prstGeom prst="rect">
            <a:avLst/>
          </a:prstGeom>
          <a:noFill/>
        </p:spPr>
        <p:txBody>
          <a:bodyPr wrap="square" lIns="0" rIns="0" tIns="0" bIns="0" anchor="t">
            <a:spAutoFit/>
          </a:bodyPr>
          <a:lstStyle/>
          <a:p>
            <a:pPr algn="l"/>
            <a:r>
              <a:rPr sz="850" b="1" i="0">
                <a:solidFill>
                  <a:srgbClr val="111111"/>
                </a:solidFill>
                <a:latin typeface="Arial"/>
              </a:rPr>
              <a:t>Juan D.</a:t>
            </a:r>
          </a:p>
        </p:txBody>
      </p:sp>
      <p:sp>
        <p:nvSpPr>
          <p:cNvPr id="20" name="TextBox 19"/>
          <p:cNvSpPr txBox="1"/>
          <p:nvPr/>
        </p:nvSpPr>
        <p:spPr>
          <a:xfrm>
            <a:off x="5367528" y="4325112"/>
            <a:ext cx="1463040" cy="146304"/>
          </a:xfrm>
          <a:prstGeom prst="rect">
            <a:avLst/>
          </a:prstGeom>
          <a:noFill/>
        </p:spPr>
        <p:txBody>
          <a:bodyPr wrap="square" lIns="0" rIns="0" tIns="0" bIns="0" anchor="t">
            <a:spAutoFit/>
          </a:bodyPr>
          <a:lstStyle/>
          <a:p>
            <a:pPr algn="l"/>
            <a:r>
              <a:rPr sz="750" b="0" i="0">
                <a:solidFill>
                  <a:srgbClr val="7F7F7F"/>
                </a:solidFill>
                <a:latin typeface="Arial"/>
              </a:rPr>
              <a:t>0917 123 4567</a:t>
            </a:r>
          </a:p>
        </p:txBody>
      </p:sp>
      <p:sp>
        <p:nvSpPr>
          <p:cNvPr id="21" name="Oval 20"/>
          <p:cNvSpPr/>
          <p:nvPr/>
        </p:nvSpPr>
        <p:spPr>
          <a:xfrm>
            <a:off x="4965192" y="4626864"/>
            <a:ext cx="310896" cy="310896"/>
          </a:xfrm>
          <a:prstGeom prst="ellipse">
            <a:avLst/>
          </a:prstGeom>
          <a:solidFill>
            <a:srgbClr val="C7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67528" y="4626864"/>
            <a:ext cx="1463040" cy="155448"/>
          </a:xfrm>
          <a:prstGeom prst="rect">
            <a:avLst/>
          </a:prstGeom>
          <a:noFill/>
        </p:spPr>
        <p:txBody>
          <a:bodyPr wrap="square" lIns="0" rIns="0" tIns="0" bIns="0" anchor="t">
            <a:spAutoFit/>
          </a:bodyPr>
          <a:lstStyle/>
          <a:p>
            <a:pPr algn="l"/>
            <a:r>
              <a:rPr sz="850" b="1" i="0">
                <a:solidFill>
                  <a:srgbClr val="111111"/>
                </a:solidFill>
                <a:latin typeface="Arial"/>
              </a:rPr>
              <a:t>Bea S.</a:t>
            </a:r>
          </a:p>
        </p:txBody>
      </p:sp>
      <p:sp>
        <p:nvSpPr>
          <p:cNvPr id="23" name="TextBox 22"/>
          <p:cNvSpPr txBox="1"/>
          <p:nvPr/>
        </p:nvSpPr>
        <p:spPr>
          <a:xfrm>
            <a:off x="5367528" y="4782312"/>
            <a:ext cx="1463040" cy="146304"/>
          </a:xfrm>
          <a:prstGeom prst="rect">
            <a:avLst/>
          </a:prstGeom>
          <a:noFill/>
        </p:spPr>
        <p:txBody>
          <a:bodyPr wrap="square" lIns="0" rIns="0" tIns="0" bIns="0" anchor="t">
            <a:spAutoFit/>
          </a:bodyPr>
          <a:lstStyle/>
          <a:p>
            <a:pPr algn="l"/>
            <a:r>
              <a:rPr sz="750" b="0" i="0">
                <a:solidFill>
                  <a:srgbClr val="7F7F7F"/>
                </a:solidFill>
                <a:latin typeface="Arial"/>
              </a:rPr>
              <a:t>0998 765 4321</a:t>
            </a:r>
          </a:p>
        </p:txBody>
      </p:sp>
      <p:sp>
        <p:nvSpPr>
          <p:cNvPr id="24" name="Rounded Rectangle 23"/>
          <p:cNvSpPr/>
          <p:nvPr/>
        </p:nvSpPr>
        <p:spPr>
          <a:xfrm>
            <a:off x="4965192" y="5596128"/>
            <a:ext cx="1911095" cy="365760"/>
          </a:xfrm>
          <a:prstGeom prst="roundRect">
            <a:avLst>
              <a:gd name="adj" fmla="val 50000"/>
            </a:avLst>
          </a:prstGeom>
          <a:solidFill>
            <a:srgbClr val="005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i="0">
                <a:solidFill>
                  <a:srgbClr val="FFFFFF"/>
                </a:solidFill>
                <a:latin typeface="Arial"/>
              </a:rPr>
              <a:t>Next</a:t>
            </a:r>
          </a:p>
        </p:txBody>
      </p:sp>
      <p:sp>
        <p:nvSpPr>
          <p:cNvPr id="25" name="TextBox 24"/>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005CE6"/>
                </a:solidFill>
                <a:latin typeface="Arial"/>
              </a:rPr>
              <a:t>EVERYDAY EXAMPLE  ·  GCASH</a:t>
            </a:r>
          </a:p>
        </p:txBody>
      </p:sp>
      <p:sp>
        <p:nvSpPr>
          <p:cNvPr id="26" name="TextBox 25"/>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Numbers in small chunks</a:t>
            </a:r>
          </a:p>
        </p:txBody>
      </p:sp>
      <p:sp>
        <p:nvSpPr>
          <p:cNvPr id="27" name="TextBox 26"/>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A long number is easier to read, check and remember when it is split into small groups.</a:t>
            </a:r>
          </a:p>
          <a:p>
            <a:pPr algn="l">
              <a:spcAft>
                <a:spcPts val="900"/>
              </a:spcAft>
            </a:pPr>
            <a:r>
              <a:rPr sz="1400" b="0" i="0">
                <a:solidFill>
                  <a:srgbClr val="333333"/>
                </a:solidFill>
                <a:latin typeface="Arial"/>
              </a:rPr>
              <a:t>Chunking helps people spot a wrong digit before they send money to the wrong person.</a:t>
            </a:r>
          </a:p>
        </p:txBody>
      </p:sp>
      <p:sp>
        <p:nvSpPr>
          <p:cNvPr id="28" name="TextBox 27"/>
          <p:cNvSpPr txBox="1"/>
          <p:nvPr/>
        </p:nvSpPr>
        <p:spPr>
          <a:xfrm>
            <a:off x="7452360" y="4709160"/>
            <a:ext cx="2011680" cy="201168"/>
          </a:xfrm>
          <a:prstGeom prst="rect">
            <a:avLst/>
          </a:prstGeom>
          <a:noFill/>
        </p:spPr>
        <p:txBody>
          <a:bodyPr wrap="square" lIns="0" rIns="0" tIns="0" bIns="0" anchor="t">
            <a:spAutoFit/>
          </a:bodyPr>
          <a:lstStyle/>
          <a:p>
            <a:pPr algn="l"/>
            <a:r>
              <a:rPr sz="1100" b="1" i="0">
                <a:solidFill>
                  <a:srgbClr val="C0392B"/>
                </a:solidFill>
                <a:latin typeface="Arial"/>
              </a:rPr>
              <a:t>Hard to check</a:t>
            </a:r>
          </a:p>
        </p:txBody>
      </p:sp>
      <p:sp>
        <p:nvSpPr>
          <p:cNvPr id="29" name="Rounded Rectangle 28"/>
          <p:cNvSpPr/>
          <p:nvPr/>
        </p:nvSpPr>
        <p:spPr>
          <a:xfrm>
            <a:off x="7452360" y="4983480"/>
            <a:ext cx="2011680" cy="457200"/>
          </a:xfrm>
          <a:prstGeom prst="roundRect">
            <a:avLst>
              <a:gd name="adj" fmla="val 25000"/>
            </a:avLst>
          </a:prstGeom>
          <a:solidFill>
            <a:srgbClr val="FFFFFF"/>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111111"/>
                </a:solidFill>
                <a:latin typeface="Arial"/>
              </a:rPr>
              <a:t>09171234567</a:t>
            </a:r>
          </a:p>
        </p:txBody>
      </p:sp>
      <p:sp>
        <p:nvSpPr>
          <p:cNvPr id="30" name="TextBox 29"/>
          <p:cNvSpPr txBox="1"/>
          <p:nvPr/>
        </p:nvSpPr>
        <p:spPr>
          <a:xfrm>
            <a:off x="9646920" y="4709160"/>
            <a:ext cx="2011680" cy="201168"/>
          </a:xfrm>
          <a:prstGeom prst="rect">
            <a:avLst/>
          </a:prstGeom>
          <a:noFill/>
        </p:spPr>
        <p:txBody>
          <a:bodyPr wrap="square" lIns="0" rIns="0" tIns="0" bIns="0" anchor="t">
            <a:spAutoFit/>
          </a:bodyPr>
          <a:lstStyle/>
          <a:p>
            <a:pPr algn="l"/>
            <a:r>
              <a:rPr sz="1100" b="1" i="0">
                <a:solidFill>
                  <a:srgbClr val="1E8E4F"/>
                </a:solidFill>
                <a:latin typeface="Arial"/>
              </a:rPr>
              <a:t>Easy to check</a:t>
            </a:r>
          </a:p>
        </p:txBody>
      </p:sp>
      <p:sp>
        <p:nvSpPr>
          <p:cNvPr id="31" name="Rounded Rectangle 30"/>
          <p:cNvSpPr/>
          <p:nvPr/>
        </p:nvSpPr>
        <p:spPr>
          <a:xfrm>
            <a:off x="9646920" y="4983480"/>
            <a:ext cx="2011680" cy="457200"/>
          </a:xfrm>
          <a:prstGeom prst="roundRect">
            <a:avLst>
              <a:gd name="adj" fmla="val 25000"/>
            </a:avLst>
          </a:prstGeom>
          <a:solidFill>
            <a:srgbClr val="FFFFFF"/>
          </a:solidFill>
          <a:ln w="25400">
            <a:solidFill>
              <a:srgbClr val="1E8E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111111"/>
                </a:solidFill>
                <a:latin typeface="Arial"/>
              </a:rPr>
              <a:t>0917 123 4567</a:t>
            </a:r>
          </a:p>
        </p:txBody>
      </p:sp>
      <p:sp>
        <p:nvSpPr>
          <p:cNvPr id="32" name="TextBox 31"/>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15579527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AEA4F-5F2A-4371-3DA1-F0E371C51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E2562-A1BB-F351-0712-E458F28E8034}"/>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Occam’s Razor</a:t>
            </a:r>
            <a:endParaRPr b="1" dirty="0">
              <a:solidFill>
                <a:srgbClr val="002060"/>
              </a:solidFill>
              <a:latin typeface="Bebas Neue" panose="020B0606020202050201" pitchFamily="34" charset="0"/>
            </a:endParaRPr>
          </a:p>
        </p:txBody>
      </p:sp>
      <p:pic>
        <p:nvPicPr>
          <p:cNvPr id="7" name="Picture 6" descr="A screenshot of a cellphone&#10;&#10;AI-generated content may be incorrect.">
            <a:extLst>
              <a:ext uri="{FF2B5EF4-FFF2-40B4-BE49-F238E27FC236}">
                <a16:creationId xmlns:a16="http://schemas.microsoft.com/office/drawing/2014/main" id="{CFFA1066-CC12-2DCF-1B69-08840A4D1907}"/>
              </a:ext>
            </a:extLst>
          </p:cNvPr>
          <p:cNvPicPr preferRelativeResize="0">
            <a:picLocks/>
          </p:cNvPicPr>
          <p:nvPr/>
        </p:nvPicPr>
        <p:blipFill>
          <a:blip r:embed="rId3"/>
          <a:stretch>
            <a:fillRect/>
          </a:stretch>
        </p:blipFill>
        <p:spPr>
          <a:xfrm>
            <a:off x="609600" y="1417638"/>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50" name="Picture 2" descr="The Art of Simplicity: How Occam's Razor Elevates UX Design">
            <a:extLst>
              <a:ext uri="{FF2B5EF4-FFF2-40B4-BE49-F238E27FC236}">
                <a16:creationId xmlns:a16="http://schemas.microsoft.com/office/drawing/2014/main" id="{D6A5DBF1-AB3D-5CCB-DA14-790AADBDB9E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844" t="7222" r="22031" b="6230"/>
          <a:stretch>
            <a:fillRect/>
          </a:stretch>
        </p:blipFill>
        <p:spPr bwMode="auto">
          <a:xfrm>
            <a:off x="5120640" y="1417638"/>
            <a:ext cx="6156960" cy="47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9040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58796-14A8-87D7-D4C0-9F7B6560F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69C34-EC49-23C3-73B8-BC694D442233}"/>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Paradox of the Active User</a:t>
            </a:r>
            <a:endParaRPr b="1" dirty="0">
              <a:solidFill>
                <a:srgbClr val="002060"/>
              </a:solidFill>
              <a:latin typeface="Bebas Neue" panose="020B0606020202050201" pitchFamily="34" charset="0"/>
            </a:endParaRPr>
          </a:p>
        </p:txBody>
      </p:sp>
      <p:pic>
        <p:nvPicPr>
          <p:cNvPr id="4" name="Picture 3" descr="A screenshot of a computer&#10;&#10;AI-generated content may be incorrect.">
            <a:extLst>
              <a:ext uri="{FF2B5EF4-FFF2-40B4-BE49-F238E27FC236}">
                <a16:creationId xmlns:a16="http://schemas.microsoft.com/office/drawing/2014/main" id="{C47AFEC7-4D7B-D0CC-9644-02EB701D2FE0}"/>
              </a:ext>
            </a:extLst>
          </p:cNvPr>
          <p:cNvPicPr preferRelativeResize="0">
            <a:picLocks/>
          </p:cNvPicPr>
          <p:nvPr/>
        </p:nvPicPr>
        <p:blipFill>
          <a:blip r:embed="rId3"/>
          <a:stretch>
            <a:fillRect/>
          </a:stretch>
        </p:blipFill>
        <p:spPr>
          <a:xfrm>
            <a:off x="609600" y="1417638"/>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ounded Rectangle 4"/>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82312" y="1444752"/>
            <a:ext cx="2276856" cy="4791456"/>
          </a:xfrm>
          <a:prstGeom prst="roundRect">
            <a:avLst>
              <a:gd name="adj" fmla="val 9000"/>
            </a:avLst>
          </a:prstGeom>
          <a:solidFill>
            <a:srgbClr val="31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FFFFFF"/>
                </a:solidFill>
                <a:latin typeface="Arial"/>
              </a:rPr>
              <a:t>9:41</a:t>
            </a:r>
          </a:p>
        </p:txBody>
      </p:sp>
      <p:sp>
        <p:nvSpPr>
          <p:cNvPr id="9" name="TextBox 8"/>
          <p:cNvSpPr txBox="1"/>
          <p:nvPr/>
        </p:nvSpPr>
        <p:spPr>
          <a:xfrm>
            <a:off x="4919472" y="1755648"/>
            <a:ext cx="2002536" cy="201168"/>
          </a:xfrm>
          <a:prstGeom prst="rect">
            <a:avLst/>
          </a:prstGeom>
          <a:noFill/>
        </p:spPr>
        <p:txBody>
          <a:bodyPr wrap="square" lIns="0" rIns="0" tIns="0" bIns="0" anchor="t">
            <a:spAutoFit/>
          </a:bodyPr>
          <a:lstStyle/>
          <a:p>
            <a:pPr algn="l"/>
            <a:r>
              <a:rPr sz="900" b="1" i="0">
                <a:solidFill>
                  <a:srgbClr val="FFFFFF"/>
                </a:solidFill>
                <a:latin typeface="Arial"/>
              </a:rPr>
              <a:t>#  welcome</a:t>
            </a:r>
          </a:p>
        </p:txBody>
      </p:sp>
      <p:cxnSp>
        <p:nvCxnSpPr>
          <p:cNvPr id="10" name="Connector 9"/>
          <p:cNvCxnSpPr/>
          <p:nvPr/>
        </p:nvCxnSpPr>
        <p:spPr>
          <a:xfrm>
            <a:off x="4782312" y="2029968"/>
            <a:ext cx="2276856" cy="0"/>
          </a:xfrm>
          <a:prstGeom prst="line">
            <a:avLst/>
          </a:prstGeom>
          <a:ln w="12700">
            <a:solidFill>
              <a:srgbClr val="1E1F2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873752" y="2176272"/>
            <a:ext cx="2093975" cy="3017520"/>
          </a:xfrm>
          <a:prstGeom prst="roundRect">
            <a:avLst>
              <a:gd name="adj" fmla="val 5000"/>
            </a:avLst>
          </a:prstGeom>
          <a:solidFill>
            <a:srgbClr val="2B2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3480" y="2286000"/>
            <a:ext cx="1911095" cy="365760"/>
          </a:xfrm>
          <a:prstGeom prst="rect">
            <a:avLst/>
          </a:prstGeom>
          <a:noFill/>
        </p:spPr>
        <p:txBody>
          <a:bodyPr wrap="square" lIns="0" rIns="0" tIns="0" bIns="0" anchor="t">
            <a:spAutoFit/>
          </a:bodyPr>
          <a:lstStyle/>
          <a:p>
            <a:pPr algn="l"/>
            <a:r>
              <a:rPr sz="1050" b="1" i="0">
                <a:solidFill>
                  <a:srgbClr val="FFFFFF"/>
                </a:solidFill>
                <a:latin typeface="Arial"/>
              </a:rPr>
              <a:t>Welcome to Study Group!</a:t>
            </a:r>
          </a:p>
        </p:txBody>
      </p:sp>
      <p:sp>
        <p:nvSpPr>
          <p:cNvPr id="13" name="TextBox 12"/>
          <p:cNvSpPr txBox="1"/>
          <p:nvPr/>
        </p:nvSpPr>
        <p:spPr>
          <a:xfrm>
            <a:off x="4983480" y="2542032"/>
            <a:ext cx="1911095" cy="274320"/>
          </a:xfrm>
          <a:prstGeom prst="rect">
            <a:avLst/>
          </a:prstGeom>
          <a:noFill/>
        </p:spPr>
        <p:txBody>
          <a:bodyPr wrap="square" lIns="0" rIns="0" tIns="0" bIns="0" anchor="t">
            <a:spAutoFit/>
          </a:bodyPr>
          <a:lstStyle/>
          <a:p>
            <a:pPr algn="l"/>
            <a:r>
              <a:rPr sz="750" b="0" i="0">
                <a:solidFill>
                  <a:srgbClr val="B5BAC1"/>
                </a:solidFill>
                <a:latin typeface="Arial"/>
              </a:rPr>
              <a:t>Here are some steps to help you get started.</a:t>
            </a:r>
          </a:p>
        </p:txBody>
      </p:sp>
      <p:sp>
        <p:nvSpPr>
          <p:cNvPr id="14" name="Rounded Rectangle 13"/>
          <p:cNvSpPr/>
          <p:nvPr/>
        </p:nvSpPr>
        <p:spPr>
          <a:xfrm>
            <a:off x="4946904" y="2907792"/>
            <a:ext cx="1947672" cy="457200"/>
          </a:xfrm>
          <a:prstGeom prst="roundRect">
            <a:avLst>
              <a:gd name="adj" fmla="val 15000"/>
            </a:avLst>
          </a:prstGeom>
          <a:solidFill>
            <a:srgbClr val="38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038344" y="2999232"/>
            <a:ext cx="274320" cy="274320"/>
          </a:xfrm>
          <a:prstGeom prst="ellipse">
            <a:avLst/>
          </a:prstGeom>
          <a:solidFill>
            <a:srgbClr val="586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04104" y="2962656"/>
            <a:ext cx="1225295" cy="365760"/>
          </a:xfrm>
          <a:prstGeom prst="rect">
            <a:avLst/>
          </a:prstGeom>
          <a:noFill/>
        </p:spPr>
        <p:txBody>
          <a:bodyPr wrap="square" lIns="0" rIns="0" tIns="0" bIns="0" anchor="ctr">
            <a:spAutoFit/>
          </a:bodyPr>
          <a:lstStyle/>
          <a:p>
            <a:pPr algn="l"/>
            <a:r>
              <a:rPr sz="800" b="1" i="0">
                <a:solidFill>
                  <a:srgbClr val="FFFFFF"/>
                </a:solidFill>
                <a:latin typeface="Arial"/>
              </a:rPr>
              <a:t>Invite your friends</a:t>
            </a:r>
          </a:p>
        </p:txBody>
      </p:sp>
      <p:sp>
        <p:nvSpPr>
          <p:cNvPr id="17" name="TextBox 16"/>
          <p:cNvSpPr txBox="1"/>
          <p:nvPr/>
        </p:nvSpPr>
        <p:spPr>
          <a:xfrm>
            <a:off x="6693408" y="2999232"/>
            <a:ext cx="137160" cy="274320"/>
          </a:xfrm>
          <a:prstGeom prst="rect">
            <a:avLst/>
          </a:prstGeom>
          <a:noFill/>
        </p:spPr>
        <p:txBody>
          <a:bodyPr wrap="square" lIns="0" rIns="0" tIns="0" bIns="0" anchor="t">
            <a:spAutoFit/>
          </a:bodyPr>
          <a:lstStyle/>
          <a:p>
            <a:pPr algn="l"/>
            <a:r>
              <a:rPr sz="1400" b="0" i="0">
                <a:solidFill>
                  <a:srgbClr val="B5BAC1"/>
                </a:solidFill>
                <a:latin typeface="Arial"/>
              </a:rPr>
              <a:t>›</a:t>
            </a:r>
          </a:p>
        </p:txBody>
      </p:sp>
      <p:sp>
        <p:nvSpPr>
          <p:cNvPr id="18" name="Rounded Rectangle 17"/>
          <p:cNvSpPr/>
          <p:nvPr/>
        </p:nvSpPr>
        <p:spPr>
          <a:xfrm>
            <a:off x="4946904" y="3456432"/>
            <a:ext cx="1947672" cy="457200"/>
          </a:xfrm>
          <a:prstGeom prst="roundRect">
            <a:avLst>
              <a:gd name="adj" fmla="val 15000"/>
            </a:avLst>
          </a:prstGeom>
          <a:solidFill>
            <a:srgbClr val="38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038344" y="3547872"/>
            <a:ext cx="274320" cy="274320"/>
          </a:xfrm>
          <a:prstGeom prst="ellipse">
            <a:avLst/>
          </a:prstGeom>
          <a:solidFill>
            <a:srgbClr val="23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04104" y="3511296"/>
            <a:ext cx="1225295" cy="365760"/>
          </a:xfrm>
          <a:prstGeom prst="rect">
            <a:avLst/>
          </a:prstGeom>
          <a:noFill/>
        </p:spPr>
        <p:txBody>
          <a:bodyPr wrap="square" lIns="0" rIns="0" tIns="0" bIns="0" anchor="ctr">
            <a:spAutoFit/>
          </a:bodyPr>
          <a:lstStyle/>
          <a:p>
            <a:pPr algn="l"/>
            <a:r>
              <a:rPr sz="800" b="1" i="0">
                <a:solidFill>
                  <a:srgbClr val="FFFFFF"/>
                </a:solidFill>
                <a:latin typeface="Arial"/>
              </a:rPr>
              <a:t>Personalize your server with an icon</a:t>
            </a:r>
          </a:p>
        </p:txBody>
      </p:sp>
      <p:sp>
        <p:nvSpPr>
          <p:cNvPr id="21" name="TextBox 20"/>
          <p:cNvSpPr txBox="1"/>
          <p:nvPr/>
        </p:nvSpPr>
        <p:spPr>
          <a:xfrm>
            <a:off x="6693408" y="3547872"/>
            <a:ext cx="137160" cy="274320"/>
          </a:xfrm>
          <a:prstGeom prst="rect">
            <a:avLst/>
          </a:prstGeom>
          <a:noFill/>
        </p:spPr>
        <p:txBody>
          <a:bodyPr wrap="square" lIns="0" rIns="0" tIns="0" bIns="0" anchor="t">
            <a:spAutoFit/>
          </a:bodyPr>
          <a:lstStyle/>
          <a:p>
            <a:pPr algn="l"/>
            <a:r>
              <a:rPr sz="1400" b="0" i="0">
                <a:solidFill>
                  <a:srgbClr val="B5BAC1"/>
                </a:solidFill>
                <a:latin typeface="Arial"/>
              </a:rPr>
              <a:t>›</a:t>
            </a:r>
          </a:p>
        </p:txBody>
      </p:sp>
      <p:sp>
        <p:nvSpPr>
          <p:cNvPr id="22" name="Rounded Rectangle 21"/>
          <p:cNvSpPr/>
          <p:nvPr/>
        </p:nvSpPr>
        <p:spPr>
          <a:xfrm>
            <a:off x="4946904" y="4005072"/>
            <a:ext cx="1947672" cy="457200"/>
          </a:xfrm>
          <a:prstGeom prst="roundRect">
            <a:avLst>
              <a:gd name="adj" fmla="val 15000"/>
            </a:avLst>
          </a:prstGeom>
          <a:solidFill>
            <a:srgbClr val="38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038344" y="4096511"/>
            <a:ext cx="274320" cy="274320"/>
          </a:xfrm>
          <a:prstGeom prst="ellipse">
            <a:avLst/>
          </a:prstGeom>
          <a:solidFill>
            <a:srgbClr val="F0B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04104" y="4059935"/>
            <a:ext cx="1225295" cy="365760"/>
          </a:xfrm>
          <a:prstGeom prst="rect">
            <a:avLst/>
          </a:prstGeom>
          <a:noFill/>
        </p:spPr>
        <p:txBody>
          <a:bodyPr wrap="square" lIns="0" rIns="0" tIns="0" bIns="0" anchor="ctr">
            <a:spAutoFit/>
          </a:bodyPr>
          <a:lstStyle/>
          <a:p>
            <a:pPr algn="l"/>
            <a:r>
              <a:rPr sz="800" b="1" i="0">
                <a:solidFill>
                  <a:srgbClr val="FFFFFF"/>
                </a:solidFill>
                <a:latin typeface="Arial"/>
              </a:rPr>
              <a:t>Send your first message</a:t>
            </a:r>
          </a:p>
        </p:txBody>
      </p:sp>
      <p:sp>
        <p:nvSpPr>
          <p:cNvPr id="25" name="TextBox 24"/>
          <p:cNvSpPr txBox="1"/>
          <p:nvPr/>
        </p:nvSpPr>
        <p:spPr>
          <a:xfrm>
            <a:off x="6693408" y="4096511"/>
            <a:ext cx="137160" cy="274320"/>
          </a:xfrm>
          <a:prstGeom prst="rect">
            <a:avLst/>
          </a:prstGeom>
          <a:noFill/>
        </p:spPr>
        <p:txBody>
          <a:bodyPr wrap="square" lIns="0" rIns="0" tIns="0" bIns="0" anchor="t">
            <a:spAutoFit/>
          </a:bodyPr>
          <a:lstStyle/>
          <a:p>
            <a:pPr algn="l"/>
            <a:r>
              <a:rPr sz="1400" b="0" i="0">
                <a:solidFill>
                  <a:srgbClr val="B5BAC1"/>
                </a:solidFill>
                <a:latin typeface="Arial"/>
              </a:rPr>
              <a:t>›</a:t>
            </a:r>
          </a:p>
        </p:txBody>
      </p:sp>
      <p:sp>
        <p:nvSpPr>
          <p:cNvPr id="26" name="Rounded Rectangle 25"/>
          <p:cNvSpPr/>
          <p:nvPr/>
        </p:nvSpPr>
        <p:spPr>
          <a:xfrm>
            <a:off x="4946904" y="4553712"/>
            <a:ext cx="1947672" cy="457200"/>
          </a:xfrm>
          <a:prstGeom prst="roundRect">
            <a:avLst>
              <a:gd name="adj" fmla="val 15000"/>
            </a:avLst>
          </a:prstGeom>
          <a:solidFill>
            <a:srgbClr val="38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038344" y="4645152"/>
            <a:ext cx="274320" cy="274320"/>
          </a:xfrm>
          <a:prstGeom prst="ellipse">
            <a:avLst/>
          </a:prstGeom>
          <a:solidFill>
            <a:srgbClr val="EB4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04104" y="4608576"/>
            <a:ext cx="1225295" cy="365760"/>
          </a:xfrm>
          <a:prstGeom prst="rect">
            <a:avLst/>
          </a:prstGeom>
          <a:noFill/>
        </p:spPr>
        <p:txBody>
          <a:bodyPr wrap="square" lIns="0" rIns="0" tIns="0" bIns="0" anchor="ctr">
            <a:spAutoFit/>
          </a:bodyPr>
          <a:lstStyle/>
          <a:p>
            <a:pPr algn="l"/>
            <a:r>
              <a:rPr sz="800" b="1" i="0">
                <a:solidFill>
                  <a:srgbClr val="FFFFFF"/>
                </a:solidFill>
                <a:latin typeface="Arial"/>
              </a:rPr>
              <a:t>Add your first app</a:t>
            </a:r>
          </a:p>
        </p:txBody>
      </p:sp>
      <p:sp>
        <p:nvSpPr>
          <p:cNvPr id="29" name="TextBox 28"/>
          <p:cNvSpPr txBox="1"/>
          <p:nvPr/>
        </p:nvSpPr>
        <p:spPr>
          <a:xfrm>
            <a:off x="6693408" y="4645152"/>
            <a:ext cx="137160" cy="274320"/>
          </a:xfrm>
          <a:prstGeom prst="rect">
            <a:avLst/>
          </a:prstGeom>
          <a:noFill/>
        </p:spPr>
        <p:txBody>
          <a:bodyPr wrap="square" lIns="0" rIns="0" tIns="0" bIns="0" anchor="t">
            <a:spAutoFit/>
          </a:bodyPr>
          <a:lstStyle/>
          <a:p>
            <a:pPr algn="l"/>
            <a:r>
              <a:rPr sz="1400" b="0" i="0">
                <a:solidFill>
                  <a:srgbClr val="B5BAC1"/>
                </a:solidFill>
                <a:latin typeface="Arial"/>
              </a:rPr>
              <a:t>›</a:t>
            </a:r>
          </a:p>
        </p:txBody>
      </p:sp>
      <p:sp>
        <p:nvSpPr>
          <p:cNvPr id="30" name="Rounded Rectangle 29"/>
          <p:cNvSpPr/>
          <p:nvPr/>
        </p:nvSpPr>
        <p:spPr>
          <a:xfrm>
            <a:off x="4892040" y="5779008"/>
            <a:ext cx="2057400" cy="310896"/>
          </a:xfrm>
          <a:prstGeom prst="roundRect">
            <a:avLst>
              <a:gd name="adj" fmla="val 30000"/>
            </a:avLst>
          </a:prstGeom>
          <a:solidFill>
            <a:srgbClr val="383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r>
              <a:rPr sz="800" b="0" i="0">
                <a:solidFill>
                  <a:srgbClr val="949BA4"/>
                </a:solidFill>
                <a:latin typeface="Arial"/>
              </a:rPr>
              <a:t>Message #welcome</a:t>
            </a:r>
          </a:p>
        </p:txBody>
      </p:sp>
      <p:sp>
        <p:nvSpPr>
          <p:cNvPr id="31" name="TextBox 30"/>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5865F2"/>
                </a:solidFill>
                <a:latin typeface="Arial"/>
              </a:rPr>
              <a:t>EVERYDAY EXAMPLE  ·  DISCORD</a:t>
            </a:r>
          </a:p>
        </p:txBody>
      </p:sp>
      <p:sp>
        <p:nvSpPr>
          <p:cNvPr id="32" name="TextBox 31"/>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Help right where you are</a:t>
            </a:r>
          </a:p>
        </p:txBody>
      </p:sp>
      <p:sp>
        <p:nvSpPr>
          <p:cNvPr id="33" name="TextBox 32"/>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Nobody reads a manual before they start chatting. A new Discord server shows a short checklist inside the server itself.</a:t>
            </a:r>
          </a:p>
          <a:p>
            <a:pPr algn="l">
              <a:spcAft>
                <a:spcPts val="900"/>
              </a:spcAft>
            </a:pPr>
            <a:r>
              <a:rPr sz="1400" b="0" i="0">
                <a:solidFill>
                  <a:srgbClr val="333333"/>
                </a:solidFill>
                <a:latin typeface="Arial"/>
              </a:rPr>
              <a:t>People learn by doing, with help placed exactly where they need it.</a:t>
            </a:r>
          </a:p>
        </p:txBody>
      </p:sp>
      <p:sp>
        <p:nvSpPr>
          <p:cNvPr id="34" name="TextBox 33"/>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26147308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095F8-C3FB-DED9-21DE-C6E180E5E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7856A-C8CE-F491-8870-F06327A784A8}"/>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Pareto Principle</a:t>
            </a:r>
            <a:endParaRPr b="1" dirty="0">
              <a:solidFill>
                <a:srgbClr val="002060"/>
              </a:solidFill>
              <a:latin typeface="Bebas Neue" panose="020B0606020202050201" pitchFamily="34" charset="0"/>
            </a:endParaRPr>
          </a:p>
        </p:txBody>
      </p:sp>
      <p:pic>
        <p:nvPicPr>
          <p:cNvPr id="11" name="Picture 10" descr="A screenshot of a video game&#10;&#10;AI-generated content may be incorrect.">
            <a:extLst>
              <a:ext uri="{FF2B5EF4-FFF2-40B4-BE49-F238E27FC236}">
                <a16:creationId xmlns:a16="http://schemas.microsoft.com/office/drawing/2014/main" id="{1F5E735C-7659-07F9-5B0C-94630EC03165}"/>
              </a:ext>
            </a:extLst>
          </p:cNvPr>
          <p:cNvPicPr preferRelativeResize="0">
            <a:picLocks/>
          </p:cNvPicPr>
          <p:nvPr/>
        </p:nvPicPr>
        <p:blipFill>
          <a:blip r:embed="rId3"/>
          <a:stretch>
            <a:fillRect/>
          </a:stretch>
        </p:blipFill>
        <p:spPr>
          <a:xfrm>
            <a:off x="609600" y="1417638"/>
            <a:ext cx="3628800" cy="4748400"/>
          </a:xfrm>
          <a:prstGeom prst="rect">
            <a:avLst/>
          </a:prstGeom>
        </p:spPr>
      </p:pic>
      <p:sp>
        <p:nvSpPr>
          <p:cNvPr id="12" name="Rounded Rectangle 11"/>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2312" y="1444752"/>
            <a:ext cx="2276856" cy="4791456"/>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16" name="TextBox 15"/>
          <p:cNvSpPr txBox="1"/>
          <p:nvPr/>
        </p:nvSpPr>
        <p:spPr>
          <a:xfrm>
            <a:off x="4919472" y="1737360"/>
            <a:ext cx="1645920" cy="201168"/>
          </a:xfrm>
          <a:prstGeom prst="rect">
            <a:avLst/>
          </a:prstGeom>
          <a:noFill/>
        </p:spPr>
        <p:txBody>
          <a:bodyPr wrap="square" lIns="0" rIns="0" tIns="0" bIns="0" anchor="t">
            <a:spAutoFit/>
          </a:bodyPr>
          <a:lstStyle/>
          <a:p>
            <a:pPr algn="l"/>
            <a:r>
              <a:rPr sz="1000" b="1" i="0">
                <a:solidFill>
                  <a:srgbClr val="222222"/>
                </a:solidFill>
                <a:latin typeface="Arial"/>
              </a:rPr>
              <a:t>juan.delacruz</a:t>
            </a:r>
          </a:p>
        </p:txBody>
      </p:sp>
      <p:sp>
        <p:nvSpPr>
          <p:cNvPr id="17" name="Rounded Rectangle 16"/>
          <p:cNvSpPr/>
          <p:nvPr/>
        </p:nvSpPr>
        <p:spPr>
          <a:xfrm>
            <a:off x="6473952" y="1755648"/>
            <a:ext cx="164592" cy="164592"/>
          </a:xfrm>
          <a:prstGeom prst="roundRect">
            <a:avLst>
              <a:gd name="adj" fmla="val 25000"/>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6556248" y="1796796"/>
            <a:ext cx="0" cy="82296"/>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15100" y="1837944"/>
            <a:ext cx="82296" cy="0"/>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757416" y="1789480"/>
            <a:ext cx="164592" cy="0"/>
          </a:xfrm>
          <a:prstGeom prst="line">
            <a:avLst/>
          </a:prstGeom>
          <a:ln w="1905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57416" y="1847088"/>
            <a:ext cx="164592" cy="0"/>
          </a:xfrm>
          <a:prstGeom prst="line">
            <a:avLst/>
          </a:prstGeom>
          <a:ln w="1905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757416" y="1904695"/>
            <a:ext cx="164592" cy="0"/>
          </a:xfrm>
          <a:prstGeom prst="line">
            <a:avLst/>
          </a:prstGeom>
          <a:ln w="19050">
            <a:solidFill>
              <a:srgbClr val="26262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6665976" y="1673352"/>
            <a:ext cx="347472" cy="347472"/>
          </a:xfrm>
          <a:prstGeom prst="ellipse">
            <a:avLst/>
          </a:prstGeom>
          <a:noFill/>
          <a:ln w="25400">
            <a:solidFill>
              <a:srgbClr val="E67E2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919472" y="2103120"/>
            <a:ext cx="640080" cy="640080"/>
          </a:xfrm>
          <a:prstGeom prst="ellipse">
            <a:avLst/>
          </a:prstGeom>
          <a:noFill/>
          <a:ln w="25400">
            <a:solidFill>
              <a:srgbClr val="C135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974336" y="2157984"/>
            <a:ext cx="530352" cy="530352"/>
          </a:xfrm>
          <a:prstGeom prst="ellipse">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50992" y="2221992"/>
            <a:ext cx="457200" cy="164592"/>
          </a:xfrm>
          <a:prstGeom prst="rect">
            <a:avLst/>
          </a:prstGeom>
          <a:noFill/>
        </p:spPr>
        <p:txBody>
          <a:bodyPr wrap="square" lIns="0" rIns="0" tIns="0" bIns="0" anchor="t">
            <a:spAutoFit/>
          </a:bodyPr>
          <a:lstStyle/>
          <a:p>
            <a:pPr algn="ctr"/>
            <a:r>
              <a:rPr sz="900" b="1" i="0">
                <a:solidFill>
                  <a:srgbClr val="222222"/>
                </a:solidFill>
                <a:latin typeface="Arial"/>
              </a:rPr>
              <a:t>12</a:t>
            </a:r>
          </a:p>
        </p:txBody>
      </p:sp>
      <p:sp>
        <p:nvSpPr>
          <p:cNvPr id="27" name="TextBox 26"/>
          <p:cNvSpPr txBox="1"/>
          <p:nvPr/>
        </p:nvSpPr>
        <p:spPr>
          <a:xfrm>
            <a:off x="5650992" y="2395728"/>
            <a:ext cx="457200" cy="146304"/>
          </a:xfrm>
          <a:prstGeom prst="rect">
            <a:avLst/>
          </a:prstGeom>
          <a:noFill/>
        </p:spPr>
        <p:txBody>
          <a:bodyPr wrap="square" lIns="0" rIns="0" tIns="0" bIns="0" anchor="t">
            <a:spAutoFit/>
          </a:bodyPr>
          <a:lstStyle/>
          <a:p>
            <a:pPr algn="ctr"/>
            <a:r>
              <a:rPr sz="650" b="0" i="0">
                <a:solidFill>
                  <a:srgbClr val="222222"/>
                </a:solidFill>
                <a:latin typeface="Arial"/>
              </a:rPr>
              <a:t>posts</a:t>
            </a:r>
          </a:p>
        </p:txBody>
      </p:sp>
      <p:sp>
        <p:nvSpPr>
          <p:cNvPr id="28" name="TextBox 27"/>
          <p:cNvSpPr txBox="1"/>
          <p:nvPr/>
        </p:nvSpPr>
        <p:spPr>
          <a:xfrm>
            <a:off x="6108192" y="2221992"/>
            <a:ext cx="457200" cy="164592"/>
          </a:xfrm>
          <a:prstGeom prst="rect">
            <a:avLst/>
          </a:prstGeom>
          <a:noFill/>
        </p:spPr>
        <p:txBody>
          <a:bodyPr wrap="square" lIns="0" rIns="0" tIns="0" bIns="0" anchor="t">
            <a:spAutoFit/>
          </a:bodyPr>
          <a:lstStyle/>
          <a:p>
            <a:pPr algn="ctr"/>
            <a:r>
              <a:rPr sz="900" b="1" i="0">
                <a:solidFill>
                  <a:srgbClr val="222222"/>
                </a:solidFill>
                <a:latin typeface="Arial"/>
              </a:rPr>
              <a:t>340</a:t>
            </a:r>
          </a:p>
        </p:txBody>
      </p:sp>
      <p:sp>
        <p:nvSpPr>
          <p:cNvPr id="29" name="TextBox 28"/>
          <p:cNvSpPr txBox="1"/>
          <p:nvPr/>
        </p:nvSpPr>
        <p:spPr>
          <a:xfrm>
            <a:off x="6108192" y="2395728"/>
            <a:ext cx="457200" cy="146304"/>
          </a:xfrm>
          <a:prstGeom prst="rect">
            <a:avLst/>
          </a:prstGeom>
          <a:noFill/>
        </p:spPr>
        <p:txBody>
          <a:bodyPr wrap="square" lIns="0" rIns="0" tIns="0" bIns="0" anchor="t">
            <a:spAutoFit/>
          </a:bodyPr>
          <a:lstStyle/>
          <a:p>
            <a:pPr algn="ctr"/>
            <a:r>
              <a:rPr sz="650" b="0" i="0">
                <a:solidFill>
                  <a:srgbClr val="222222"/>
                </a:solidFill>
                <a:latin typeface="Arial"/>
              </a:rPr>
              <a:t>followers</a:t>
            </a:r>
          </a:p>
        </p:txBody>
      </p:sp>
      <p:sp>
        <p:nvSpPr>
          <p:cNvPr id="30" name="TextBox 29"/>
          <p:cNvSpPr txBox="1"/>
          <p:nvPr/>
        </p:nvSpPr>
        <p:spPr>
          <a:xfrm>
            <a:off x="6565392" y="2221992"/>
            <a:ext cx="457200" cy="164592"/>
          </a:xfrm>
          <a:prstGeom prst="rect">
            <a:avLst/>
          </a:prstGeom>
          <a:noFill/>
        </p:spPr>
        <p:txBody>
          <a:bodyPr wrap="square" lIns="0" rIns="0" tIns="0" bIns="0" anchor="t">
            <a:spAutoFit/>
          </a:bodyPr>
          <a:lstStyle/>
          <a:p>
            <a:pPr algn="ctr"/>
            <a:r>
              <a:rPr sz="900" b="1" i="0">
                <a:solidFill>
                  <a:srgbClr val="222222"/>
                </a:solidFill>
                <a:latin typeface="Arial"/>
              </a:rPr>
              <a:t>280</a:t>
            </a:r>
          </a:p>
        </p:txBody>
      </p:sp>
      <p:sp>
        <p:nvSpPr>
          <p:cNvPr id="31" name="TextBox 30"/>
          <p:cNvSpPr txBox="1"/>
          <p:nvPr/>
        </p:nvSpPr>
        <p:spPr>
          <a:xfrm>
            <a:off x="6565392" y="2395728"/>
            <a:ext cx="457200" cy="146304"/>
          </a:xfrm>
          <a:prstGeom prst="rect">
            <a:avLst/>
          </a:prstGeom>
          <a:noFill/>
        </p:spPr>
        <p:txBody>
          <a:bodyPr wrap="square" lIns="0" rIns="0" tIns="0" bIns="0" anchor="t">
            <a:spAutoFit/>
          </a:bodyPr>
          <a:lstStyle/>
          <a:p>
            <a:pPr algn="ctr"/>
            <a:r>
              <a:rPr sz="650" b="0" i="0">
                <a:solidFill>
                  <a:srgbClr val="222222"/>
                </a:solidFill>
                <a:latin typeface="Arial"/>
              </a:rPr>
              <a:t>following</a:t>
            </a:r>
          </a:p>
        </p:txBody>
      </p:sp>
      <p:sp>
        <p:nvSpPr>
          <p:cNvPr id="32" name="TextBox 31"/>
          <p:cNvSpPr txBox="1"/>
          <p:nvPr/>
        </p:nvSpPr>
        <p:spPr>
          <a:xfrm>
            <a:off x="4919472" y="2816352"/>
            <a:ext cx="1828800" cy="155448"/>
          </a:xfrm>
          <a:prstGeom prst="rect">
            <a:avLst/>
          </a:prstGeom>
          <a:noFill/>
        </p:spPr>
        <p:txBody>
          <a:bodyPr wrap="square" lIns="0" rIns="0" tIns="0" bIns="0" anchor="t">
            <a:spAutoFit/>
          </a:bodyPr>
          <a:lstStyle/>
          <a:p>
            <a:pPr algn="l"/>
            <a:r>
              <a:rPr sz="800" b="1" i="0">
                <a:solidFill>
                  <a:srgbClr val="222222"/>
                </a:solidFill>
                <a:latin typeface="Arial"/>
              </a:rPr>
              <a:t>Juan Dela Cruz</a:t>
            </a:r>
          </a:p>
        </p:txBody>
      </p:sp>
      <p:sp>
        <p:nvSpPr>
          <p:cNvPr id="33" name="Rounded Rectangle 32"/>
          <p:cNvSpPr/>
          <p:nvPr/>
        </p:nvSpPr>
        <p:spPr>
          <a:xfrm>
            <a:off x="4919472" y="3017520"/>
            <a:ext cx="1463040"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919472" y="3200400"/>
            <a:ext cx="2002536" cy="274320"/>
          </a:xfrm>
          <a:prstGeom prst="roundRect">
            <a:avLst>
              <a:gd name="adj" fmla="val 25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i="0">
                <a:solidFill>
                  <a:srgbClr val="111111"/>
                </a:solidFill>
                <a:latin typeface="Arial"/>
              </a:rPr>
              <a:t>Edit profile</a:t>
            </a:r>
          </a:p>
        </p:txBody>
      </p:sp>
      <p:sp>
        <p:nvSpPr>
          <p:cNvPr id="35" name="Rectangle 34"/>
          <p:cNvSpPr/>
          <p:nvPr/>
        </p:nvSpPr>
        <p:spPr>
          <a:xfrm>
            <a:off x="4782312" y="3593591"/>
            <a:ext cx="746759" cy="685800"/>
          </a:xfrm>
          <a:prstGeom prst="rect">
            <a:avLst/>
          </a:prstGeom>
          <a:solidFill>
            <a:srgbClr val="F9D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275173" y="3703320"/>
            <a:ext cx="119481" cy="119481"/>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4797247" y="3881628"/>
            <a:ext cx="462991" cy="397763"/>
          </a:xfrm>
          <a:prstGeom prst="triangle">
            <a:avLst/>
          </a:prstGeom>
          <a:solidFill>
            <a:srgbClr val="7FB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sosceles Triangle 37"/>
          <p:cNvSpPr/>
          <p:nvPr/>
        </p:nvSpPr>
        <p:spPr>
          <a:xfrm>
            <a:off x="5066080" y="3799331"/>
            <a:ext cx="462991" cy="480059"/>
          </a:xfrm>
          <a:prstGeom prst="triangle">
            <a:avLst/>
          </a:prstGeom>
          <a:solidFill>
            <a:srgbClr val="4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47360" y="3593591"/>
            <a:ext cx="746759" cy="685800"/>
          </a:xfrm>
          <a:prstGeom prst="rect">
            <a:avLst/>
          </a:prstGeom>
          <a:solidFill>
            <a:srgbClr val="BFE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040221" y="3703320"/>
            <a:ext cx="119481" cy="11948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a:off x="5562295" y="3881628"/>
            <a:ext cx="462991" cy="397763"/>
          </a:xfrm>
          <a:prstGeom prst="triangle">
            <a:avLst/>
          </a:prstGeom>
          <a:solidFill>
            <a:srgbClr val="9CC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Isosceles Triangle 41"/>
          <p:cNvSpPr/>
          <p:nvPr/>
        </p:nvSpPr>
        <p:spPr>
          <a:xfrm>
            <a:off x="5831128" y="3799331"/>
            <a:ext cx="462991" cy="480059"/>
          </a:xfrm>
          <a:prstGeom prst="triangle">
            <a:avLst/>
          </a:prstGeom>
          <a:solidFill>
            <a:srgbClr val="5E9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312408" y="3593591"/>
            <a:ext cx="746759" cy="685800"/>
          </a:xfrm>
          <a:prstGeom prst="rect">
            <a:avLst/>
          </a:prstGeom>
          <a:solidFill>
            <a:srgbClr val="E8D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805269" y="3703320"/>
            <a:ext cx="119481" cy="119481"/>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Isosceles Triangle 44"/>
          <p:cNvSpPr/>
          <p:nvPr/>
        </p:nvSpPr>
        <p:spPr>
          <a:xfrm>
            <a:off x="6327343" y="3881628"/>
            <a:ext cx="462991" cy="397763"/>
          </a:xfrm>
          <a:prstGeom prst="triangle">
            <a:avLst/>
          </a:prstGeom>
          <a:solidFill>
            <a:srgbClr val="C7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Isosceles Triangle 45"/>
          <p:cNvSpPr/>
          <p:nvPr/>
        </p:nvSpPr>
        <p:spPr>
          <a:xfrm>
            <a:off x="6596176" y="3799331"/>
            <a:ext cx="462991" cy="480059"/>
          </a:xfrm>
          <a:prstGeom prst="triangle">
            <a:avLst/>
          </a:prstGeom>
          <a:solidFill>
            <a:srgbClr val="8E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782312" y="4297679"/>
            <a:ext cx="746759" cy="685800"/>
          </a:xfrm>
          <a:prstGeom prst="rect">
            <a:avLst/>
          </a:prstGeom>
          <a:solidFill>
            <a:srgbClr val="BFE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275173" y="4407407"/>
            <a:ext cx="119481" cy="11948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Isosceles Triangle 48"/>
          <p:cNvSpPr/>
          <p:nvPr/>
        </p:nvSpPr>
        <p:spPr>
          <a:xfrm>
            <a:off x="4797247" y="4585716"/>
            <a:ext cx="462991" cy="397763"/>
          </a:xfrm>
          <a:prstGeom prst="triangle">
            <a:avLst/>
          </a:prstGeom>
          <a:solidFill>
            <a:srgbClr val="9CC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Isosceles Triangle 49"/>
          <p:cNvSpPr/>
          <p:nvPr/>
        </p:nvSpPr>
        <p:spPr>
          <a:xfrm>
            <a:off x="5066080" y="4503419"/>
            <a:ext cx="462991" cy="480059"/>
          </a:xfrm>
          <a:prstGeom prst="triangle">
            <a:avLst/>
          </a:prstGeom>
          <a:solidFill>
            <a:srgbClr val="5E9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547360" y="4297679"/>
            <a:ext cx="746759" cy="685800"/>
          </a:xfrm>
          <a:prstGeom prst="rect">
            <a:avLst/>
          </a:prstGeom>
          <a:solidFill>
            <a:srgbClr val="E8D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040221" y="4407407"/>
            <a:ext cx="119481" cy="119481"/>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sosceles Triangle 52"/>
          <p:cNvSpPr/>
          <p:nvPr/>
        </p:nvSpPr>
        <p:spPr>
          <a:xfrm>
            <a:off x="5562295" y="4585716"/>
            <a:ext cx="462991" cy="397763"/>
          </a:xfrm>
          <a:prstGeom prst="triangle">
            <a:avLst/>
          </a:prstGeom>
          <a:solidFill>
            <a:srgbClr val="C7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Isosceles Triangle 53"/>
          <p:cNvSpPr/>
          <p:nvPr/>
        </p:nvSpPr>
        <p:spPr>
          <a:xfrm>
            <a:off x="5831128" y="4503419"/>
            <a:ext cx="462991" cy="480059"/>
          </a:xfrm>
          <a:prstGeom prst="triangle">
            <a:avLst/>
          </a:prstGeom>
          <a:solidFill>
            <a:srgbClr val="8E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12408" y="4297679"/>
            <a:ext cx="746759" cy="685800"/>
          </a:xfrm>
          <a:prstGeom prst="rect">
            <a:avLst/>
          </a:prstGeom>
          <a:solidFill>
            <a:srgbClr val="F9D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805269" y="4407407"/>
            <a:ext cx="119481" cy="119481"/>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Isosceles Triangle 56"/>
          <p:cNvSpPr/>
          <p:nvPr/>
        </p:nvSpPr>
        <p:spPr>
          <a:xfrm>
            <a:off x="6327343" y="4585716"/>
            <a:ext cx="462991" cy="397763"/>
          </a:xfrm>
          <a:prstGeom prst="triangle">
            <a:avLst/>
          </a:prstGeom>
          <a:solidFill>
            <a:srgbClr val="7FB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Isosceles Triangle 57"/>
          <p:cNvSpPr/>
          <p:nvPr/>
        </p:nvSpPr>
        <p:spPr>
          <a:xfrm>
            <a:off x="6596176" y="4503419"/>
            <a:ext cx="462991" cy="480059"/>
          </a:xfrm>
          <a:prstGeom prst="triangle">
            <a:avLst/>
          </a:prstGeom>
          <a:solidFill>
            <a:srgbClr val="4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782312" y="5001768"/>
            <a:ext cx="746759" cy="685800"/>
          </a:xfrm>
          <a:prstGeom prst="rect">
            <a:avLst/>
          </a:prstGeom>
          <a:solidFill>
            <a:srgbClr val="E8D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275173" y="5111496"/>
            <a:ext cx="119481" cy="119481"/>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Isosceles Triangle 60"/>
          <p:cNvSpPr/>
          <p:nvPr/>
        </p:nvSpPr>
        <p:spPr>
          <a:xfrm>
            <a:off x="4797247" y="5289804"/>
            <a:ext cx="462991" cy="397763"/>
          </a:xfrm>
          <a:prstGeom prst="triangle">
            <a:avLst/>
          </a:prstGeom>
          <a:solidFill>
            <a:srgbClr val="C7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Isosceles Triangle 61"/>
          <p:cNvSpPr/>
          <p:nvPr/>
        </p:nvSpPr>
        <p:spPr>
          <a:xfrm>
            <a:off x="5066080" y="5207507"/>
            <a:ext cx="462991" cy="480059"/>
          </a:xfrm>
          <a:prstGeom prst="triangle">
            <a:avLst/>
          </a:prstGeom>
          <a:solidFill>
            <a:srgbClr val="8E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547360" y="5001768"/>
            <a:ext cx="746759" cy="685800"/>
          </a:xfrm>
          <a:prstGeom prst="rect">
            <a:avLst/>
          </a:prstGeom>
          <a:solidFill>
            <a:srgbClr val="F9D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040221" y="5111496"/>
            <a:ext cx="119481" cy="119481"/>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Isosceles Triangle 64"/>
          <p:cNvSpPr/>
          <p:nvPr/>
        </p:nvSpPr>
        <p:spPr>
          <a:xfrm>
            <a:off x="5562295" y="5289804"/>
            <a:ext cx="462991" cy="397763"/>
          </a:xfrm>
          <a:prstGeom prst="triangle">
            <a:avLst/>
          </a:prstGeom>
          <a:solidFill>
            <a:srgbClr val="7FB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Isosceles Triangle 65"/>
          <p:cNvSpPr/>
          <p:nvPr/>
        </p:nvSpPr>
        <p:spPr>
          <a:xfrm>
            <a:off x="5831128" y="5207507"/>
            <a:ext cx="462991" cy="480059"/>
          </a:xfrm>
          <a:prstGeom prst="triangle">
            <a:avLst/>
          </a:prstGeom>
          <a:solidFill>
            <a:srgbClr val="4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12408" y="5001768"/>
            <a:ext cx="746759" cy="685800"/>
          </a:xfrm>
          <a:prstGeom prst="rect">
            <a:avLst/>
          </a:prstGeom>
          <a:solidFill>
            <a:srgbClr val="BFE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6805269" y="5111496"/>
            <a:ext cx="119481" cy="11948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Isosceles Triangle 68"/>
          <p:cNvSpPr/>
          <p:nvPr/>
        </p:nvSpPr>
        <p:spPr>
          <a:xfrm>
            <a:off x="6327343" y="5289804"/>
            <a:ext cx="462991" cy="397763"/>
          </a:xfrm>
          <a:prstGeom prst="triangle">
            <a:avLst/>
          </a:prstGeom>
          <a:solidFill>
            <a:srgbClr val="9CC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Isosceles Triangle 69"/>
          <p:cNvSpPr/>
          <p:nvPr/>
        </p:nvSpPr>
        <p:spPr>
          <a:xfrm>
            <a:off x="6596176" y="5207507"/>
            <a:ext cx="462991" cy="480059"/>
          </a:xfrm>
          <a:prstGeom prst="triangle">
            <a:avLst/>
          </a:prstGeom>
          <a:solidFill>
            <a:srgbClr val="5E9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800600" y="5797296"/>
            <a:ext cx="224027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4800600" y="5797296"/>
            <a:ext cx="2240279" cy="0"/>
          </a:xfrm>
          <a:prstGeom prst="line">
            <a:avLst/>
          </a:prstGeom>
          <a:ln w="9525">
            <a:solidFill>
              <a:srgbClr val="DBDBDB"/>
            </a:solidFill>
          </a:ln>
        </p:spPr>
        <p:style>
          <a:lnRef idx="2">
            <a:schemeClr val="accent1"/>
          </a:lnRef>
          <a:fillRef idx="0">
            <a:schemeClr val="accent1"/>
          </a:fillRef>
          <a:effectRef idx="1">
            <a:schemeClr val="accent1"/>
          </a:effectRef>
          <a:fontRef idx="minor">
            <a:schemeClr val="tx1"/>
          </a:fontRef>
        </p:style>
      </p:cxnSp>
      <p:sp>
        <p:nvSpPr>
          <p:cNvPr id="73" name="Isosceles Triangle 72"/>
          <p:cNvSpPr/>
          <p:nvPr/>
        </p:nvSpPr>
        <p:spPr>
          <a:xfrm>
            <a:off x="4937760" y="5902452"/>
            <a:ext cx="173736" cy="86868"/>
          </a:xfrm>
          <a:prstGeom prst="triangl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967295" y="5982370"/>
            <a:ext cx="114665" cy="8686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385816" y="5902452"/>
            <a:ext cx="130302" cy="130302"/>
          </a:xfrm>
          <a:prstGeom prst="ellipse">
            <a:avLst/>
          </a:prstGeom>
          <a:noFill/>
          <a:ln w="1905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5493532" y="6010168"/>
            <a:ext cx="66020" cy="66020"/>
          </a:xfrm>
          <a:prstGeom prst="line">
            <a:avLst/>
          </a:prstGeom>
          <a:ln w="22225">
            <a:solidFill>
              <a:srgbClr val="262626"/>
            </a:solidFill>
          </a:ln>
        </p:spPr>
        <p:style>
          <a:lnRef idx="2">
            <a:schemeClr val="accent1"/>
          </a:lnRef>
          <a:fillRef idx="0">
            <a:schemeClr val="accent1"/>
          </a:fillRef>
          <a:effectRef idx="1">
            <a:schemeClr val="accent1"/>
          </a:effectRef>
          <a:fontRef idx="minor">
            <a:schemeClr val="tx1"/>
          </a:fontRef>
        </p:style>
      </p:cxnSp>
      <p:sp>
        <p:nvSpPr>
          <p:cNvPr id="77" name="Rounded Rectangle 76"/>
          <p:cNvSpPr/>
          <p:nvPr/>
        </p:nvSpPr>
        <p:spPr>
          <a:xfrm>
            <a:off x="5833872" y="5902452"/>
            <a:ext cx="173736" cy="173736"/>
          </a:xfrm>
          <a:prstGeom prst="roundRect">
            <a:avLst>
              <a:gd name="adj" fmla="val 25000"/>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5920740" y="5945886"/>
            <a:ext cx="0" cy="86868"/>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877306" y="5989320"/>
            <a:ext cx="86868" cy="0"/>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sp>
        <p:nvSpPr>
          <p:cNvPr id="80" name="Rounded Rectangle 79"/>
          <p:cNvSpPr/>
          <p:nvPr/>
        </p:nvSpPr>
        <p:spPr>
          <a:xfrm>
            <a:off x="6281928" y="5902452"/>
            <a:ext cx="173736" cy="173736"/>
          </a:xfrm>
          <a:prstGeom prst="roundRect">
            <a:avLst>
              <a:gd name="adj" fmla="val 25000"/>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Isosceles Triangle 80"/>
          <p:cNvSpPr/>
          <p:nvPr/>
        </p:nvSpPr>
        <p:spPr>
          <a:xfrm rot="5400000">
            <a:off x="6339260" y="5954572"/>
            <a:ext cx="69494" cy="69494"/>
          </a:xfrm>
          <a:prstGeom prst="triangl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6729984" y="5902452"/>
            <a:ext cx="173736" cy="173736"/>
          </a:xfrm>
          <a:prstGeom prst="ellipse">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4828032" y="5806440"/>
            <a:ext cx="2185415" cy="356616"/>
          </a:xfrm>
          <a:prstGeom prst="roundRect">
            <a:avLst>
              <a:gd name="adj" fmla="val 30000"/>
            </a:avLst>
          </a:prstGeom>
          <a:solidFill>
            <a:srgbClr val="2EB872">
              <a:alpha val="15000"/>
            </a:srgbClr>
          </a:solidFill>
          <a:ln w="28575">
            <a:solidFill>
              <a:srgbClr val="2EB8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C13584"/>
                </a:solidFill>
                <a:latin typeface="Arial"/>
              </a:rPr>
              <a:t>EVERYDAY EXAMPLE  ·  INSTAGRAM</a:t>
            </a:r>
          </a:p>
        </p:txBody>
      </p:sp>
      <p:sp>
        <p:nvSpPr>
          <p:cNvPr id="85" name="TextBox 84"/>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Focus on what most people do</a:t>
            </a:r>
          </a:p>
        </p:txBody>
      </p:sp>
      <p:sp>
        <p:nvSpPr>
          <p:cNvPr id="86" name="TextBox 85"/>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Most time on Instagram goes to a few things: scrolling, searching, posting, Reels and your profile. Those five get the bottom tabs (green).</a:t>
            </a:r>
          </a:p>
          <a:p>
            <a:pPr algn="l">
              <a:spcAft>
                <a:spcPts val="900"/>
              </a:spcAft>
            </a:pPr>
            <a:r>
              <a:rPr sz="1400" b="0" i="0">
                <a:solidFill>
                  <a:srgbClr val="333333"/>
                </a:solidFill>
                <a:latin typeface="Arial"/>
              </a:rPr>
              <a:t>Dozens of settings matter to fewer people, so they sit behind the menu (orange).</a:t>
            </a:r>
          </a:p>
        </p:txBody>
      </p:sp>
      <p:sp>
        <p:nvSpPr>
          <p:cNvPr id="87" name="TextBox 86"/>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5859852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89CB3-D855-CC52-E32C-4AC806ADB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0476F-12C0-BE77-B1F2-DB6D0F33F97C}"/>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Parkinson’s Law</a:t>
            </a:r>
            <a:endParaRPr b="1" dirty="0">
              <a:solidFill>
                <a:srgbClr val="002060"/>
              </a:solidFill>
              <a:latin typeface="Bebas Neue" panose="020B0606020202050201" pitchFamily="34" charset="0"/>
            </a:endParaRPr>
          </a:p>
        </p:txBody>
      </p:sp>
      <p:pic>
        <p:nvPicPr>
          <p:cNvPr id="4" name="Picture 3" descr="A screenshot of a phone&#10;&#10;AI-generated content may be incorrect.">
            <a:extLst>
              <a:ext uri="{FF2B5EF4-FFF2-40B4-BE49-F238E27FC236}">
                <a16:creationId xmlns:a16="http://schemas.microsoft.com/office/drawing/2014/main" id="{28CDDB21-7937-4A77-7A78-6C3826DAB808}"/>
              </a:ext>
            </a:extLst>
          </p:cNvPr>
          <p:cNvPicPr preferRelativeResize="0">
            <a:picLocks/>
          </p:cNvPicPr>
          <p:nvPr/>
        </p:nvPicPr>
        <p:blipFill>
          <a:blip r:embed="rId3"/>
          <a:stretch>
            <a:fillRect/>
          </a:stretch>
        </p:blipFill>
        <p:spPr>
          <a:xfrm>
            <a:off x="609600" y="1779127"/>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ounded Rectangle 4"/>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82312" y="1444752"/>
            <a:ext cx="2276856" cy="4791456"/>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9" name="TextBox 8"/>
          <p:cNvSpPr txBox="1"/>
          <p:nvPr/>
        </p:nvSpPr>
        <p:spPr>
          <a:xfrm>
            <a:off x="4782312" y="2039112"/>
            <a:ext cx="2276856" cy="320040"/>
          </a:xfrm>
          <a:prstGeom prst="rect">
            <a:avLst/>
          </a:prstGeom>
          <a:noFill/>
        </p:spPr>
        <p:txBody>
          <a:bodyPr wrap="square" lIns="0" rIns="0" tIns="0" bIns="0" anchor="t">
            <a:spAutoFit/>
          </a:bodyPr>
          <a:lstStyle/>
          <a:p>
            <a:pPr algn="ctr"/>
            <a:r>
              <a:rPr sz="1700" b="1" i="0">
                <a:solidFill>
                  <a:srgbClr val="1877F2"/>
                </a:solidFill>
                <a:latin typeface="Arial"/>
              </a:rPr>
              <a:t>Facebook</a:t>
            </a:r>
          </a:p>
        </p:txBody>
      </p:sp>
      <p:sp>
        <p:nvSpPr>
          <p:cNvPr id="10" name="Oval 9"/>
          <p:cNvSpPr/>
          <p:nvPr/>
        </p:nvSpPr>
        <p:spPr>
          <a:xfrm>
            <a:off x="5463540" y="2679192"/>
            <a:ext cx="914400" cy="914400"/>
          </a:xfrm>
          <a:prstGeom prst="ellipse">
            <a:avLst/>
          </a:prstGeom>
          <a:solidFill>
            <a:srgbClr val="9CB4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800" b="1" i="0">
                <a:solidFill>
                  <a:srgbClr val="FFFFFF"/>
                </a:solidFill>
                <a:latin typeface="Arial"/>
              </a:rPr>
              <a:t>J</a:t>
            </a:r>
          </a:p>
        </p:txBody>
      </p:sp>
      <p:sp>
        <p:nvSpPr>
          <p:cNvPr id="11" name="TextBox 10"/>
          <p:cNvSpPr txBox="1"/>
          <p:nvPr/>
        </p:nvSpPr>
        <p:spPr>
          <a:xfrm>
            <a:off x="4782312" y="3730752"/>
            <a:ext cx="2276856" cy="228600"/>
          </a:xfrm>
          <a:prstGeom prst="rect">
            <a:avLst/>
          </a:prstGeom>
          <a:noFill/>
        </p:spPr>
        <p:txBody>
          <a:bodyPr wrap="square" lIns="0" rIns="0" tIns="0" bIns="0" anchor="t">
            <a:spAutoFit/>
          </a:bodyPr>
          <a:lstStyle/>
          <a:p>
            <a:pPr algn="ctr"/>
            <a:r>
              <a:rPr sz="1100" b="1" i="0">
                <a:solidFill>
                  <a:srgbClr val="222222"/>
                </a:solidFill>
                <a:latin typeface="Arial"/>
              </a:rPr>
              <a:t>Juan Dela Cruz</a:t>
            </a:r>
          </a:p>
        </p:txBody>
      </p:sp>
      <p:sp>
        <p:nvSpPr>
          <p:cNvPr id="12" name="Rounded Rectangle 11"/>
          <p:cNvSpPr/>
          <p:nvPr/>
        </p:nvSpPr>
        <p:spPr>
          <a:xfrm>
            <a:off x="4965192" y="4142232"/>
            <a:ext cx="1911095" cy="365760"/>
          </a:xfrm>
          <a:prstGeom prst="roundRect">
            <a:avLst>
              <a:gd name="adj" fmla="val 50000"/>
            </a:avLst>
          </a:prstGeom>
          <a:solidFill>
            <a:srgbClr val="187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i="0">
                <a:solidFill>
                  <a:srgbClr val="FFFFFF"/>
                </a:solidFill>
                <a:latin typeface="Arial"/>
              </a:rPr>
              <a:t>Continue as Juan</a:t>
            </a:r>
          </a:p>
        </p:txBody>
      </p:sp>
      <p:sp>
        <p:nvSpPr>
          <p:cNvPr id="13" name="TextBox 12"/>
          <p:cNvSpPr txBox="1"/>
          <p:nvPr/>
        </p:nvSpPr>
        <p:spPr>
          <a:xfrm>
            <a:off x="4782312" y="4663440"/>
            <a:ext cx="2276856" cy="182880"/>
          </a:xfrm>
          <a:prstGeom prst="rect">
            <a:avLst/>
          </a:prstGeom>
          <a:noFill/>
        </p:spPr>
        <p:txBody>
          <a:bodyPr wrap="square" lIns="0" rIns="0" tIns="0" bIns="0" anchor="t">
            <a:spAutoFit/>
          </a:bodyPr>
          <a:lstStyle/>
          <a:p>
            <a:pPr algn="ctr"/>
            <a:r>
              <a:rPr sz="850" b="1" i="0">
                <a:solidFill>
                  <a:srgbClr val="1877F2"/>
                </a:solidFill>
                <a:latin typeface="Arial"/>
              </a:rPr>
              <a:t>Log in to another account</a:t>
            </a:r>
          </a:p>
        </p:txBody>
      </p:sp>
      <p:sp>
        <p:nvSpPr>
          <p:cNvPr id="14" name="Rounded Rectangle 13"/>
          <p:cNvSpPr/>
          <p:nvPr/>
        </p:nvSpPr>
        <p:spPr>
          <a:xfrm>
            <a:off x="4965192" y="5596128"/>
            <a:ext cx="1911095" cy="365760"/>
          </a:xfrm>
          <a:prstGeom prst="roundRect">
            <a:avLst>
              <a:gd name="adj" fmla="val 50000"/>
            </a:avLst>
          </a:prstGeom>
          <a:noFill/>
          <a:ln w="15875">
            <a:solidFill>
              <a:srgbClr val="1877F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i="0">
                <a:solidFill>
                  <a:srgbClr val="1877F2"/>
                </a:solidFill>
                <a:latin typeface="Arial"/>
              </a:rPr>
              <a:t>Create new account</a:t>
            </a:r>
          </a:p>
        </p:txBody>
      </p:sp>
      <p:sp>
        <p:nvSpPr>
          <p:cNvPr id="15" name="TextBox 14"/>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1877F2"/>
                </a:solidFill>
                <a:latin typeface="Arial"/>
              </a:rPr>
              <a:t>EVERYDAY EXAMPLE  ·  FACEBOOK</a:t>
            </a:r>
          </a:p>
        </p:txBody>
      </p:sp>
      <p:sp>
        <p:nvSpPr>
          <p:cNvPr id="16" name="TextBox 15"/>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One tap instead of a form</a:t>
            </a:r>
          </a:p>
        </p:txBody>
      </p:sp>
      <p:sp>
        <p:nvSpPr>
          <p:cNvPr id="17" name="TextBox 16"/>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People expect logging in to take a while: an email, a password, maybe a code.</a:t>
            </a:r>
          </a:p>
          <a:p>
            <a:pPr algn="l">
              <a:spcAft>
                <a:spcPts val="900"/>
              </a:spcAft>
            </a:pPr>
            <a:r>
              <a:rPr sz="1400" b="0" i="0">
                <a:solidFill>
                  <a:srgbClr val="333333"/>
                </a:solidFill>
                <a:latin typeface="Arial"/>
              </a:rPr>
              <a:t>Remembering the account and autofilling details turns it into one tap, so the task never drags on.</a:t>
            </a:r>
          </a:p>
        </p:txBody>
      </p:sp>
      <p:sp>
        <p:nvSpPr>
          <p:cNvPr id="18" name="TextBox 17"/>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3058651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113DE-55B7-AEBC-5F3A-B55D71179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47B7B-6CA1-30F5-7833-CF8B3C202052}"/>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Peak-End Rule</a:t>
            </a:r>
            <a:endParaRPr b="1" dirty="0">
              <a:solidFill>
                <a:srgbClr val="002060"/>
              </a:solidFill>
              <a:latin typeface="Bebas Neue" panose="020B0606020202050201" pitchFamily="34" charset="0"/>
            </a:endParaRPr>
          </a:p>
        </p:txBody>
      </p:sp>
      <p:pic>
        <p:nvPicPr>
          <p:cNvPr id="5" name="Picture 4" descr="A blue background with white circles and black text&#10;&#10;AI-generated content may be incorrect.">
            <a:extLst>
              <a:ext uri="{FF2B5EF4-FFF2-40B4-BE49-F238E27FC236}">
                <a16:creationId xmlns:a16="http://schemas.microsoft.com/office/drawing/2014/main" id="{EFA6604F-F648-54A0-92CA-2771844AF65B}"/>
              </a:ext>
            </a:extLst>
          </p:cNvPr>
          <p:cNvPicPr preferRelativeResize="0">
            <a:picLocks/>
          </p:cNvPicPr>
          <p:nvPr/>
        </p:nvPicPr>
        <p:blipFill>
          <a:blip r:embed="rId3"/>
          <a:stretch>
            <a:fillRect/>
          </a:stretch>
        </p:blipFill>
        <p:spPr>
          <a:xfrm>
            <a:off x="570271" y="1417638"/>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ounded Rectangle 5"/>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82312" y="1444752"/>
            <a:ext cx="2276856" cy="4791456"/>
          </a:xfrm>
          <a:prstGeom prst="roundRect">
            <a:avLst>
              <a:gd name="adj" fmla="val 9000"/>
            </a:avLst>
          </a:prstGeom>
          <a:solidFill>
            <a:srgbClr val="F4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10" name="Rectangle 9"/>
          <p:cNvSpPr/>
          <p:nvPr/>
        </p:nvSpPr>
        <p:spPr>
          <a:xfrm>
            <a:off x="4782312" y="1673352"/>
            <a:ext cx="2276856" cy="2057400"/>
          </a:xfrm>
          <a:prstGeom prst="rect">
            <a:avLst/>
          </a:prstGeom>
          <a:solidFill>
            <a:srgbClr val="005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554980" y="1901952"/>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5712256" y="2278684"/>
            <a:ext cx="153620" cy="153620"/>
          </a:xfrm>
          <a:prstGeom prst="line">
            <a:avLst/>
          </a:prstGeom>
          <a:ln w="50800">
            <a:solidFill>
              <a:srgbClr val="2EB87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5865876" y="2114092"/>
            <a:ext cx="274320" cy="318212"/>
          </a:xfrm>
          <a:prstGeom prst="line">
            <a:avLst/>
          </a:prstGeom>
          <a:ln w="50800">
            <a:solidFill>
              <a:srgbClr val="2EB87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782312" y="2743200"/>
            <a:ext cx="2276856" cy="274320"/>
          </a:xfrm>
          <a:prstGeom prst="rect">
            <a:avLst/>
          </a:prstGeom>
          <a:noFill/>
        </p:spPr>
        <p:txBody>
          <a:bodyPr wrap="square" lIns="0" rIns="0" tIns="0" bIns="0" anchor="t">
            <a:spAutoFit/>
          </a:bodyPr>
          <a:lstStyle/>
          <a:p>
            <a:pPr algn="ctr"/>
            <a:r>
              <a:rPr sz="1600" b="1" i="0">
                <a:solidFill>
                  <a:srgbClr val="FFFFFF"/>
                </a:solidFill>
                <a:latin typeface="Arial"/>
              </a:rPr>
              <a:t>Sent!</a:t>
            </a:r>
          </a:p>
        </p:txBody>
      </p:sp>
      <p:sp>
        <p:nvSpPr>
          <p:cNvPr id="15" name="TextBox 14"/>
          <p:cNvSpPr txBox="1"/>
          <p:nvPr/>
        </p:nvSpPr>
        <p:spPr>
          <a:xfrm>
            <a:off x="4782312" y="3090672"/>
            <a:ext cx="2276856" cy="274320"/>
          </a:xfrm>
          <a:prstGeom prst="rect">
            <a:avLst/>
          </a:prstGeom>
          <a:noFill/>
        </p:spPr>
        <p:txBody>
          <a:bodyPr wrap="square" lIns="0" rIns="0" tIns="0" bIns="0" anchor="t">
            <a:spAutoFit/>
          </a:bodyPr>
          <a:lstStyle/>
          <a:p>
            <a:pPr algn="ctr"/>
            <a:r>
              <a:rPr sz="1400" b="1" i="0">
                <a:solidFill>
                  <a:srgbClr val="FFFFFF"/>
                </a:solidFill>
                <a:latin typeface="Arial"/>
              </a:rPr>
              <a:t>PHP 500.00</a:t>
            </a:r>
          </a:p>
        </p:txBody>
      </p:sp>
      <p:sp>
        <p:nvSpPr>
          <p:cNvPr id="16" name="Rounded Rectangle 15"/>
          <p:cNvSpPr/>
          <p:nvPr/>
        </p:nvSpPr>
        <p:spPr>
          <a:xfrm>
            <a:off x="4919472" y="3547872"/>
            <a:ext cx="2002536" cy="1600200"/>
          </a:xfrm>
          <a:prstGeom prst="roundRect">
            <a:avLst>
              <a:gd name="adj" fmla="val 8000"/>
            </a:avLst>
          </a:prstGeom>
          <a:solidFill>
            <a:srgbClr val="FFFFFF"/>
          </a:solidFill>
          <a:ln w="12700">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56632" y="3685032"/>
            <a:ext cx="822960" cy="164592"/>
          </a:xfrm>
          <a:prstGeom prst="rect">
            <a:avLst/>
          </a:prstGeom>
          <a:noFill/>
        </p:spPr>
        <p:txBody>
          <a:bodyPr wrap="square" lIns="0" rIns="0" tIns="0" bIns="0" anchor="t">
            <a:spAutoFit/>
          </a:bodyPr>
          <a:lstStyle/>
          <a:p>
            <a:pPr algn="l"/>
            <a:r>
              <a:rPr sz="750" b="0" i="0">
                <a:solidFill>
                  <a:srgbClr val="7F7F7F"/>
                </a:solidFill>
                <a:latin typeface="Arial"/>
              </a:rPr>
              <a:t>To</a:t>
            </a:r>
          </a:p>
        </p:txBody>
      </p:sp>
      <p:sp>
        <p:nvSpPr>
          <p:cNvPr id="18" name="TextBox 17"/>
          <p:cNvSpPr txBox="1"/>
          <p:nvPr/>
        </p:nvSpPr>
        <p:spPr>
          <a:xfrm>
            <a:off x="5696712" y="3685032"/>
            <a:ext cx="1088135" cy="164592"/>
          </a:xfrm>
          <a:prstGeom prst="rect">
            <a:avLst/>
          </a:prstGeom>
          <a:noFill/>
        </p:spPr>
        <p:txBody>
          <a:bodyPr wrap="square" lIns="0" rIns="0" tIns="0" bIns="0" anchor="t">
            <a:spAutoFit/>
          </a:bodyPr>
          <a:lstStyle/>
          <a:p>
            <a:pPr algn="r"/>
            <a:r>
              <a:rPr sz="850" b="1" i="0">
                <a:solidFill>
                  <a:srgbClr val="111111"/>
                </a:solidFill>
                <a:latin typeface="Arial"/>
              </a:rPr>
              <a:t>Juan D.</a:t>
            </a:r>
          </a:p>
        </p:txBody>
      </p:sp>
      <p:sp>
        <p:nvSpPr>
          <p:cNvPr id="19" name="TextBox 18"/>
          <p:cNvSpPr txBox="1"/>
          <p:nvPr/>
        </p:nvSpPr>
        <p:spPr>
          <a:xfrm>
            <a:off x="5056632" y="4032504"/>
            <a:ext cx="822960" cy="164592"/>
          </a:xfrm>
          <a:prstGeom prst="rect">
            <a:avLst/>
          </a:prstGeom>
          <a:noFill/>
        </p:spPr>
        <p:txBody>
          <a:bodyPr wrap="square" lIns="0" rIns="0" tIns="0" bIns="0" anchor="t">
            <a:spAutoFit/>
          </a:bodyPr>
          <a:lstStyle/>
          <a:p>
            <a:pPr algn="l"/>
            <a:r>
              <a:rPr sz="750" b="0" i="0">
                <a:solidFill>
                  <a:srgbClr val="7F7F7F"/>
                </a:solidFill>
                <a:latin typeface="Arial"/>
              </a:rPr>
              <a:t>Mobile no.</a:t>
            </a:r>
          </a:p>
        </p:txBody>
      </p:sp>
      <p:sp>
        <p:nvSpPr>
          <p:cNvPr id="20" name="TextBox 19"/>
          <p:cNvSpPr txBox="1"/>
          <p:nvPr/>
        </p:nvSpPr>
        <p:spPr>
          <a:xfrm>
            <a:off x="5696712" y="4032504"/>
            <a:ext cx="1088135" cy="164592"/>
          </a:xfrm>
          <a:prstGeom prst="rect">
            <a:avLst/>
          </a:prstGeom>
          <a:noFill/>
        </p:spPr>
        <p:txBody>
          <a:bodyPr wrap="square" lIns="0" rIns="0" tIns="0" bIns="0" anchor="t">
            <a:spAutoFit/>
          </a:bodyPr>
          <a:lstStyle/>
          <a:p>
            <a:pPr algn="r"/>
            <a:r>
              <a:rPr sz="850" b="1" i="0">
                <a:solidFill>
                  <a:srgbClr val="111111"/>
                </a:solidFill>
                <a:latin typeface="Arial"/>
              </a:rPr>
              <a:t>0917 123 4567</a:t>
            </a:r>
          </a:p>
        </p:txBody>
      </p:sp>
      <p:sp>
        <p:nvSpPr>
          <p:cNvPr id="21" name="TextBox 20"/>
          <p:cNvSpPr txBox="1"/>
          <p:nvPr/>
        </p:nvSpPr>
        <p:spPr>
          <a:xfrm>
            <a:off x="5056632" y="4379976"/>
            <a:ext cx="822960" cy="164592"/>
          </a:xfrm>
          <a:prstGeom prst="rect">
            <a:avLst/>
          </a:prstGeom>
          <a:noFill/>
        </p:spPr>
        <p:txBody>
          <a:bodyPr wrap="square" lIns="0" rIns="0" tIns="0" bIns="0" anchor="t">
            <a:spAutoFit/>
          </a:bodyPr>
          <a:lstStyle/>
          <a:p>
            <a:pPr algn="l"/>
            <a:r>
              <a:rPr sz="750" b="0" i="0">
                <a:solidFill>
                  <a:srgbClr val="7F7F7F"/>
                </a:solidFill>
                <a:latin typeface="Arial"/>
              </a:rPr>
              <a:t>Ref. No.</a:t>
            </a:r>
          </a:p>
        </p:txBody>
      </p:sp>
      <p:sp>
        <p:nvSpPr>
          <p:cNvPr id="22" name="TextBox 21"/>
          <p:cNvSpPr txBox="1"/>
          <p:nvPr/>
        </p:nvSpPr>
        <p:spPr>
          <a:xfrm>
            <a:off x="5696712" y="4379976"/>
            <a:ext cx="1088135" cy="164592"/>
          </a:xfrm>
          <a:prstGeom prst="rect">
            <a:avLst/>
          </a:prstGeom>
          <a:noFill/>
        </p:spPr>
        <p:txBody>
          <a:bodyPr wrap="square" lIns="0" rIns="0" tIns="0" bIns="0" anchor="t">
            <a:spAutoFit/>
          </a:bodyPr>
          <a:lstStyle/>
          <a:p>
            <a:pPr algn="r"/>
            <a:r>
              <a:rPr sz="850" b="1" i="0">
                <a:solidFill>
                  <a:srgbClr val="111111"/>
                </a:solidFill>
                <a:latin typeface="Arial"/>
              </a:rPr>
              <a:t>1012 345 678912</a:t>
            </a:r>
          </a:p>
        </p:txBody>
      </p:sp>
      <p:sp>
        <p:nvSpPr>
          <p:cNvPr id="23" name="TextBox 22"/>
          <p:cNvSpPr txBox="1"/>
          <p:nvPr/>
        </p:nvSpPr>
        <p:spPr>
          <a:xfrm>
            <a:off x="5056632" y="4727448"/>
            <a:ext cx="822960" cy="164592"/>
          </a:xfrm>
          <a:prstGeom prst="rect">
            <a:avLst/>
          </a:prstGeom>
          <a:noFill/>
        </p:spPr>
        <p:txBody>
          <a:bodyPr wrap="square" lIns="0" rIns="0" tIns="0" bIns="0" anchor="t">
            <a:spAutoFit/>
          </a:bodyPr>
          <a:lstStyle/>
          <a:p>
            <a:pPr algn="l"/>
            <a:r>
              <a:rPr sz="750" b="0" i="0">
                <a:solidFill>
                  <a:srgbClr val="7F7F7F"/>
                </a:solidFill>
                <a:latin typeface="Arial"/>
              </a:rPr>
              <a:t>Date</a:t>
            </a:r>
          </a:p>
        </p:txBody>
      </p:sp>
      <p:sp>
        <p:nvSpPr>
          <p:cNvPr id="24" name="TextBox 23"/>
          <p:cNvSpPr txBox="1"/>
          <p:nvPr/>
        </p:nvSpPr>
        <p:spPr>
          <a:xfrm>
            <a:off x="5696712" y="4727448"/>
            <a:ext cx="1088135" cy="164592"/>
          </a:xfrm>
          <a:prstGeom prst="rect">
            <a:avLst/>
          </a:prstGeom>
          <a:noFill/>
        </p:spPr>
        <p:txBody>
          <a:bodyPr wrap="square" lIns="0" rIns="0" tIns="0" bIns="0" anchor="t">
            <a:spAutoFit/>
          </a:bodyPr>
          <a:lstStyle/>
          <a:p>
            <a:pPr algn="r"/>
            <a:r>
              <a:rPr sz="850" b="1" i="0">
                <a:solidFill>
                  <a:srgbClr val="111111"/>
                </a:solidFill>
                <a:latin typeface="Arial"/>
              </a:rPr>
              <a:t>Oct 18, 2026</a:t>
            </a:r>
          </a:p>
        </p:txBody>
      </p:sp>
      <p:sp>
        <p:nvSpPr>
          <p:cNvPr id="25" name="Rounded Rectangle 24"/>
          <p:cNvSpPr/>
          <p:nvPr/>
        </p:nvSpPr>
        <p:spPr>
          <a:xfrm>
            <a:off x="4965192" y="5596128"/>
            <a:ext cx="1911095" cy="365760"/>
          </a:xfrm>
          <a:prstGeom prst="roundRect">
            <a:avLst>
              <a:gd name="adj" fmla="val 50000"/>
            </a:avLst>
          </a:prstGeom>
          <a:solidFill>
            <a:srgbClr val="005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i="0">
                <a:solidFill>
                  <a:srgbClr val="FFFFFF"/>
                </a:solidFill>
                <a:latin typeface="Arial"/>
              </a:rPr>
              <a:t>Done</a:t>
            </a:r>
          </a:p>
        </p:txBody>
      </p:sp>
      <p:sp>
        <p:nvSpPr>
          <p:cNvPr id="26" name="TextBox 25"/>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005CE6"/>
                </a:solidFill>
                <a:latin typeface="Arial"/>
              </a:rPr>
              <a:t>EVERYDAY EXAMPLE  ·  GCASH</a:t>
            </a:r>
          </a:p>
        </p:txBody>
      </p:sp>
      <p:sp>
        <p:nvSpPr>
          <p:cNvPr id="27" name="TextBox 26"/>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End on a high note</a:t>
            </a:r>
          </a:p>
        </p:txBody>
      </p:sp>
      <p:sp>
        <p:nvSpPr>
          <p:cNvPr id="28" name="TextBox 27"/>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People remember a payment by its most intense moment and by how it ended.</a:t>
            </a:r>
          </a:p>
          <a:p>
            <a:pPr algn="l">
              <a:spcAft>
                <a:spcPts val="900"/>
              </a:spcAft>
            </a:pPr>
            <a:r>
              <a:rPr sz="1400" b="0" i="0">
                <a:solidFill>
                  <a:srgbClr val="333333"/>
                </a:solidFill>
                <a:latin typeface="Arial"/>
              </a:rPr>
              <a:t>A clear, friendly success screen with the amount, recipient and reference number makes the whole transaction feel smooth.</a:t>
            </a:r>
          </a:p>
        </p:txBody>
      </p:sp>
      <p:sp>
        <p:nvSpPr>
          <p:cNvPr id="29" name="TextBox 28"/>
          <p:cNvSpPr txBox="1"/>
          <p:nvPr/>
        </p:nvSpPr>
        <p:spPr>
          <a:xfrm>
            <a:off x="7452360" y="4526280"/>
            <a:ext cx="4206240" cy="201168"/>
          </a:xfrm>
          <a:prstGeom prst="rect">
            <a:avLst/>
          </a:prstGeom>
          <a:noFill/>
        </p:spPr>
        <p:txBody>
          <a:bodyPr wrap="square" lIns="0" rIns="0" tIns="0" bIns="0" anchor="t">
            <a:spAutoFit/>
          </a:bodyPr>
          <a:lstStyle/>
          <a:p>
            <a:pPr algn="l"/>
            <a:r>
              <a:rPr sz="1100" b="1" i="0">
                <a:solidFill>
                  <a:srgbClr val="002060"/>
                </a:solidFill>
                <a:latin typeface="Arial"/>
              </a:rPr>
              <a:t>How the payment felt</a:t>
            </a:r>
          </a:p>
        </p:txBody>
      </p:sp>
      <p:cxnSp>
        <p:nvCxnSpPr>
          <p:cNvPr id="30" name="Connector 29"/>
          <p:cNvCxnSpPr/>
          <p:nvPr/>
        </p:nvCxnSpPr>
        <p:spPr>
          <a:xfrm>
            <a:off x="7589520" y="5989320"/>
            <a:ext cx="393192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178040" y="4754880"/>
            <a:ext cx="411480" cy="182880"/>
          </a:xfrm>
          <a:prstGeom prst="rect">
            <a:avLst/>
          </a:prstGeom>
          <a:noFill/>
        </p:spPr>
        <p:txBody>
          <a:bodyPr wrap="square" lIns="0" rIns="0" tIns="0" bIns="0" anchor="t">
            <a:spAutoFit/>
          </a:bodyPr>
          <a:lstStyle/>
          <a:p>
            <a:pPr algn="l"/>
            <a:r>
              <a:rPr sz="800" b="0" i="0">
                <a:solidFill>
                  <a:srgbClr val="222222"/>
                </a:solidFill>
                <a:latin typeface="Arial"/>
              </a:rPr>
              <a:t/>
            </a:r>
          </a:p>
        </p:txBody>
      </p:sp>
      <p:sp>
        <p:nvSpPr>
          <p:cNvPr id="32" name="TextBox 31"/>
          <p:cNvSpPr txBox="1"/>
          <p:nvPr/>
        </p:nvSpPr>
        <p:spPr>
          <a:xfrm>
            <a:off x="7360920" y="6035040"/>
            <a:ext cx="822960" cy="182880"/>
          </a:xfrm>
          <a:prstGeom prst="rect">
            <a:avLst/>
          </a:prstGeom>
          <a:noFill/>
        </p:spPr>
        <p:txBody>
          <a:bodyPr wrap="square" lIns="0" rIns="0" tIns="0" bIns="0" anchor="t">
            <a:spAutoFit/>
          </a:bodyPr>
          <a:lstStyle/>
          <a:p>
            <a:pPr algn="ctr"/>
            <a:r>
              <a:rPr sz="900" b="0" i="0">
                <a:solidFill>
                  <a:srgbClr val="7F7F7F"/>
                </a:solidFill>
                <a:latin typeface="Arial"/>
              </a:rPr>
              <a:t>Open</a:t>
            </a:r>
          </a:p>
        </p:txBody>
      </p:sp>
      <p:sp>
        <p:nvSpPr>
          <p:cNvPr id="33" name="TextBox 32"/>
          <p:cNvSpPr txBox="1"/>
          <p:nvPr/>
        </p:nvSpPr>
        <p:spPr>
          <a:xfrm>
            <a:off x="8252460" y="6035040"/>
            <a:ext cx="822960" cy="182880"/>
          </a:xfrm>
          <a:prstGeom prst="rect">
            <a:avLst/>
          </a:prstGeom>
          <a:noFill/>
        </p:spPr>
        <p:txBody>
          <a:bodyPr wrap="square" lIns="0" rIns="0" tIns="0" bIns="0" anchor="t">
            <a:spAutoFit/>
          </a:bodyPr>
          <a:lstStyle/>
          <a:p>
            <a:pPr algn="ctr"/>
            <a:r>
              <a:rPr sz="900" b="0" i="0">
                <a:solidFill>
                  <a:srgbClr val="7F7F7F"/>
                </a:solidFill>
                <a:latin typeface="Arial"/>
              </a:rPr>
              <a:t>Number</a:t>
            </a:r>
          </a:p>
        </p:txBody>
      </p:sp>
      <p:sp>
        <p:nvSpPr>
          <p:cNvPr id="34" name="TextBox 33"/>
          <p:cNvSpPr txBox="1"/>
          <p:nvPr/>
        </p:nvSpPr>
        <p:spPr>
          <a:xfrm>
            <a:off x="9144000" y="6035040"/>
            <a:ext cx="822960" cy="182880"/>
          </a:xfrm>
          <a:prstGeom prst="rect">
            <a:avLst/>
          </a:prstGeom>
          <a:noFill/>
        </p:spPr>
        <p:txBody>
          <a:bodyPr wrap="square" lIns="0" rIns="0" tIns="0" bIns="0" anchor="t">
            <a:spAutoFit/>
          </a:bodyPr>
          <a:lstStyle/>
          <a:p>
            <a:pPr algn="ctr"/>
            <a:r>
              <a:rPr sz="900" b="0" i="0">
                <a:solidFill>
                  <a:srgbClr val="7F7F7F"/>
                </a:solidFill>
                <a:latin typeface="Arial"/>
              </a:rPr>
              <a:t>Amount</a:t>
            </a:r>
          </a:p>
        </p:txBody>
      </p:sp>
      <p:sp>
        <p:nvSpPr>
          <p:cNvPr id="35" name="TextBox 34"/>
          <p:cNvSpPr txBox="1"/>
          <p:nvPr/>
        </p:nvSpPr>
        <p:spPr>
          <a:xfrm>
            <a:off x="10035540" y="6035040"/>
            <a:ext cx="822960" cy="182880"/>
          </a:xfrm>
          <a:prstGeom prst="rect">
            <a:avLst/>
          </a:prstGeom>
          <a:noFill/>
        </p:spPr>
        <p:txBody>
          <a:bodyPr wrap="square" lIns="0" rIns="0" tIns="0" bIns="0" anchor="t">
            <a:spAutoFit/>
          </a:bodyPr>
          <a:lstStyle/>
          <a:p>
            <a:pPr algn="ctr"/>
            <a:r>
              <a:rPr sz="900" b="0" i="0">
                <a:solidFill>
                  <a:srgbClr val="7F7F7F"/>
                </a:solidFill>
                <a:latin typeface="Arial"/>
              </a:rPr>
              <a:t>OTP wait</a:t>
            </a:r>
          </a:p>
        </p:txBody>
      </p:sp>
      <p:sp>
        <p:nvSpPr>
          <p:cNvPr id="36" name="TextBox 35"/>
          <p:cNvSpPr txBox="1"/>
          <p:nvPr/>
        </p:nvSpPr>
        <p:spPr>
          <a:xfrm>
            <a:off x="10927080" y="6035040"/>
            <a:ext cx="822960" cy="182880"/>
          </a:xfrm>
          <a:prstGeom prst="rect">
            <a:avLst/>
          </a:prstGeom>
          <a:noFill/>
        </p:spPr>
        <p:txBody>
          <a:bodyPr wrap="square" lIns="0" rIns="0" tIns="0" bIns="0" anchor="t">
            <a:spAutoFit/>
          </a:bodyPr>
          <a:lstStyle/>
          <a:p>
            <a:pPr algn="ctr"/>
            <a:r>
              <a:rPr sz="900" b="0" i="0">
                <a:solidFill>
                  <a:srgbClr val="7F7F7F"/>
                </a:solidFill>
                <a:latin typeface="Arial"/>
              </a:rPr>
              <a:t>Sent!</a:t>
            </a:r>
          </a:p>
        </p:txBody>
      </p:sp>
      <p:sp>
        <p:nvSpPr>
          <p:cNvPr id="3" name="Freeform 2"/>
          <p:cNvSpPr/>
          <p:nvPr/>
        </p:nvSpPr>
        <p:spPr>
          <a:xfrm>
            <a:off x="7772400" y="4930444"/>
            <a:ext cx="3566159" cy="841248"/>
          </a:xfrm>
          <a:custGeom>
            <a:avLst/>
            <a:gdLst/>
            <a:ahLst/>
            <a:cxnLst/>
            <a:rect l="l" t="t" r="r" b="b"/>
            <a:pathLst>
              <a:path w="3566159" h="841248">
                <a:moveTo>
                  <a:pt x="0" y="389078"/>
                </a:moveTo>
                <a:lnTo>
                  <a:pt x="891540" y="546812"/>
                </a:lnTo>
                <a:lnTo>
                  <a:pt x="1783080" y="441656"/>
                </a:lnTo>
                <a:lnTo>
                  <a:pt x="2674619" y="841248"/>
                </a:lnTo>
                <a:lnTo>
                  <a:pt x="3566159" y="0"/>
                </a:lnTo>
              </a:path>
            </a:pathLst>
          </a:custGeom>
          <a:noFill/>
          <a:ln w="254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73867" y="5698540"/>
            <a:ext cx="146304" cy="146304"/>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265407" y="4857292"/>
            <a:ext cx="146304" cy="146304"/>
          </a:xfrm>
          <a:prstGeom prst="ellipse">
            <a:avLst/>
          </a:prstGeom>
          <a:solidFill>
            <a:srgbClr val="2EB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75419" y="5698540"/>
            <a:ext cx="1234440" cy="182880"/>
          </a:xfrm>
          <a:prstGeom prst="rect">
            <a:avLst/>
          </a:prstGeom>
          <a:noFill/>
        </p:spPr>
        <p:txBody>
          <a:bodyPr wrap="square" lIns="0" rIns="0" tIns="0" bIns="0" anchor="t">
            <a:spAutoFit/>
          </a:bodyPr>
          <a:lstStyle/>
          <a:p>
            <a:pPr algn="r"/>
            <a:r>
              <a:rPr sz="900" b="1" i="0">
                <a:solidFill>
                  <a:srgbClr val="C0392B"/>
                </a:solidFill>
                <a:latin typeface="Arial"/>
              </a:rPr>
              <a:t>Peak (worst)</a:t>
            </a:r>
          </a:p>
        </p:txBody>
      </p:sp>
      <p:sp>
        <p:nvSpPr>
          <p:cNvPr id="40" name="TextBox 39"/>
          <p:cNvSpPr txBox="1"/>
          <p:nvPr/>
        </p:nvSpPr>
        <p:spPr>
          <a:xfrm>
            <a:off x="10286999" y="4857292"/>
            <a:ext cx="914400" cy="182880"/>
          </a:xfrm>
          <a:prstGeom prst="rect">
            <a:avLst/>
          </a:prstGeom>
          <a:noFill/>
        </p:spPr>
        <p:txBody>
          <a:bodyPr wrap="square" lIns="0" rIns="0" tIns="0" bIns="0" anchor="t">
            <a:spAutoFit/>
          </a:bodyPr>
          <a:lstStyle/>
          <a:p>
            <a:pPr algn="r"/>
            <a:r>
              <a:rPr sz="900" b="1" i="0">
                <a:solidFill>
                  <a:srgbClr val="1E8E4F"/>
                </a:solidFill>
                <a:latin typeface="Arial"/>
              </a:rPr>
              <a:t>End</a:t>
            </a:r>
          </a:p>
        </p:txBody>
      </p:sp>
      <p:sp>
        <p:nvSpPr>
          <p:cNvPr id="41" name="TextBox 40"/>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6011402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3BB87-6757-796F-C509-8EA61FF36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4FCA34-1A39-6BE8-1D35-90032F1F2669}"/>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Postel’s Law</a:t>
            </a:r>
            <a:endParaRPr b="1" dirty="0">
              <a:solidFill>
                <a:srgbClr val="002060"/>
              </a:solidFill>
              <a:latin typeface="Bebas Neue" panose="020B0606020202050201" pitchFamily="34" charset="0"/>
            </a:endParaRPr>
          </a:p>
        </p:txBody>
      </p:sp>
      <p:pic>
        <p:nvPicPr>
          <p:cNvPr id="4" name="Picture 3" descr="A green and white triangle pattern&#10;&#10;AI-generated content may be incorrect.">
            <a:extLst>
              <a:ext uri="{FF2B5EF4-FFF2-40B4-BE49-F238E27FC236}">
                <a16:creationId xmlns:a16="http://schemas.microsoft.com/office/drawing/2014/main" id="{3F0E1629-6AF4-9692-988A-F900FA97A878}"/>
              </a:ext>
            </a:extLst>
          </p:cNvPr>
          <p:cNvPicPr preferRelativeResize="0">
            <a:picLocks/>
          </p:cNvPicPr>
          <p:nvPr/>
        </p:nvPicPr>
        <p:blipFill>
          <a:blip r:embed="rId3"/>
          <a:stretch>
            <a:fillRect/>
          </a:stretch>
        </p:blipFill>
        <p:spPr>
          <a:xfrm>
            <a:off x="609600" y="1417637"/>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4754880" y="1463040"/>
            <a:ext cx="2468880" cy="228600"/>
          </a:xfrm>
          <a:prstGeom prst="rect">
            <a:avLst/>
          </a:prstGeom>
          <a:noFill/>
        </p:spPr>
        <p:txBody>
          <a:bodyPr wrap="square" lIns="0" rIns="0" tIns="0" bIns="0" anchor="t">
            <a:spAutoFit/>
          </a:bodyPr>
          <a:lstStyle/>
          <a:p>
            <a:pPr algn="l"/>
            <a:r>
              <a:rPr sz="1100" b="1" i="0">
                <a:solidFill>
                  <a:srgbClr val="7F7F7F"/>
                </a:solidFill>
                <a:latin typeface="Arial"/>
              </a:rPr>
              <a:t>What people type</a:t>
            </a:r>
          </a:p>
        </p:txBody>
      </p:sp>
      <p:sp>
        <p:nvSpPr>
          <p:cNvPr id="6" name="Rounded Rectangle 5"/>
          <p:cNvSpPr/>
          <p:nvPr/>
        </p:nvSpPr>
        <p:spPr>
          <a:xfrm>
            <a:off x="4754880" y="1810512"/>
            <a:ext cx="2468880" cy="438912"/>
          </a:xfrm>
          <a:prstGeom prst="roundRect">
            <a:avLst>
              <a:gd name="adj" fmla="val 25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0" tIns="0" bIns="0"/>
          <a:lstStyle/>
          <a:p>
            <a:pPr algn="l"/>
            <a:r>
              <a:rPr sz="1300" b="1" i="0">
                <a:solidFill>
                  <a:srgbClr val="111111"/>
                </a:solidFill>
                <a:latin typeface="Arial"/>
              </a:rPr>
              <a:t>0917 123 4567</a:t>
            </a:r>
          </a:p>
        </p:txBody>
      </p:sp>
      <p:cxnSp>
        <p:nvCxnSpPr>
          <p:cNvPr id="7" name="Connector 6"/>
          <p:cNvCxnSpPr/>
          <p:nvPr/>
        </p:nvCxnSpPr>
        <p:spPr>
          <a:xfrm>
            <a:off x="7269480" y="2029967"/>
            <a:ext cx="731520" cy="576073"/>
          </a:xfrm>
          <a:prstGeom prst="line">
            <a:avLst/>
          </a:prstGeom>
          <a:ln w="22225">
            <a:solidFill>
              <a:srgbClr val="005C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754880" y="2377440"/>
            <a:ext cx="2468880" cy="438912"/>
          </a:xfrm>
          <a:prstGeom prst="roundRect">
            <a:avLst>
              <a:gd name="adj" fmla="val 25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0" tIns="0" bIns="0"/>
          <a:lstStyle/>
          <a:p>
            <a:pPr algn="l"/>
            <a:r>
              <a:rPr sz="1300" b="1" i="0">
                <a:solidFill>
                  <a:srgbClr val="111111"/>
                </a:solidFill>
                <a:latin typeface="Arial"/>
              </a:rPr>
              <a:t>+63 917 123 4567</a:t>
            </a:r>
          </a:p>
        </p:txBody>
      </p:sp>
      <p:cxnSp>
        <p:nvCxnSpPr>
          <p:cNvPr id="9" name="Connector 8"/>
          <p:cNvCxnSpPr/>
          <p:nvPr/>
        </p:nvCxnSpPr>
        <p:spPr>
          <a:xfrm>
            <a:off x="7269480" y="2596896"/>
            <a:ext cx="731520" cy="9144"/>
          </a:xfrm>
          <a:prstGeom prst="line">
            <a:avLst/>
          </a:prstGeom>
          <a:ln w="22225">
            <a:solidFill>
              <a:srgbClr val="005C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754880" y="2944368"/>
            <a:ext cx="2468880" cy="438912"/>
          </a:xfrm>
          <a:prstGeom prst="roundRect">
            <a:avLst>
              <a:gd name="adj" fmla="val 25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0" tIns="0" bIns="0"/>
          <a:lstStyle/>
          <a:p>
            <a:pPr algn="l"/>
            <a:r>
              <a:rPr sz="1300" b="1" i="0">
                <a:solidFill>
                  <a:srgbClr val="111111"/>
                </a:solidFill>
                <a:latin typeface="Arial"/>
              </a:rPr>
              <a:t>917-123-4567</a:t>
            </a:r>
          </a:p>
        </p:txBody>
      </p:sp>
      <p:cxnSp>
        <p:nvCxnSpPr>
          <p:cNvPr id="11" name="Connector 10"/>
          <p:cNvCxnSpPr/>
          <p:nvPr/>
        </p:nvCxnSpPr>
        <p:spPr>
          <a:xfrm flipV="1">
            <a:off x="7269480" y="2606040"/>
            <a:ext cx="731520" cy="557784"/>
          </a:xfrm>
          <a:prstGeom prst="line">
            <a:avLst/>
          </a:prstGeom>
          <a:ln w="22225">
            <a:solidFill>
              <a:srgbClr val="005C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92440" y="1463040"/>
            <a:ext cx="3566160" cy="228600"/>
          </a:xfrm>
          <a:prstGeom prst="rect">
            <a:avLst/>
          </a:prstGeom>
          <a:noFill/>
        </p:spPr>
        <p:txBody>
          <a:bodyPr wrap="square" lIns="0" rIns="0" tIns="0" bIns="0" anchor="t">
            <a:spAutoFit/>
          </a:bodyPr>
          <a:lstStyle/>
          <a:p>
            <a:pPr algn="l"/>
            <a:r>
              <a:rPr sz="1100" b="1" i="0">
                <a:solidFill>
                  <a:srgbClr val="7F7F7F"/>
                </a:solidFill>
                <a:latin typeface="Arial"/>
              </a:rPr>
              <a:t>What the app uses</a:t>
            </a:r>
          </a:p>
        </p:txBody>
      </p:sp>
      <p:sp>
        <p:nvSpPr>
          <p:cNvPr id="13" name="Rounded Rectangle 12"/>
          <p:cNvSpPr/>
          <p:nvPr/>
        </p:nvSpPr>
        <p:spPr>
          <a:xfrm>
            <a:off x="8092440" y="1810512"/>
            <a:ext cx="3566160" cy="1572768"/>
          </a:xfrm>
          <a:prstGeom prst="roundRect">
            <a:avLst>
              <a:gd name="adj" fmla="val 8000"/>
            </a:avLst>
          </a:prstGeom>
          <a:solidFill>
            <a:srgbClr val="FFFFFF"/>
          </a:solidFill>
          <a:ln w="1587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2440" y="1810512"/>
            <a:ext cx="3566160" cy="384048"/>
          </a:xfrm>
          <a:prstGeom prst="roundRect">
            <a:avLst>
              <a:gd name="adj" fmla="val 25000"/>
            </a:avLst>
          </a:prstGeom>
          <a:solidFill>
            <a:srgbClr val="005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0" tIns="0" bIns="0"/>
          <a:lstStyle/>
          <a:p>
            <a:pPr algn="l"/>
            <a:r>
              <a:rPr sz="1100" b="1" i="0">
                <a:solidFill>
                  <a:srgbClr val="FFFFFF"/>
                </a:solidFill>
                <a:latin typeface="Arial"/>
              </a:rPr>
              <a:t>Send Money</a:t>
            </a:r>
          </a:p>
        </p:txBody>
      </p:sp>
      <p:sp>
        <p:nvSpPr>
          <p:cNvPr id="15" name="Oval 14"/>
          <p:cNvSpPr/>
          <p:nvPr/>
        </p:nvSpPr>
        <p:spPr>
          <a:xfrm>
            <a:off x="8275320" y="2359152"/>
            <a:ext cx="411480" cy="411480"/>
          </a:xfrm>
          <a:prstGeom prst="ellipse">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23960" y="2331720"/>
            <a:ext cx="2651760" cy="228600"/>
          </a:xfrm>
          <a:prstGeom prst="rect">
            <a:avLst/>
          </a:prstGeom>
          <a:noFill/>
        </p:spPr>
        <p:txBody>
          <a:bodyPr wrap="square" lIns="0" rIns="0" tIns="0" bIns="0" anchor="t">
            <a:spAutoFit/>
          </a:bodyPr>
          <a:lstStyle/>
          <a:p>
            <a:pPr algn="l"/>
            <a:r>
              <a:rPr sz="1300" b="1" i="0">
                <a:solidFill>
                  <a:srgbClr val="111111"/>
                </a:solidFill>
                <a:latin typeface="Arial"/>
              </a:rPr>
              <a:t>Juan D.</a:t>
            </a:r>
          </a:p>
        </p:txBody>
      </p:sp>
      <p:sp>
        <p:nvSpPr>
          <p:cNvPr id="17" name="TextBox 16"/>
          <p:cNvSpPr txBox="1"/>
          <p:nvPr/>
        </p:nvSpPr>
        <p:spPr>
          <a:xfrm>
            <a:off x="8823960" y="2578608"/>
            <a:ext cx="2651760" cy="228600"/>
          </a:xfrm>
          <a:prstGeom prst="rect">
            <a:avLst/>
          </a:prstGeom>
          <a:noFill/>
        </p:spPr>
        <p:txBody>
          <a:bodyPr wrap="square" lIns="0" rIns="0" tIns="0" bIns="0" anchor="t">
            <a:spAutoFit/>
          </a:bodyPr>
          <a:lstStyle/>
          <a:p>
            <a:pPr algn="l"/>
            <a:r>
              <a:rPr sz="1200" b="0" i="0">
                <a:solidFill>
                  <a:srgbClr val="111111"/>
                </a:solidFill>
                <a:latin typeface="Arial"/>
              </a:rPr>
              <a:t>+63 917 123 4567</a:t>
            </a:r>
          </a:p>
        </p:txBody>
      </p:sp>
      <p:sp>
        <p:nvSpPr>
          <p:cNvPr id="18" name="Oval 17"/>
          <p:cNvSpPr/>
          <p:nvPr/>
        </p:nvSpPr>
        <p:spPr>
          <a:xfrm>
            <a:off x="8302752" y="2926080"/>
            <a:ext cx="274320" cy="274320"/>
          </a:xfrm>
          <a:prstGeom prst="ellipse">
            <a:avLst/>
          </a:prstGeom>
          <a:solidFill>
            <a:srgbClr val="2EB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8356518" y="3058485"/>
            <a:ext cx="61448" cy="61447"/>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417966" y="2992648"/>
            <a:ext cx="109728" cy="127284"/>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686800" y="2944368"/>
            <a:ext cx="2286000" cy="228600"/>
          </a:xfrm>
          <a:prstGeom prst="rect">
            <a:avLst/>
          </a:prstGeom>
          <a:noFill/>
        </p:spPr>
        <p:txBody>
          <a:bodyPr wrap="square" lIns="0" rIns="0" tIns="0" bIns="0" anchor="t">
            <a:spAutoFit/>
          </a:bodyPr>
          <a:lstStyle/>
          <a:p>
            <a:pPr algn="l"/>
            <a:r>
              <a:rPr sz="1100" b="1" i="0">
                <a:solidFill>
                  <a:srgbClr val="1E8E4F"/>
                </a:solidFill>
                <a:latin typeface="Arial"/>
              </a:rPr>
              <a:t>Valid number</a:t>
            </a:r>
          </a:p>
        </p:txBody>
      </p:sp>
      <p:sp>
        <p:nvSpPr>
          <p:cNvPr id="22" name="TextBox 21"/>
          <p:cNvSpPr txBox="1"/>
          <p:nvPr/>
        </p:nvSpPr>
        <p:spPr>
          <a:xfrm>
            <a:off x="4754880" y="3794760"/>
            <a:ext cx="6903720" cy="228600"/>
          </a:xfrm>
          <a:prstGeom prst="rect">
            <a:avLst/>
          </a:prstGeom>
          <a:noFill/>
        </p:spPr>
        <p:txBody>
          <a:bodyPr wrap="square" lIns="0" rIns="0" tIns="0" bIns="0" anchor="t">
            <a:spAutoFit/>
          </a:bodyPr>
          <a:lstStyle/>
          <a:p>
            <a:pPr algn="l"/>
            <a:r>
              <a:rPr sz="1100" b="1" i="0">
                <a:solidFill>
                  <a:srgbClr val="005CE6"/>
                </a:solidFill>
                <a:latin typeface="Arial"/>
              </a:rPr>
              <a:t>EVERYDAY EXAMPLE  ·  GCASH-STYLE SEND FORM</a:t>
            </a:r>
          </a:p>
        </p:txBody>
      </p:sp>
      <p:sp>
        <p:nvSpPr>
          <p:cNvPr id="23" name="TextBox 22"/>
          <p:cNvSpPr txBox="1"/>
          <p:nvPr/>
        </p:nvSpPr>
        <p:spPr>
          <a:xfrm>
            <a:off x="4754880" y="4087368"/>
            <a:ext cx="6903720" cy="384048"/>
          </a:xfrm>
          <a:prstGeom prst="rect">
            <a:avLst/>
          </a:prstGeom>
          <a:noFill/>
        </p:spPr>
        <p:txBody>
          <a:bodyPr wrap="square" lIns="0" rIns="0" tIns="0" bIns="0" anchor="t">
            <a:spAutoFit/>
          </a:bodyPr>
          <a:lstStyle/>
          <a:p>
            <a:pPr algn="l"/>
            <a:r>
              <a:rPr sz="2200" b="1" i="0">
                <a:solidFill>
                  <a:srgbClr val="002060"/>
                </a:solidFill>
                <a:latin typeface="Arial"/>
              </a:rPr>
              <a:t>Accept any format</a:t>
            </a:r>
          </a:p>
        </p:txBody>
      </p:sp>
      <p:sp>
        <p:nvSpPr>
          <p:cNvPr id="24" name="TextBox 23"/>
          <p:cNvSpPr txBox="1"/>
          <p:nvPr/>
        </p:nvSpPr>
        <p:spPr>
          <a:xfrm>
            <a:off x="4754880" y="4572000"/>
            <a:ext cx="6903720" cy="173736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People type mobile numbers in many ways. A forgiving form accepts all of them and quietly converts them to one standard format.</a:t>
            </a:r>
          </a:p>
          <a:p>
            <a:pPr algn="l">
              <a:spcAft>
                <a:spcPts val="900"/>
              </a:spcAft>
            </a:pPr>
            <a:r>
              <a:rPr sz="1400" b="0" i="0">
                <a:solidFill>
                  <a:srgbClr val="333333"/>
                </a:solidFill>
                <a:latin typeface="Arial"/>
              </a:rPr>
              <a:t>Be liberal in what you accept: show “Invalid number” only when the number truly can’t be understood.</a:t>
            </a:r>
          </a:p>
        </p:txBody>
      </p:sp>
      <p:sp>
        <p:nvSpPr>
          <p:cNvPr id="25" name="TextBox 24"/>
          <p:cNvSpPr txBox="1"/>
          <p:nvPr/>
        </p:nvSpPr>
        <p:spPr>
          <a:xfrm>
            <a:off x="475488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not an actual app screenshot.</a:t>
            </a:r>
          </a:p>
        </p:txBody>
      </p:sp>
    </p:spTree>
    <p:extLst>
      <p:ext uri="{BB962C8B-B14F-4D97-AF65-F5344CB8AC3E}">
        <p14:creationId xmlns:p14="http://schemas.microsoft.com/office/powerpoint/2010/main" val="40244707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77D27-AB76-6180-5BD4-CAC9CACC9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38DF4-62B4-8726-82D7-B29EA908230D}"/>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Selective Attention</a:t>
            </a:r>
            <a:endParaRPr b="1" dirty="0">
              <a:solidFill>
                <a:srgbClr val="002060"/>
              </a:solidFill>
              <a:latin typeface="Bebas Neue" panose="020B0606020202050201" pitchFamily="34" charset="0"/>
            </a:endParaRPr>
          </a:p>
        </p:txBody>
      </p:sp>
      <p:pic>
        <p:nvPicPr>
          <p:cNvPr id="7" name="Picture 6" descr="A screen shot of a white circle&#10;&#10;AI-generated content may be incorrect.">
            <a:extLst>
              <a:ext uri="{FF2B5EF4-FFF2-40B4-BE49-F238E27FC236}">
                <a16:creationId xmlns:a16="http://schemas.microsoft.com/office/drawing/2014/main" id="{BBCF493D-A0EF-48BC-7BA0-535187A423E9}"/>
              </a:ext>
            </a:extLst>
          </p:cNvPr>
          <p:cNvPicPr preferRelativeResize="0">
            <a:picLocks/>
          </p:cNvPicPr>
          <p:nvPr/>
        </p:nvPicPr>
        <p:blipFill>
          <a:blip r:embed="rId3"/>
          <a:stretch>
            <a:fillRect/>
          </a:stretch>
        </p:blipFill>
        <p:spPr>
          <a:xfrm>
            <a:off x="609599" y="1851522"/>
            <a:ext cx="3628800" cy="4748400"/>
          </a:xfrm>
          <a:prstGeom prst="rect">
            <a:avLst/>
          </a:prstGeom>
        </p:spPr>
      </p:pic>
      <p:sp>
        <p:nvSpPr>
          <p:cNvPr id="8" name="Rounded Rectangle 7"/>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82312" y="1444752"/>
            <a:ext cx="2276856" cy="4791456"/>
          </a:xfrm>
          <a:prstGeom prst="roundRect">
            <a:avLst>
              <a:gd name="adj" fmla="val 9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12" name="Rectangle 11"/>
          <p:cNvSpPr/>
          <p:nvPr/>
        </p:nvSpPr>
        <p:spPr>
          <a:xfrm>
            <a:off x="4782312" y="1719072"/>
            <a:ext cx="2276856"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1783080"/>
            <a:ext cx="1463040" cy="256032"/>
          </a:xfrm>
          <a:prstGeom prst="rect">
            <a:avLst/>
          </a:prstGeom>
          <a:noFill/>
        </p:spPr>
        <p:txBody>
          <a:bodyPr wrap="square" lIns="0" rIns="0" tIns="0" bIns="0" anchor="t">
            <a:spAutoFit/>
          </a:bodyPr>
          <a:lstStyle/>
          <a:p>
            <a:pPr algn="l"/>
            <a:r>
              <a:rPr sz="1300" b="1" i="0">
                <a:solidFill>
                  <a:srgbClr val="1877F2"/>
                </a:solidFill>
                <a:latin typeface="Arial"/>
              </a:rPr>
              <a:t>Facebook</a:t>
            </a:r>
          </a:p>
        </p:txBody>
      </p:sp>
      <p:sp>
        <p:nvSpPr>
          <p:cNvPr id="14" name="Oval 13"/>
          <p:cNvSpPr/>
          <p:nvPr/>
        </p:nvSpPr>
        <p:spPr>
          <a:xfrm>
            <a:off x="6492240" y="1828800"/>
            <a:ext cx="123444" cy="123444"/>
          </a:xfrm>
          <a:prstGeom prst="ellipse">
            <a:avLst/>
          </a:prstGeom>
          <a:noFill/>
          <a:ln w="19050">
            <a:solidFill>
              <a:srgbClr val="0505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6594287" y="1930847"/>
            <a:ext cx="62545" cy="62545"/>
          </a:xfrm>
          <a:prstGeom prst="line">
            <a:avLst/>
          </a:prstGeom>
          <a:ln w="22225">
            <a:solidFill>
              <a:srgbClr val="05050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766560" y="1861261"/>
            <a:ext cx="155448" cy="0"/>
          </a:xfrm>
          <a:prstGeom prst="line">
            <a:avLst/>
          </a:prstGeom>
          <a:ln w="19050">
            <a:solidFill>
              <a:srgbClr val="05050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766560" y="1915668"/>
            <a:ext cx="155448" cy="0"/>
          </a:xfrm>
          <a:prstGeom prst="line">
            <a:avLst/>
          </a:prstGeom>
          <a:ln w="19050">
            <a:solidFill>
              <a:srgbClr val="05050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766560" y="1970074"/>
            <a:ext cx="155448" cy="0"/>
          </a:xfrm>
          <a:prstGeom prst="line">
            <a:avLst/>
          </a:prstGeom>
          <a:ln w="19050">
            <a:solidFill>
              <a:srgbClr val="05050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782312" y="2194560"/>
            <a:ext cx="2276856"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92040" y="2286000"/>
            <a:ext cx="292608" cy="292608"/>
          </a:xfrm>
          <a:prstGeom prst="ellipse">
            <a:avLst/>
          </a:prstGeom>
          <a:solidFill>
            <a:srgbClr val="9C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2286000"/>
            <a:ext cx="1463040" cy="155448"/>
          </a:xfrm>
          <a:prstGeom prst="rect">
            <a:avLst/>
          </a:prstGeom>
          <a:noFill/>
        </p:spPr>
        <p:txBody>
          <a:bodyPr wrap="square" lIns="0" rIns="0" tIns="0" bIns="0" anchor="t">
            <a:spAutoFit/>
          </a:bodyPr>
          <a:lstStyle/>
          <a:p>
            <a:pPr algn="l"/>
            <a:r>
              <a:rPr sz="800" b="1" i="0">
                <a:solidFill>
                  <a:srgbClr val="222222"/>
                </a:solidFill>
                <a:latin typeface="Arial"/>
              </a:rPr>
              <a:t>Ana Reyes</a:t>
            </a:r>
          </a:p>
        </p:txBody>
      </p:sp>
      <p:sp>
        <p:nvSpPr>
          <p:cNvPr id="22" name="TextBox 21"/>
          <p:cNvSpPr txBox="1"/>
          <p:nvPr/>
        </p:nvSpPr>
        <p:spPr>
          <a:xfrm>
            <a:off x="5257800" y="2432304"/>
            <a:ext cx="1463040" cy="137160"/>
          </a:xfrm>
          <a:prstGeom prst="rect">
            <a:avLst/>
          </a:prstGeom>
          <a:noFill/>
        </p:spPr>
        <p:txBody>
          <a:bodyPr wrap="square" lIns="0" rIns="0" tIns="0" bIns="0" anchor="t">
            <a:spAutoFit/>
          </a:bodyPr>
          <a:lstStyle/>
          <a:p>
            <a:pPr algn="l"/>
            <a:r>
              <a:rPr sz="700" b="0" i="0">
                <a:solidFill>
                  <a:srgbClr val="65676B"/>
                </a:solidFill>
                <a:latin typeface="Arial"/>
              </a:rPr>
              <a:t>2h</a:t>
            </a:r>
          </a:p>
        </p:txBody>
      </p:sp>
      <p:sp>
        <p:nvSpPr>
          <p:cNvPr id="23" name="Rounded Rectangle 22"/>
          <p:cNvSpPr/>
          <p:nvPr/>
        </p:nvSpPr>
        <p:spPr>
          <a:xfrm>
            <a:off x="4892040" y="2670048"/>
            <a:ext cx="1821484"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92040" y="2779776"/>
            <a:ext cx="1252270"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82312" y="2907792"/>
            <a:ext cx="2276856" cy="777240"/>
          </a:xfrm>
          <a:prstGeom prst="rect">
            <a:avLst/>
          </a:prstGeom>
          <a:solidFill>
            <a:srgbClr val="BFE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85036" y="3032150"/>
            <a:ext cx="364296" cy="364296"/>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827849" y="3234232"/>
            <a:ext cx="1411650" cy="450799"/>
          </a:xfrm>
          <a:prstGeom prst="triangle">
            <a:avLst/>
          </a:prstGeom>
          <a:solidFill>
            <a:srgbClr val="7FB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647517" y="3140964"/>
            <a:ext cx="1411650" cy="544068"/>
          </a:xfrm>
          <a:prstGeom prst="triangle">
            <a:avLst/>
          </a:prstGeom>
          <a:solidFill>
            <a:srgbClr val="4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4873752" y="3712464"/>
            <a:ext cx="2093976" cy="0"/>
          </a:xfrm>
          <a:prstGeom prst="line">
            <a:avLst/>
          </a:prstGeom>
          <a:ln w="9525">
            <a:solidFill>
              <a:srgbClr val="E4E6E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782312" y="3776472"/>
            <a:ext cx="758952" cy="164592"/>
          </a:xfrm>
          <a:prstGeom prst="rect">
            <a:avLst/>
          </a:prstGeom>
          <a:noFill/>
        </p:spPr>
        <p:txBody>
          <a:bodyPr wrap="square" lIns="0" rIns="0" tIns="0" bIns="0" anchor="t">
            <a:spAutoFit/>
          </a:bodyPr>
          <a:lstStyle/>
          <a:p>
            <a:pPr algn="ctr"/>
            <a:r>
              <a:rPr sz="800" b="1" i="0">
                <a:solidFill>
                  <a:srgbClr val="65676B"/>
                </a:solidFill>
                <a:latin typeface="Arial"/>
              </a:rPr>
              <a:t>Like</a:t>
            </a:r>
          </a:p>
        </p:txBody>
      </p:sp>
      <p:sp>
        <p:nvSpPr>
          <p:cNvPr id="31" name="TextBox 30"/>
          <p:cNvSpPr txBox="1"/>
          <p:nvPr/>
        </p:nvSpPr>
        <p:spPr>
          <a:xfrm>
            <a:off x="5541264" y="3776472"/>
            <a:ext cx="758952" cy="164592"/>
          </a:xfrm>
          <a:prstGeom prst="rect">
            <a:avLst/>
          </a:prstGeom>
          <a:noFill/>
        </p:spPr>
        <p:txBody>
          <a:bodyPr wrap="square" lIns="0" rIns="0" tIns="0" bIns="0" anchor="t">
            <a:spAutoFit/>
          </a:bodyPr>
          <a:lstStyle/>
          <a:p>
            <a:pPr algn="ctr"/>
            <a:r>
              <a:rPr sz="800" b="1" i="0">
                <a:solidFill>
                  <a:srgbClr val="65676B"/>
                </a:solidFill>
                <a:latin typeface="Arial"/>
              </a:rPr>
              <a:t>Comment</a:t>
            </a:r>
          </a:p>
        </p:txBody>
      </p:sp>
      <p:sp>
        <p:nvSpPr>
          <p:cNvPr id="32" name="TextBox 31"/>
          <p:cNvSpPr txBox="1"/>
          <p:nvPr/>
        </p:nvSpPr>
        <p:spPr>
          <a:xfrm>
            <a:off x="6300216" y="3776472"/>
            <a:ext cx="758952" cy="164592"/>
          </a:xfrm>
          <a:prstGeom prst="rect">
            <a:avLst/>
          </a:prstGeom>
          <a:noFill/>
        </p:spPr>
        <p:txBody>
          <a:bodyPr wrap="square" lIns="0" rIns="0" tIns="0" bIns="0" anchor="t">
            <a:spAutoFit/>
          </a:bodyPr>
          <a:lstStyle/>
          <a:p>
            <a:pPr algn="ctr"/>
            <a:r>
              <a:rPr sz="800" b="1" i="0">
                <a:solidFill>
                  <a:srgbClr val="65676B"/>
                </a:solidFill>
                <a:latin typeface="Arial"/>
              </a:rPr>
              <a:t>Share</a:t>
            </a:r>
          </a:p>
        </p:txBody>
      </p:sp>
      <p:sp>
        <p:nvSpPr>
          <p:cNvPr id="33" name="Rectangle 32"/>
          <p:cNvSpPr/>
          <p:nvPr/>
        </p:nvSpPr>
        <p:spPr>
          <a:xfrm>
            <a:off x="4782312" y="4133088"/>
            <a:ext cx="2276856"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892040" y="4224528"/>
            <a:ext cx="292608" cy="292608"/>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57800" y="4224528"/>
            <a:ext cx="1463040" cy="155448"/>
          </a:xfrm>
          <a:prstGeom prst="rect">
            <a:avLst/>
          </a:prstGeom>
          <a:noFill/>
        </p:spPr>
        <p:txBody>
          <a:bodyPr wrap="square" lIns="0" rIns="0" tIns="0" bIns="0" anchor="t">
            <a:spAutoFit/>
          </a:bodyPr>
          <a:lstStyle/>
          <a:p>
            <a:pPr algn="l"/>
            <a:r>
              <a:rPr sz="800" b="1" i="0">
                <a:solidFill>
                  <a:srgbClr val="222222"/>
                </a:solidFill>
                <a:latin typeface="Arial"/>
              </a:rPr>
              <a:t>LazaShop PH</a:t>
            </a:r>
          </a:p>
        </p:txBody>
      </p:sp>
      <p:sp>
        <p:nvSpPr>
          <p:cNvPr id="36" name="TextBox 35"/>
          <p:cNvSpPr txBox="1"/>
          <p:nvPr/>
        </p:nvSpPr>
        <p:spPr>
          <a:xfrm>
            <a:off x="5257800" y="4370832"/>
            <a:ext cx="1463040" cy="137160"/>
          </a:xfrm>
          <a:prstGeom prst="rect">
            <a:avLst/>
          </a:prstGeom>
          <a:noFill/>
        </p:spPr>
        <p:txBody>
          <a:bodyPr wrap="square" lIns="0" rIns="0" tIns="0" bIns="0" anchor="t">
            <a:spAutoFit/>
          </a:bodyPr>
          <a:lstStyle/>
          <a:p>
            <a:pPr algn="l"/>
            <a:r>
              <a:rPr sz="700" b="0" i="0">
                <a:solidFill>
                  <a:srgbClr val="65676B"/>
                </a:solidFill>
                <a:latin typeface="Arial"/>
              </a:rPr>
              <a:t>Sponsored</a:t>
            </a:r>
          </a:p>
        </p:txBody>
      </p:sp>
      <p:sp>
        <p:nvSpPr>
          <p:cNvPr id="37" name="Rounded Rectangle 36"/>
          <p:cNvSpPr/>
          <p:nvPr/>
        </p:nvSpPr>
        <p:spPr>
          <a:xfrm>
            <a:off x="4892040" y="4608576"/>
            <a:ext cx="1821484"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892040" y="4718304"/>
            <a:ext cx="1252270" cy="54864"/>
          </a:xfrm>
          <a:prstGeom prst="roundRect">
            <a:avLst>
              <a:gd name="adj" fmla="val 50000"/>
            </a:avLst>
          </a:prstGeom>
          <a:solidFill>
            <a:srgbClr val="D8D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782312" y="4846320"/>
            <a:ext cx="2276856" cy="1051560"/>
          </a:xfrm>
          <a:prstGeom prst="rect">
            <a:avLst/>
          </a:prstGeom>
          <a:solidFill>
            <a:srgbClr val="FDE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285036" y="5014569"/>
            <a:ext cx="364296" cy="364296"/>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a:off x="4827849" y="5287975"/>
            <a:ext cx="1411650" cy="609904"/>
          </a:xfrm>
          <a:prstGeom prst="triangle">
            <a:avLst/>
          </a:prstGeom>
          <a:solidFill>
            <a:srgbClr val="7FB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Isosceles Triangle 41"/>
          <p:cNvSpPr/>
          <p:nvPr/>
        </p:nvSpPr>
        <p:spPr>
          <a:xfrm>
            <a:off x="5647517" y="5161788"/>
            <a:ext cx="1411650" cy="736092"/>
          </a:xfrm>
          <a:prstGeom prst="triangle">
            <a:avLst/>
          </a:prstGeom>
          <a:solidFill>
            <a:srgbClr val="4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4873752" y="5925312"/>
            <a:ext cx="2093976" cy="0"/>
          </a:xfrm>
          <a:prstGeom prst="line">
            <a:avLst/>
          </a:prstGeom>
          <a:ln w="9525">
            <a:solidFill>
              <a:srgbClr val="E4E6EB"/>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281928" y="5961888"/>
            <a:ext cx="667512" cy="201168"/>
          </a:xfrm>
          <a:prstGeom prst="roundRect">
            <a:avLst>
              <a:gd name="adj" fmla="val 30000"/>
            </a:avLst>
          </a:prstGeom>
          <a:solidFill>
            <a:srgbClr val="E4E6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00" b="1" i="0">
                <a:solidFill>
                  <a:srgbClr val="050505"/>
                </a:solidFill>
                <a:latin typeface="Arial"/>
              </a:rPr>
              <a:t>Shop now</a:t>
            </a:r>
          </a:p>
        </p:txBody>
      </p:sp>
      <p:sp>
        <p:nvSpPr>
          <p:cNvPr id="45" name="TextBox 44"/>
          <p:cNvSpPr txBox="1"/>
          <p:nvPr/>
        </p:nvSpPr>
        <p:spPr>
          <a:xfrm>
            <a:off x="4892040" y="5989320"/>
            <a:ext cx="1097280" cy="164592"/>
          </a:xfrm>
          <a:prstGeom prst="rect">
            <a:avLst/>
          </a:prstGeom>
          <a:noFill/>
        </p:spPr>
        <p:txBody>
          <a:bodyPr wrap="square" lIns="0" rIns="0" tIns="0" bIns="0" anchor="t">
            <a:spAutoFit/>
          </a:bodyPr>
          <a:lstStyle/>
          <a:p>
            <a:pPr algn="l"/>
            <a:r>
              <a:rPr sz="700" b="0" i="0">
                <a:solidFill>
                  <a:srgbClr val="65676B"/>
                </a:solidFill>
                <a:latin typeface="Arial"/>
              </a:rPr>
              <a:t>lazashop.ph</a:t>
            </a:r>
          </a:p>
        </p:txBody>
      </p:sp>
      <p:sp>
        <p:nvSpPr>
          <p:cNvPr id="46" name="Rectangle 45"/>
          <p:cNvSpPr/>
          <p:nvPr/>
        </p:nvSpPr>
        <p:spPr>
          <a:xfrm>
            <a:off x="4782312" y="4133088"/>
            <a:ext cx="2276856" cy="2103120"/>
          </a:xfrm>
          <a:prstGeom prst="rect">
            <a:avLst/>
          </a:prstGeom>
          <a:solidFill>
            <a:srgbClr val="FFFFFF">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010912" y="5020056"/>
            <a:ext cx="1819655" cy="329184"/>
          </a:xfrm>
          <a:prstGeom prst="roundRect">
            <a:avLst>
              <a:gd name="adj" fmla="val 50000"/>
            </a:avLst>
          </a:prstGeom>
          <a:solidFill>
            <a:srgbClr val="3A3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50" b="1" i="0">
                <a:solidFill>
                  <a:srgbClr val="FFFFFF"/>
                </a:solidFill>
                <a:latin typeface="Arial"/>
              </a:rPr>
              <a:t>Most people scroll right past</a:t>
            </a:r>
          </a:p>
        </p:txBody>
      </p:sp>
      <p:sp>
        <p:nvSpPr>
          <p:cNvPr id="48" name="TextBox 47"/>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1877F2"/>
                </a:solidFill>
                <a:latin typeface="Arial"/>
              </a:rPr>
              <a:t>EVERYDAY EXAMPLE  ·  FACEBOOK</a:t>
            </a:r>
          </a:p>
        </p:txBody>
      </p:sp>
      <p:sp>
        <p:nvSpPr>
          <p:cNvPr id="49" name="TextBox 48"/>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Banner blindness</a:t>
            </a:r>
          </a:p>
        </p:txBody>
      </p:sp>
      <p:sp>
        <p:nvSpPr>
          <p:cNvPr id="50" name="TextBox 49"/>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We learn to ignore anything that looks like an ad. Posts marked “Sponsored” often get scrolled past without being read.</a:t>
            </a:r>
          </a:p>
          <a:p>
            <a:pPr algn="l">
              <a:spcAft>
                <a:spcPts val="900"/>
              </a:spcAft>
            </a:pPr>
            <a:r>
              <a:rPr sz="1400" b="0" i="0">
                <a:solidFill>
                  <a:srgbClr val="333333"/>
                </a:solidFill>
                <a:latin typeface="Arial"/>
              </a:rPr>
              <a:t>Attention locks onto what serves our goal (friends’ posts) and filters out the rest. Never make important information look like an ad.</a:t>
            </a:r>
          </a:p>
        </p:txBody>
      </p:sp>
      <p:sp>
        <p:nvSpPr>
          <p:cNvPr id="51" name="TextBox 50"/>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37435344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230A6-D88D-0A0C-80A0-EE9D9A7C98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2E4C8-FED2-B5CC-A07B-2164C16A4E0B}"/>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Serial Position Effect</a:t>
            </a:r>
            <a:endParaRPr b="1" dirty="0">
              <a:solidFill>
                <a:srgbClr val="002060"/>
              </a:solidFill>
              <a:latin typeface="Bebas Neue" panose="020B0606020202050201" pitchFamily="34" charset="0"/>
            </a:endParaRPr>
          </a:p>
        </p:txBody>
      </p:sp>
      <p:pic>
        <p:nvPicPr>
          <p:cNvPr id="4" name="Picture 3" descr="A screenshot of a purple and white square&#10;&#10;AI-generated content may be incorrect.">
            <a:extLst>
              <a:ext uri="{FF2B5EF4-FFF2-40B4-BE49-F238E27FC236}">
                <a16:creationId xmlns:a16="http://schemas.microsoft.com/office/drawing/2014/main" id="{2E6C8294-4114-32B2-1B76-551EE5898E87}"/>
              </a:ext>
            </a:extLst>
          </p:cNvPr>
          <p:cNvPicPr preferRelativeResize="0">
            <a:picLocks/>
          </p:cNvPicPr>
          <p:nvPr/>
        </p:nvPicPr>
        <p:blipFill>
          <a:blip r:embed="rId3"/>
          <a:stretch>
            <a:fillRect/>
          </a:stretch>
        </p:blipFill>
        <p:spPr>
          <a:xfrm>
            <a:off x="609600" y="1417638"/>
            <a:ext cx="3628800" cy="4748400"/>
          </a:xfrm>
          <a:prstGeom prst="rect">
            <a:avLst/>
          </a:prstGeom>
        </p:spPr>
      </p:pic>
      <p:sp>
        <p:nvSpPr>
          <p:cNvPr id="5" name="TextBox 4">
            <a:extLst>
              <a:ext uri="{FF2B5EF4-FFF2-40B4-BE49-F238E27FC236}">
                <a16:creationId xmlns:a16="http://schemas.microsoft.com/office/drawing/2014/main" id="{3D99A1C7-141D-BE1E-06B1-72CC238A1937}"/>
              </a:ext>
            </a:extLst>
          </p:cNvPr>
          <p:cNvSpPr txBox="1"/>
          <p:nvPr/>
        </p:nvSpPr>
        <p:spPr>
          <a:xfrm>
            <a:off x="5486400" y="1417638"/>
            <a:ext cx="6096000" cy="4524315"/>
          </a:xfrm>
          <a:prstGeom prst="rect">
            <a:avLst/>
          </a:prstGeom>
          <a:noFill/>
        </p:spPr>
        <p:txBody>
          <a:bodyPr wrap="square">
            <a:spAutoFit/>
          </a:bodyPr>
          <a:lstStyle/>
          <a:p>
            <a:r>
              <a:rPr lang="en-US" sz="3600" b="0" i="0" dirty="0">
                <a:solidFill>
                  <a:srgbClr val="040337"/>
                </a:solidFill>
                <a:effectLst/>
                <a:latin typeface="Inter"/>
              </a:rPr>
              <a:t>Memorize this list of items.</a:t>
            </a:r>
            <a:br>
              <a:rPr lang="en-US" sz="3600" dirty="0"/>
            </a:br>
            <a:r>
              <a:rPr lang="en-US" sz="3600" b="0" i="0" dirty="0">
                <a:solidFill>
                  <a:srgbClr val="040337"/>
                </a:solidFill>
                <a:effectLst/>
                <a:latin typeface="Inter"/>
              </a:rPr>
              <a:t>Apple</a:t>
            </a:r>
            <a:br>
              <a:rPr lang="en-US" sz="3600" dirty="0"/>
            </a:br>
            <a:r>
              <a:rPr lang="en-US" sz="3600" b="0" i="0" dirty="0">
                <a:solidFill>
                  <a:srgbClr val="040337"/>
                </a:solidFill>
                <a:effectLst/>
                <a:latin typeface="Inter"/>
              </a:rPr>
              <a:t>Churro</a:t>
            </a:r>
            <a:br>
              <a:rPr lang="en-US" sz="3600" dirty="0"/>
            </a:br>
            <a:r>
              <a:rPr lang="en-US" sz="3600" b="0" i="0" dirty="0">
                <a:solidFill>
                  <a:srgbClr val="040337"/>
                </a:solidFill>
                <a:effectLst/>
                <a:latin typeface="Inter"/>
              </a:rPr>
              <a:t>Racket</a:t>
            </a:r>
            <a:br>
              <a:rPr lang="en-US" sz="3600" dirty="0"/>
            </a:br>
            <a:r>
              <a:rPr lang="en-US" sz="3600" b="0" i="0" dirty="0">
                <a:solidFill>
                  <a:srgbClr val="040337"/>
                </a:solidFill>
                <a:effectLst/>
                <a:latin typeface="Inter"/>
              </a:rPr>
              <a:t>Lawn mover</a:t>
            </a:r>
            <a:br>
              <a:rPr lang="en-US" sz="3600" dirty="0"/>
            </a:br>
            <a:r>
              <a:rPr lang="en-US" sz="3600" b="0" i="0" dirty="0">
                <a:solidFill>
                  <a:srgbClr val="040337"/>
                </a:solidFill>
                <a:effectLst/>
                <a:latin typeface="Inter"/>
              </a:rPr>
              <a:t>Basket</a:t>
            </a:r>
            <a:br>
              <a:rPr lang="en-US" sz="3600" dirty="0"/>
            </a:br>
            <a:r>
              <a:rPr lang="en-US" sz="3600" b="0" i="0" dirty="0">
                <a:solidFill>
                  <a:srgbClr val="040337"/>
                </a:solidFill>
                <a:effectLst/>
                <a:latin typeface="Inter"/>
              </a:rPr>
              <a:t>Pen</a:t>
            </a:r>
            <a:br>
              <a:rPr lang="en-US" sz="3600" dirty="0"/>
            </a:br>
            <a:r>
              <a:rPr lang="en-US" sz="3600" b="0" i="0" dirty="0">
                <a:solidFill>
                  <a:srgbClr val="040337"/>
                </a:solidFill>
                <a:effectLst/>
                <a:latin typeface="Inter"/>
              </a:rPr>
              <a:t>Flask</a:t>
            </a:r>
            <a:endParaRPr lang="en-PH" sz="3600" dirty="0"/>
          </a:p>
        </p:txBody>
      </p:sp>
    </p:spTree>
    <p:extLst>
      <p:ext uri="{BB962C8B-B14F-4D97-AF65-F5344CB8AC3E}">
        <p14:creationId xmlns:p14="http://schemas.microsoft.com/office/powerpoint/2010/main" val="259321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C4BCB-040A-F4FD-CDD2-243CBD42D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BD78B-C7B2-1160-2E83-41197A8EB409}"/>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Tesler’s Law</a:t>
            </a:r>
            <a:endParaRPr b="1" dirty="0">
              <a:solidFill>
                <a:srgbClr val="002060"/>
              </a:solidFill>
              <a:latin typeface="Bebas Neue" panose="020B0606020202050201" pitchFamily="34" charset="0"/>
            </a:endParaRPr>
          </a:p>
        </p:txBody>
      </p:sp>
      <p:pic>
        <p:nvPicPr>
          <p:cNvPr id="5" name="Picture 4" descr="A screenshot of a cell phone&#10;&#10;AI-generated content may be incorrect.">
            <a:extLst>
              <a:ext uri="{FF2B5EF4-FFF2-40B4-BE49-F238E27FC236}">
                <a16:creationId xmlns:a16="http://schemas.microsoft.com/office/drawing/2014/main" id="{F8741FAC-E533-1A78-2443-336A396D1425}"/>
              </a:ext>
            </a:extLst>
          </p:cNvPr>
          <p:cNvPicPr preferRelativeResize="0">
            <a:picLocks/>
          </p:cNvPicPr>
          <p:nvPr/>
        </p:nvPicPr>
        <p:blipFill>
          <a:blip r:embed="rId3"/>
          <a:stretch>
            <a:fillRect/>
          </a:stretch>
        </p:blipFill>
        <p:spPr>
          <a:xfrm>
            <a:off x="609600" y="1417638"/>
            <a:ext cx="3628800" cy="4748400"/>
          </a:xfrm>
          <a:prstGeom prst="rect">
            <a:avLst/>
          </a:prstGeom>
        </p:spPr>
      </p:pic>
      <p:pic>
        <p:nvPicPr>
          <p:cNvPr id="5122" name="Picture 2" descr="Tesler’s Law in Product Design">
            <a:extLst>
              <a:ext uri="{FF2B5EF4-FFF2-40B4-BE49-F238E27FC236}">
                <a16:creationId xmlns:a16="http://schemas.microsoft.com/office/drawing/2014/main" id="{71A14A43-7A1D-E202-76E2-2503DB9828D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4667"/>
          <a:stretch>
            <a:fillRect/>
          </a:stretch>
        </p:blipFill>
        <p:spPr bwMode="auto">
          <a:xfrm>
            <a:off x="4659948" y="2194560"/>
            <a:ext cx="7236339" cy="2606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2381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C4BCB-040A-F4FD-CDD2-243CBD42D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BD78B-C7B2-1160-2E83-41197A8EB409}"/>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Tesler’s Law</a:t>
            </a:r>
            <a:endParaRPr b="1" dirty="0">
              <a:solidFill>
                <a:srgbClr val="002060"/>
              </a:solidFill>
              <a:latin typeface="Bebas Neue" panose="020B0606020202050201" pitchFamily="34" charset="0"/>
            </a:endParaRPr>
          </a:p>
        </p:txBody>
      </p:sp>
      <p:pic>
        <p:nvPicPr>
          <p:cNvPr id="5" name="Picture 4" descr="A screenshot of a cell phone&#10;&#10;AI-generated content may be incorrect.">
            <a:extLst>
              <a:ext uri="{FF2B5EF4-FFF2-40B4-BE49-F238E27FC236}">
                <a16:creationId xmlns:a16="http://schemas.microsoft.com/office/drawing/2014/main" id="{F8741FAC-E533-1A78-2443-336A396D1425}"/>
              </a:ext>
            </a:extLst>
          </p:cNvPr>
          <p:cNvPicPr preferRelativeResize="0">
            <a:picLocks/>
          </p:cNvPicPr>
          <p:nvPr/>
        </p:nvPicPr>
        <p:blipFill>
          <a:blip r:embed="rId3"/>
          <a:stretch>
            <a:fillRect/>
          </a:stretch>
        </p:blipFill>
        <p:spPr>
          <a:xfrm>
            <a:off x="609600" y="1417638"/>
            <a:ext cx="3628800" cy="4748400"/>
          </a:xfrm>
          <a:prstGeom prst="rect">
            <a:avLst/>
          </a:prstGeom>
        </p:spPr>
      </p:pic>
      <p:sp>
        <p:nvSpPr>
          <p:cNvPr id="6" name="Rounded Rectangle 5"/>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82312" y="1444752"/>
            <a:ext cx="2276856" cy="4791456"/>
          </a:xfrm>
          <a:prstGeom prst="roundRect">
            <a:avLst>
              <a:gd name="adj" fmla="val 9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FFFFFF"/>
                </a:solidFill>
                <a:latin typeface="Arial"/>
              </a:rPr>
              <a:t>9:41</a:t>
            </a:r>
          </a:p>
        </p:txBody>
      </p:sp>
      <p:sp>
        <p:nvSpPr>
          <p:cNvPr id="10" name="TextBox 9"/>
          <p:cNvSpPr txBox="1"/>
          <p:nvPr/>
        </p:nvSpPr>
        <p:spPr>
          <a:xfrm>
            <a:off x="4782312" y="1764792"/>
            <a:ext cx="2276856" cy="228600"/>
          </a:xfrm>
          <a:prstGeom prst="rect">
            <a:avLst/>
          </a:prstGeom>
          <a:noFill/>
        </p:spPr>
        <p:txBody>
          <a:bodyPr wrap="square" lIns="0" rIns="0" tIns="0" bIns="0" anchor="t">
            <a:spAutoFit/>
          </a:bodyPr>
          <a:lstStyle/>
          <a:p>
            <a:pPr algn="ctr"/>
            <a:r>
              <a:rPr sz="1200" b="1" i="0">
                <a:solidFill>
                  <a:srgbClr val="FFFFFF"/>
                </a:solidFill>
                <a:latin typeface="Arial"/>
              </a:rPr>
              <a:t>Scan QR</a:t>
            </a:r>
          </a:p>
        </p:txBody>
      </p:sp>
      <p:sp>
        <p:nvSpPr>
          <p:cNvPr id="11" name="Rectangle 10"/>
          <p:cNvSpPr/>
          <p:nvPr/>
        </p:nvSpPr>
        <p:spPr>
          <a:xfrm>
            <a:off x="5194662" y="2570334"/>
            <a:ext cx="1452154" cy="145215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99760" y="2633472"/>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89171" y="2633472"/>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15445" y="2633472"/>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62897" y="2696609"/>
            <a:ext cx="315685"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99760" y="2759746"/>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15445" y="2759746"/>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99760" y="2822883"/>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26034" y="2822883"/>
            <a:ext cx="252548"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99760" y="2886020"/>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89171" y="2886020"/>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15445" y="2886020"/>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99760" y="2949157"/>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26034" y="2949157"/>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15445" y="2949157"/>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26034" y="3012294"/>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57800" y="3075432"/>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84074" y="3075432"/>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73485" y="3075432"/>
            <a:ext cx="189411"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15445" y="3075432"/>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67994" y="3075432"/>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57405" y="3075432"/>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57800" y="3138569"/>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73485" y="3138569"/>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762897" y="3138569"/>
            <a:ext cx="315685"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41720" y="3138569"/>
            <a:ext cx="189411"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94268" y="3138569"/>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47211" y="3201706"/>
            <a:ext cx="189411"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62897" y="3201706"/>
            <a:ext cx="315685"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41720" y="3201706"/>
            <a:ext cx="252548"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47211" y="3264843"/>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762897" y="3264843"/>
            <a:ext cx="189411"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015445" y="3264843"/>
            <a:ext cx="56823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257800" y="3327980"/>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510348" y="3327980"/>
            <a:ext cx="315685"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952308" y="3327980"/>
            <a:ext cx="378822"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94268" y="3327980"/>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320937" y="3391117"/>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47211" y="3391117"/>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62897" y="3391117"/>
            <a:ext cx="189411"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41720" y="3391117"/>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320937" y="3454254"/>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447211" y="3454254"/>
            <a:ext cx="315685"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889171" y="3454254"/>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41720" y="3454254"/>
            <a:ext cx="315685"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62897" y="3517392"/>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952308" y="3517392"/>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267994" y="3517392"/>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457405" y="3517392"/>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762897" y="3580529"/>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015445" y="3580529"/>
            <a:ext cx="189411"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331131" y="3580529"/>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699760" y="3643666"/>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826034" y="3643666"/>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04857" y="3643666"/>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394268" y="3643666"/>
            <a:ext cx="189411"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699760" y="3706803"/>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826034" y="3706803"/>
            <a:ext cx="189411"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078582" y="3706803"/>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331131" y="3706803"/>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62897" y="3769940"/>
            <a:ext cx="252548"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078582" y="3769940"/>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31131" y="3769940"/>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699760" y="3833077"/>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826034" y="3833077"/>
            <a:ext cx="126274"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67994" y="3833077"/>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699760" y="3896214"/>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826034" y="3896214"/>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41720" y="3896214"/>
            <a:ext cx="63137"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394268" y="3896214"/>
            <a:ext cx="189411" cy="63137"/>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257800" y="2633472"/>
            <a:ext cx="441960" cy="44196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320937" y="2696609"/>
            <a:ext cx="315685" cy="31568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384074" y="2759746"/>
            <a:ext cx="189411" cy="189411"/>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141720" y="2633472"/>
            <a:ext cx="441960" cy="44196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204857" y="2696609"/>
            <a:ext cx="315685" cy="31568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267994" y="2759746"/>
            <a:ext cx="189411" cy="189411"/>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257800" y="3517392"/>
            <a:ext cx="441960" cy="44196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320937" y="3580529"/>
            <a:ext cx="315685" cy="31568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5384074" y="3643666"/>
            <a:ext cx="189411" cy="189411"/>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0" name="Connector 89"/>
          <p:cNvCxnSpPr/>
          <p:nvPr/>
        </p:nvCxnSpPr>
        <p:spPr>
          <a:xfrm>
            <a:off x="5056632" y="2432303"/>
            <a:ext cx="292608" cy="0"/>
          </a:xfrm>
          <a:prstGeom prst="line">
            <a:avLst/>
          </a:prstGeom>
          <a:ln w="38100">
            <a:solidFill>
              <a:srgbClr val="4DA3FF"/>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056632" y="2432303"/>
            <a:ext cx="0" cy="292608"/>
          </a:xfrm>
          <a:prstGeom prst="line">
            <a:avLst/>
          </a:prstGeom>
          <a:ln w="38100">
            <a:solidFill>
              <a:srgbClr val="4DA3FF"/>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a:off x="6492240" y="2432303"/>
            <a:ext cx="292608" cy="0"/>
          </a:xfrm>
          <a:prstGeom prst="line">
            <a:avLst/>
          </a:prstGeom>
          <a:ln w="38100">
            <a:solidFill>
              <a:srgbClr val="4DA3FF"/>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784848" y="2432303"/>
            <a:ext cx="0" cy="292608"/>
          </a:xfrm>
          <a:prstGeom prst="line">
            <a:avLst/>
          </a:prstGeom>
          <a:ln w="38100">
            <a:solidFill>
              <a:srgbClr val="4DA3FF"/>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5056632" y="4160520"/>
            <a:ext cx="292608" cy="0"/>
          </a:xfrm>
          <a:prstGeom prst="line">
            <a:avLst/>
          </a:prstGeom>
          <a:ln w="38100">
            <a:solidFill>
              <a:srgbClr val="4DA3FF"/>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056632" y="3867911"/>
            <a:ext cx="0" cy="292609"/>
          </a:xfrm>
          <a:prstGeom prst="line">
            <a:avLst/>
          </a:prstGeom>
          <a:ln w="38100">
            <a:solidFill>
              <a:srgbClr val="4DA3FF"/>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a:off x="6492240" y="4160520"/>
            <a:ext cx="292608" cy="0"/>
          </a:xfrm>
          <a:prstGeom prst="line">
            <a:avLst/>
          </a:prstGeom>
          <a:ln w="38100">
            <a:solidFill>
              <a:srgbClr val="4DA3FF"/>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6784848" y="3867911"/>
            <a:ext cx="0" cy="292609"/>
          </a:xfrm>
          <a:prstGeom prst="line">
            <a:avLst/>
          </a:prstGeom>
          <a:ln w="38100">
            <a:solidFill>
              <a:srgbClr val="4DA3FF"/>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4782312" y="4343400"/>
            <a:ext cx="2276856" cy="182880"/>
          </a:xfrm>
          <a:prstGeom prst="rect">
            <a:avLst/>
          </a:prstGeom>
          <a:noFill/>
        </p:spPr>
        <p:txBody>
          <a:bodyPr wrap="square" lIns="0" rIns="0" tIns="0" bIns="0" anchor="t">
            <a:spAutoFit/>
          </a:bodyPr>
          <a:lstStyle/>
          <a:p>
            <a:pPr algn="ctr"/>
            <a:r>
              <a:rPr sz="800" b="0" i="0">
                <a:solidFill>
                  <a:srgbClr val="FFFFFF"/>
                </a:solidFill>
                <a:latin typeface="Arial"/>
              </a:rPr>
              <a:t>Point your camera at a QR code</a:t>
            </a:r>
          </a:p>
        </p:txBody>
      </p:sp>
      <p:sp>
        <p:nvSpPr>
          <p:cNvPr id="99" name="Rounded Rectangle 98"/>
          <p:cNvSpPr/>
          <p:nvPr/>
        </p:nvSpPr>
        <p:spPr>
          <a:xfrm>
            <a:off x="4965192" y="5550408"/>
            <a:ext cx="1911095" cy="365760"/>
          </a:xfrm>
          <a:prstGeom prst="roundRect">
            <a:avLst>
              <a:gd name="adj" fmla="val 50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i="0">
                <a:solidFill>
                  <a:srgbClr val="FFFFFF"/>
                </a:solidFill>
                <a:latin typeface="Arial"/>
              </a:rPr>
              <a:t>Upload QR</a:t>
            </a:r>
          </a:p>
        </p:txBody>
      </p:sp>
      <p:sp>
        <p:nvSpPr>
          <p:cNvPr id="100" name="TextBox 99"/>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005CE6"/>
                </a:solidFill>
                <a:latin typeface="Arial"/>
              </a:rPr>
              <a:t>EVERYDAY EXAMPLE  ·  GCASH</a:t>
            </a:r>
          </a:p>
        </p:txBody>
      </p:sp>
      <p:sp>
        <p:nvSpPr>
          <p:cNvPr id="101" name="TextBox 100"/>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The app takes on the hard part</a:t>
            </a:r>
          </a:p>
        </p:txBody>
      </p:sp>
      <p:sp>
        <p:nvSpPr>
          <p:cNvPr id="102" name="TextBox 101"/>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Paying a store by typing its account number, bank and exact name is slow and easy to get wrong.</a:t>
            </a:r>
          </a:p>
          <a:p>
            <a:pPr algn="l">
              <a:spcAft>
                <a:spcPts val="900"/>
              </a:spcAft>
            </a:pPr>
            <a:r>
              <a:rPr sz="1400" b="0" i="0">
                <a:solidFill>
                  <a:srgbClr val="333333"/>
                </a:solidFill>
                <a:latin typeface="Arial"/>
              </a:rPr>
              <a:t>A QR code still carries all of that, but the app reads it for you. The complexity did not vanish; it moved from the user to the system.</a:t>
            </a:r>
          </a:p>
        </p:txBody>
      </p:sp>
      <p:sp>
        <p:nvSpPr>
          <p:cNvPr id="103" name="TextBox 102"/>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367423817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F2EE6-4635-01D5-CDDE-216C1E9D1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FD7AA-2D17-C9BE-61B4-06851D1F5DCA}"/>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Von Restorff Effect</a:t>
            </a:r>
            <a:endParaRPr b="1" dirty="0">
              <a:solidFill>
                <a:srgbClr val="002060"/>
              </a:solidFill>
              <a:latin typeface="Bebas Neue" panose="020B0606020202050201" pitchFamily="34" charset="0"/>
            </a:endParaRPr>
          </a:p>
        </p:txBody>
      </p:sp>
      <p:pic>
        <p:nvPicPr>
          <p:cNvPr id="9" name="Picture 8" descr="A screenshot of a video game&#10;&#10;AI-generated content may be incorrect.">
            <a:extLst>
              <a:ext uri="{FF2B5EF4-FFF2-40B4-BE49-F238E27FC236}">
                <a16:creationId xmlns:a16="http://schemas.microsoft.com/office/drawing/2014/main" id="{C9BEC772-1203-C3F4-5049-65A277EDDE95}"/>
              </a:ext>
            </a:extLst>
          </p:cNvPr>
          <p:cNvPicPr preferRelativeResize="0">
            <a:picLocks/>
          </p:cNvPicPr>
          <p:nvPr/>
        </p:nvPicPr>
        <p:blipFill>
          <a:blip r:embed="rId3"/>
          <a:stretch>
            <a:fillRect/>
          </a:stretch>
        </p:blipFill>
        <p:spPr>
          <a:xfrm>
            <a:off x="609600" y="1752453"/>
            <a:ext cx="3628800" cy="4748400"/>
          </a:xfrm>
          <a:prstGeom prst="rect">
            <a:avLst/>
          </a:prstGeom>
        </p:spPr>
      </p:pic>
      <p:pic>
        <p:nvPicPr>
          <p:cNvPr id="4098" name="Picture 2" descr="The von Restorff Effect — 42courses.com">
            <a:extLst>
              <a:ext uri="{FF2B5EF4-FFF2-40B4-BE49-F238E27FC236}">
                <a16:creationId xmlns:a16="http://schemas.microsoft.com/office/drawing/2014/main" id="{2D227B6A-D9FA-EDE4-E4C4-2BA46CBAE1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3820" y="2316479"/>
            <a:ext cx="6425699" cy="3564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76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F2EE6-4635-01D5-CDDE-216C1E9D1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FD7AA-2D17-C9BE-61B4-06851D1F5DCA}"/>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Von Restorff Effect</a:t>
            </a:r>
            <a:endParaRPr b="1" dirty="0">
              <a:solidFill>
                <a:srgbClr val="002060"/>
              </a:solidFill>
              <a:latin typeface="Bebas Neue" panose="020B0606020202050201" pitchFamily="34" charset="0"/>
            </a:endParaRPr>
          </a:p>
        </p:txBody>
      </p:sp>
      <p:pic>
        <p:nvPicPr>
          <p:cNvPr id="9" name="Picture 8" descr="A screenshot of a video game&#10;&#10;AI-generated content may be incorrect.">
            <a:extLst>
              <a:ext uri="{FF2B5EF4-FFF2-40B4-BE49-F238E27FC236}">
                <a16:creationId xmlns:a16="http://schemas.microsoft.com/office/drawing/2014/main" id="{C9BEC772-1203-C3F4-5049-65A277EDDE95}"/>
              </a:ext>
            </a:extLst>
          </p:cNvPr>
          <p:cNvPicPr preferRelativeResize="0">
            <a:picLocks/>
          </p:cNvPicPr>
          <p:nvPr/>
        </p:nvPicPr>
        <p:blipFill>
          <a:blip r:embed="rId3"/>
          <a:stretch>
            <a:fillRect/>
          </a:stretch>
        </p:blipFill>
        <p:spPr>
          <a:xfrm>
            <a:off x="609600" y="1752453"/>
            <a:ext cx="3628800" cy="4748400"/>
          </a:xfrm>
          <a:prstGeom prst="rect">
            <a:avLst/>
          </a:prstGeom>
        </p:spPr>
      </p:pic>
      <p:sp>
        <p:nvSpPr>
          <p:cNvPr id="15" name="Rounded Rectangle 14"/>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82312" y="1444752"/>
            <a:ext cx="2276856" cy="4791456"/>
          </a:xfrm>
          <a:prstGeom prst="roundRect">
            <a:avLst>
              <a:gd name="adj" fmla="val 9000"/>
            </a:avLst>
          </a:prstGeom>
          <a:solidFill>
            <a:srgbClr val="2B2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FFFFFF"/>
                </a:solidFill>
                <a:latin typeface="Arial"/>
              </a:rPr>
              <a:t>9:41</a:t>
            </a:r>
          </a:p>
        </p:txBody>
      </p:sp>
      <p:sp>
        <p:nvSpPr>
          <p:cNvPr id="19" name="Rectangle 18"/>
          <p:cNvSpPr/>
          <p:nvPr/>
        </p:nvSpPr>
        <p:spPr>
          <a:xfrm>
            <a:off x="4782312" y="1719072"/>
            <a:ext cx="512064" cy="4105656"/>
          </a:xfrm>
          <a:prstGeom prst="rect">
            <a:avLst/>
          </a:prstGeom>
          <a:solidFill>
            <a:srgbClr val="1E1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64608" y="1828800"/>
            <a:ext cx="347472" cy="347472"/>
          </a:xfrm>
          <a:prstGeom prst="ellipse">
            <a:avLst/>
          </a:prstGeom>
          <a:solidFill>
            <a:srgbClr val="586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64608" y="2286000"/>
            <a:ext cx="347472" cy="347472"/>
          </a:xfrm>
          <a:prstGeom prst="ellipse">
            <a:avLst/>
          </a:prstGeom>
          <a:solidFill>
            <a:srgbClr val="4E5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64608" y="2743200"/>
            <a:ext cx="347472" cy="347472"/>
          </a:xfrm>
          <a:prstGeom prst="ellipse">
            <a:avLst/>
          </a:prstGeom>
          <a:solidFill>
            <a:srgbClr val="4E5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64608" y="3200400"/>
            <a:ext cx="347472" cy="347472"/>
          </a:xfrm>
          <a:prstGeom prst="ellipse">
            <a:avLst/>
          </a:prstGeom>
          <a:solidFill>
            <a:srgbClr val="4E5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773168" y="3291840"/>
            <a:ext cx="54864" cy="1645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074920" y="3419856"/>
            <a:ext cx="182880" cy="182880"/>
          </a:xfrm>
          <a:prstGeom prst="ellipse">
            <a:avLst/>
          </a:prstGeom>
          <a:solidFill>
            <a:srgbClr val="F23F43"/>
          </a:solidFill>
          <a:ln w="19050">
            <a:solidFill>
              <a:srgbClr val="1E1F2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00" b="1" i="0">
                <a:solidFill>
                  <a:srgbClr val="FFFFFF"/>
                </a:solidFill>
                <a:latin typeface="Arial"/>
              </a:rPr>
              <a:t>3</a:t>
            </a:r>
          </a:p>
        </p:txBody>
      </p:sp>
      <p:sp>
        <p:nvSpPr>
          <p:cNvPr id="26" name="Oval 25"/>
          <p:cNvSpPr/>
          <p:nvPr/>
        </p:nvSpPr>
        <p:spPr>
          <a:xfrm>
            <a:off x="4864608" y="3657600"/>
            <a:ext cx="347472" cy="347472"/>
          </a:xfrm>
          <a:prstGeom prst="ellipse">
            <a:avLst/>
          </a:prstGeom>
          <a:solidFill>
            <a:srgbClr val="4E5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864608" y="4114800"/>
            <a:ext cx="347472" cy="347472"/>
          </a:xfrm>
          <a:prstGeom prst="ellipse">
            <a:avLst/>
          </a:prstGeom>
          <a:solidFill>
            <a:srgbClr val="4E5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864608" y="4572000"/>
            <a:ext cx="347472" cy="347472"/>
          </a:xfrm>
          <a:prstGeom prst="ellipse">
            <a:avLst/>
          </a:prstGeom>
          <a:solidFill>
            <a:srgbClr val="4E5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85816" y="1792224"/>
            <a:ext cx="1463040" cy="182880"/>
          </a:xfrm>
          <a:prstGeom prst="rect">
            <a:avLst/>
          </a:prstGeom>
          <a:noFill/>
        </p:spPr>
        <p:txBody>
          <a:bodyPr wrap="square" lIns="0" rIns="0" tIns="0" bIns="0" anchor="t">
            <a:spAutoFit/>
          </a:bodyPr>
          <a:lstStyle/>
          <a:p>
            <a:pPr algn="l"/>
            <a:r>
              <a:rPr sz="950" b="1" i="0">
                <a:solidFill>
                  <a:srgbClr val="FFFFFF"/>
                </a:solidFill>
                <a:latin typeface="Arial"/>
              </a:rPr>
              <a:t>BSIT 2A</a:t>
            </a:r>
          </a:p>
        </p:txBody>
      </p:sp>
      <p:cxnSp>
        <p:nvCxnSpPr>
          <p:cNvPr id="30" name="Connector 29"/>
          <p:cNvCxnSpPr/>
          <p:nvPr/>
        </p:nvCxnSpPr>
        <p:spPr>
          <a:xfrm>
            <a:off x="5294376" y="2066544"/>
            <a:ext cx="1764792" cy="0"/>
          </a:xfrm>
          <a:prstGeom prst="line">
            <a:avLst/>
          </a:prstGeom>
          <a:ln w="12700">
            <a:solidFill>
              <a:srgbClr val="1E1F2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385816" y="2176272"/>
            <a:ext cx="1463040" cy="137160"/>
          </a:xfrm>
          <a:prstGeom prst="rect">
            <a:avLst/>
          </a:prstGeom>
          <a:noFill/>
        </p:spPr>
        <p:txBody>
          <a:bodyPr wrap="square" lIns="0" rIns="0" tIns="0" bIns="0" anchor="t">
            <a:spAutoFit/>
          </a:bodyPr>
          <a:lstStyle/>
          <a:p>
            <a:pPr algn="l"/>
            <a:r>
              <a:rPr sz="650" b="1" i="0">
                <a:solidFill>
                  <a:srgbClr val="949BA4"/>
                </a:solidFill>
                <a:latin typeface="Arial"/>
              </a:rPr>
              <a:t>TEXT CHANNELS</a:t>
            </a:r>
          </a:p>
        </p:txBody>
      </p:sp>
      <p:sp>
        <p:nvSpPr>
          <p:cNvPr id="32" name="TextBox 31"/>
          <p:cNvSpPr txBox="1"/>
          <p:nvPr/>
        </p:nvSpPr>
        <p:spPr>
          <a:xfrm>
            <a:off x="5385816" y="2404872"/>
            <a:ext cx="1463040" cy="182880"/>
          </a:xfrm>
          <a:prstGeom prst="rect">
            <a:avLst/>
          </a:prstGeom>
          <a:noFill/>
        </p:spPr>
        <p:txBody>
          <a:bodyPr wrap="square" lIns="0" rIns="0" tIns="0" bIns="0" anchor="t">
            <a:spAutoFit/>
          </a:bodyPr>
          <a:lstStyle/>
          <a:p>
            <a:pPr algn="l"/>
            <a:r>
              <a:rPr sz="850" b="0" i="0">
                <a:solidFill>
                  <a:srgbClr val="949BA4"/>
                </a:solidFill>
                <a:latin typeface="Arial"/>
              </a:rPr>
              <a:t>#  general</a:t>
            </a:r>
          </a:p>
        </p:txBody>
      </p:sp>
      <p:sp>
        <p:nvSpPr>
          <p:cNvPr id="33" name="TextBox 32"/>
          <p:cNvSpPr txBox="1"/>
          <p:nvPr/>
        </p:nvSpPr>
        <p:spPr>
          <a:xfrm>
            <a:off x="5385816" y="2752344"/>
            <a:ext cx="1463040" cy="182880"/>
          </a:xfrm>
          <a:prstGeom prst="rect">
            <a:avLst/>
          </a:prstGeom>
          <a:noFill/>
        </p:spPr>
        <p:txBody>
          <a:bodyPr wrap="square" lIns="0" rIns="0" tIns="0" bIns="0" anchor="t">
            <a:spAutoFit/>
          </a:bodyPr>
          <a:lstStyle/>
          <a:p>
            <a:pPr algn="l"/>
            <a:r>
              <a:rPr sz="850" b="1" i="0">
                <a:solidFill>
                  <a:srgbClr val="FFFFFF"/>
                </a:solidFill>
                <a:latin typeface="Arial"/>
              </a:rPr>
              <a:t>#  announcements</a:t>
            </a:r>
          </a:p>
        </p:txBody>
      </p:sp>
      <p:sp>
        <p:nvSpPr>
          <p:cNvPr id="34" name="Rounded Rectangle 33"/>
          <p:cNvSpPr/>
          <p:nvPr/>
        </p:nvSpPr>
        <p:spPr>
          <a:xfrm>
            <a:off x="6729984" y="2752344"/>
            <a:ext cx="237744" cy="182880"/>
          </a:xfrm>
          <a:prstGeom prst="roundRect">
            <a:avLst>
              <a:gd name="adj" fmla="val 50000"/>
            </a:avLst>
          </a:prstGeom>
          <a:solidFill>
            <a:srgbClr val="F23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700" b="1" i="0">
                <a:solidFill>
                  <a:srgbClr val="FFFFFF"/>
                </a:solidFill>
                <a:latin typeface="Arial"/>
              </a:rPr>
              <a:t>2</a:t>
            </a:r>
          </a:p>
        </p:txBody>
      </p:sp>
      <p:sp>
        <p:nvSpPr>
          <p:cNvPr id="35" name="TextBox 34"/>
          <p:cNvSpPr txBox="1"/>
          <p:nvPr/>
        </p:nvSpPr>
        <p:spPr>
          <a:xfrm>
            <a:off x="5385816" y="3099815"/>
            <a:ext cx="1463040" cy="182880"/>
          </a:xfrm>
          <a:prstGeom prst="rect">
            <a:avLst/>
          </a:prstGeom>
          <a:noFill/>
        </p:spPr>
        <p:txBody>
          <a:bodyPr wrap="square" lIns="0" rIns="0" tIns="0" bIns="0" anchor="t">
            <a:spAutoFit/>
          </a:bodyPr>
          <a:lstStyle/>
          <a:p>
            <a:pPr algn="l"/>
            <a:r>
              <a:rPr sz="850" b="0" i="0">
                <a:solidFill>
                  <a:srgbClr val="949BA4"/>
                </a:solidFill>
                <a:latin typeface="Arial"/>
              </a:rPr>
              <a:t>#  random</a:t>
            </a:r>
          </a:p>
        </p:txBody>
      </p:sp>
      <p:sp>
        <p:nvSpPr>
          <p:cNvPr id="36" name="TextBox 35"/>
          <p:cNvSpPr txBox="1"/>
          <p:nvPr/>
        </p:nvSpPr>
        <p:spPr>
          <a:xfrm>
            <a:off x="5385816" y="3447288"/>
            <a:ext cx="1463040" cy="182880"/>
          </a:xfrm>
          <a:prstGeom prst="rect">
            <a:avLst/>
          </a:prstGeom>
          <a:noFill/>
        </p:spPr>
        <p:txBody>
          <a:bodyPr wrap="square" lIns="0" rIns="0" tIns="0" bIns="0" anchor="t">
            <a:spAutoFit/>
          </a:bodyPr>
          <a:lstStyle/>
          <a:p>
            <a:pPr algn="l"/>
            <a:r>
              <a:rPr sz="850" b="0" i="0">
                <a:solidFill>
                  <a:srgbClr val="949BA4"/>
                </a:solidFill>
                <a:latin typeface="Arial"/>
              </a:rPr>
              <a:t>#  memes</a:t>
            </a:r>
          </a:p>
        </p:txBody>
      </p:sp>
      <p:sp>
        <p:nvSpPr>
          <p:cNvPr id="37" name="TextBox 36"/>
          <p:cNvSpPr txBox="1"/>
          <p:nvPr/>
        </p:nvSpPr>
        <p:spPr>
          <a:xfrm>
            <a:off x="5385816" y="3794760"/>
            <a:ext cx="1463040" cy="182880"/>
          </a:xfrm>
          <a:prstGeom prst="rect">
            <a:avLst/>
          </a:prstGeom>
          <a:noFill/>
        </p:spPr>
        <p:txBody>
          <a:bodyPr wrap="square" lIns="0" rIns="0" tIns="0" bIns="0" anchor="t">
            <a:spAutoFit/>
          </a:bodyPr>
          <a:lstStyle/>
          <a:p>
            <a:pPr algn="l"/>
            <a:r>
              <a:rPr sz="850" b="0" i="0">
                <a:solidFill>
                  <a:srgbClr val="949BA4"/>
                </a:solidFill>
                <a:latin typeface="Arial"/>
              </a:rPr>
              <a:t>#  ux-reviewer</a:t>
            </a:r>
          </a:p>
        </p:txBody>
      </p:sp>
      <p:sp>
        <p:nvSpPr>
          <p:cNvPr id="38" name="TextBox 37"/>
          <p:cNvSpPr txBox="1"/>
          <p:nvPr/>
        </p:nvSpPr>
        <p:spPr>
          <a:xfrm>
            <a:off x="5385816" y="4142231"/>
            <a:ext cx="1463040" cy="182880"/>
          </a:xfrm>
          <a:prstGeom prst="rect">
            <a:avLst/>
          </a:prstGeom>
          <a:noFill/>
        </p:spPr>
        <p:txBody>
          <a:bodyPr wrap="square" lIns="0" rIns="0" tIns="0" bIns="0" anchor="t">
            <a:spAutoFit/>
          </a:bodyPr>
          <a:lstStyle/>
          <a:p>
            <a:pPr algn="l"/>
            <a:r>
              <a:rPr sz="850" b="0" i="0">
                <a:solidFill>
                  <a:srgbClr val="949BA4"/>
                </a:solidFill>
                <a:latin typeface="Arial"/>
              </a:rPr>
              <a:t>#  lab-schedule</a:t>
            </a:r>
          </a:p>
        </p:txBody>
      </p:sp>
      <p:sp>
        <p:nvSpPr>
          <p:cNvPr id="39" name="TextBox 38"/>
          <p:cNvSpPr txBox="1"/>
          <p:nvPr/>
        </p:nvSpPr>
        <p:spPr>
          <a:xfrm>
            <a:off x="5385816" y="4489704"/>
            <a:ext cx="1463040" cy="182880"/>
          </a:xfrm>
          <a:prstGeom prst="rect">
            <a:avLst/>
          </a:prstGeom>
          <a:noFill/>
        </p:spPr>
        <p:txBody>
          <a:bodyPr wrap="square" lIns="0" rIns="0" tIns="0" bIns="0" anchor="t">
            <a:spAutoFit/>
          </a:bodyPr>
          <a:lstStyle/>
          <a:p>
            <a:pPr algn="l"/>
            <a:r>
              <a:rPr sz="850" b="0" i="0">
                <a:solidFill>
                  <a:srgbClr val="949BA4"/>
                </a:solidFill>
                <a:latin typeface="Arial"/>
              </a:rPr>
              <a:t>#  music</a:t>
            </a:r>
          </a:p>
        </p:txBody>
      </p:sp>
      <p:sp>
        <p:nvSpPr>
          <p:cNvPr id="40" name="Rectangle 39"/>
          <p:cNvSpPr/>
          <p:nvPr/>
        </p:nvSpPr>
        <p:spPr>
          <a:xfrm>
            <a:off x="4800600" y="5824728"/>
            <a:ext cx="2240279" cy="365760"/>
          </a:xfrm>
          <a:prstGeom prst="rect">
            <a:avLst/>
          </a:prstGeom>
          <a:solidFill>
            <a:srgbClr val="1E1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a:off x="5087112" y="5920740"/>
            <a:ext cx="173736" cy="86868"/>
          </a:xfrm>
          <a:prstGeom prst="triangle">
            <a:avLst/>
          </a:prstGeom>
          <a:solidFill>
            <a:srgbClr val="B5B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116647" y="6000658"/>
            <a:ext cx="114665" cy="86868"/>
          </a:xfrm>
          <a:prstGeom prst="rect">
            <a:avLst/>
          </a:prstGeom>
          <a:solidFill>
            <a:srgbClr val="B5B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elay 42"/>
          <p:cNvSpPr/>
          <p:nvPr/>
        </p:nvSpPr>
        <p:spPr>
          <a:xfrm rot="16200000">
            <a:off x="5851245" y="5920740"/>
            <a:ext cx="138988" cy="138988"/>
          </a:xfrm>
          <a:prstGeom prst="flowChartDelay">
            <a:avLst/>
          </a:prstGeom>
          <a:noFill/>
          <a:ln w="15875">
            <a:solidFill>
              <a:srgbClr val="B5BA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903366" y="6056254"/>
            <a:ext cx="34747" cy="34747"/>
          </a:xfrm>
          <a:prstGeom prst="ellipse">
            <a:avLst/>
          </a:prstGeom>
          <a:solidFill>
            <a:srgbClr val="B5B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580632" y="5920740"/>
            <a:ext cx="173736" cy="173736"/>
          </a:xfrm>
          <a:prstGeom prst="ellipse">
            <a:avLst/>
          </a:prstGeom>
          <a:noFill/>
          <a:ln w="15875">
            <a:solidFill>
              <a:srgbClr val="B5BA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5865F2"/>
                </a:solidFill>
                <a:latin typeface="Arial"/>
              </a:rPr>
              <a:t>EVERYDAY EXAMPLE  ·  DISCORD</a:t>
            </a:r>
          </a:p>
        </p:txBody>
      </p:sp>
      <p:sp>
        <p:nvSpPr>
          <p:cNvPr id="47" name="TextBox 46"/>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The red badge stands out</a:t>
            </a:r>
          </a:p>
        </p:txBody>
      </p:sp>
      <p:sp>
        <p:nvSpPr>
          <p:cNvPr id="48" name="TextBox 47"/>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In a column of grey servers and channels, the red badge is what your eye goes to first, and what you remember.</a:t>
            </a:r>
          </a:p>
          <a:p>
            <a:pPr algn="l">
              <a:spcAft>
                <a:spcPts val="900"/>
              </a:spcAft>
            </a:pPr>
            <a:r>
              <a:rPr sz="1400" b="0" i="0">
                <a:solidFill>
                  <a:srgbClr val="333333"/>
                </a:solidFill>
                <a:latin typeface="Arial"/>
              </a:rPr>
              <a:t>It works because Discord uses red sparingly. If everything were red, nothing would stand out.</a:t>
            </a:r>
          </a:p>
        </p:txBody>
      </p:sp>
      <p:sp>
        <p:nvSpPr>
          <p:cNvPr id="49" name="TextBox 48"/>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325076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80B9A-C6DE-D611-4DCE-D3849B633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F013F-AE34-CA16-4FCA-C8201CF596C1}"/>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Working Memory</a:t>
            </a:r>
            <a:endParaRPr b="1" dirty="0">
              <a:solidFill>
                <a:srgbClr val="002060"/>
              </a:solidFill>
              <a:latin typeface="Bebas Neue" panose="020B0606020202050201" pitchFamily="34" charset="0"/>
            </a:endParaRPr>
          </a:p>
        </p:txBody>
      </p:sp>
      <p:pic>
        <p:nvPicPr>
          <p:cNvPr id="5" name="Picture 4" descr="A screenshot of a computer&#10;&#10;AI-generated content may be incorrect.">
            <a:extLst>
              <a:ext uri="{FF2B5EF4-FFF2-40B4-BE49-F238E27FC236}">
                <a16:creationId xmlns:a16="http://schemas.microsoft.com/office/drawing/2014/main" id="{A4CE1C98-41FE-9C60-216E-F16FA693C12F}"/>
              </a:ext>
            </a:extLst>
          </p:cNvPr>
          <p:cNvPicPr preferRelativeResize="0">
            <a:picLocks/>
          </p:cNvPicPr>
          <p:nvPr/>
        </p:nvPicPr>
        <p:blipFill>
          <a:blip r:embed="rId3"/>
          <a:stretch>
            <a:fillRect/>
          </a:stretch>
        </p:blipFill>
        <p:spPr>
          <a:xfrm>
            <a:off x="609600" y="1624115"/>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ounded Rectangle 5"/>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82312" y="1444752"/>
            <a:ext cx="2276856" cy="4791456"/>
          </a:xfrm>
          <a:prstGeom prst="roundRect">
            <a:avLst>
              <a:gd name="adj" fmla="val 9000"/>
            </a:avLst>
          </a:prstGeom>
          <a:solidFill>
            <a:srgbClr val="31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FFFFFF"/>
                </a:solidFill>
                <a:latin typeface="Arial"/>
              </a:rPr>
              <a:t>9:41</a:t>
            </a:r>
          </a:p>
        </p:txBody>
      </p:sp>
      <p:sp>
        <p:nvSpPr>
          <p:cNvPr id="10" name="TextBox 9"/>
          <p:cNvSpPr txBox="1"/>
          <p:nvPr/>
        </p:nvSpPr>
        <p:spPr>
          <a:xfrm>
            <a:off x="4919472" y="1755648"/>
            <a:ext cx="2002536" cy="201168"/>
          </a:xfrm>
          <a:prstGeom prst="rect">
            <a:avLst/>
          </a:prstGeom>
          <a:noFill/>
        </p:spPr>
        <p:txBody>
          <a:bodyPr wrap="square" lIns="0" rIns="0" tIns="0" bIns="0" anchor="t">
            <a:spAutoFit/>
          </a:bodyPr>
          <a:lstStyle/>
          <a:p>
            <a:pPr algn="l"/>
            <a:r>
              <a:rPr sz="900" b="1" i="0">
                <a:solidFill>
                  <a:srgbClr val="FFFFFF"/>
                </a:solidFill>
                <a:latin typeface="Arial"/>
              </a:rPr>
              <a:t>#  ux-reviewer</a:t>
            </a:r>
          </a:p>
        </p:txBody>
      </p:sp>
      <p:cxnSp>
        <p:nvCxnSpPr>
          <p:cNvPr id="11" name="Connector 10"/>
          <p:cNvCxnSpPr/>
          <p:nvPr/>
        </p:nvCxnSpPr>
        <p:spPr>
          <a:xfrm>
            <a:off x="4782312" y="2029968"/>
            <a:ext cx="2276856" cy="0"/>
          </a:xfrm>
          <a:prstGeom prst="line">
            <a:avLst/>
          </a:prstGeom>
          <a:ln w="12700">
            <a:solidFill>
              <a:srgbClr val="1E1F22"/>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892040" y="2176272"/>
            <a:ext cx="292608" cy="292608"/>
          </a:xfrm>
          <a:prstGeom prst="ellipse">
            <a:avLst/>
          </a:prstGeom>
          <a:solidFill>
            <a:srgbClr val="F0B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2176272"/>
            <a:ext cx="1737360" cy="146304"/>
          </a:xfrm>
          <a:prstGeom prst="rect">
            <a:avLst/>
          </a:prstGeom>
          <a:noFill/>
        </p:spPr>
        <p:txBody>
          <a:bodyPr wrap="square" lIns="0" rIns="0" tIns="0" bIns="0" anchor="t">
            <a:spAutoFit/>
          </a:bodyPr>
          <a:lstStyle/>
          <a:p>
            <a:pPr algn="l"/>
            <a:r>
              <a:rPr sz="800" b="1" i="0">
                <a:solidFill>
                  <a:srgbClr val="F0B232"/>
                </a:solidFill>
                <a:latin typeface="Arial"/>
              </a:rPr>
              <a:t>Bea  </a:t>
            </a:r>
            <a:r>
              <a:rPr sz="600" b="0" i="0">
                <a:solidFill>
                  <a:srgbClr val="949BA4"/>
                </a:solidFill>
                <a:latin typeface="Arial"/>
              </a:rPr>
              <a:t>Today at 9:12 PM</a:t>
            </a:r>
          </a:p>
        </p:txBody>
      </p:sp>
      <p:sp>
        <p:nvSpPr>
          <p:cNvPr id="14" name="TextBox 13"/>
          <p:cNvSpPr txBox="1"/>
          <p:nvPr/>
        </p:nvSpPr>
        <p:spPr>
          <a:xfrm>
            <a:off x="5257800" y="2331720"/>
            <a:ext cx="1709927" cy="137160"/>
          </a:xfrm>
          <a:prstGeom prst="rect">
            <a:avLst/>
          </a:prstGeom>
          <a:noFill/>
        </p:spPr>
        <p:txBody>
          <a:bodyPr wrap="square" lIns="0" rIns="0" tIns="0" bIns="0" anchor="t">
            <a:spAutoFit/>
          </a:bodyPr>
          <a:lstStyle/>
          <a:p>
            <a:pPr algn="l"/>
            <a:r>
              <a:rPr sz="800" b="0" i="0">
                <a:solidFill>
                  <a:srgbClr val="DBDEE1"/>
                </a:solidFill>
                <a:latin typeface="Arial"/>
              </a:rPr>
              <a:t>What time is the UX quiz tomorrow?</a:t>
            </a:r>
          </a:p>
        </p:txBody>
      </p:sp>
      <p:sp>
        <p:nvSpPr>
          <p:cNvPr id="15" name="Oval 14"/>
          <p:cNvSpPr/>
          <p:nvPr/>
        </p:nvSpPr>
        <p:spPr>
          <a:xfrm>
            <a:off x="4892040" y="2651760"/>
            <a:ext cx="292608" cy="292608"/>
          </a:xfrm>
          <a:prstGeom prst="ellipse">
            <a:avLst/>
          </a:prstGeom>
          <a:solidFill>
            <a:srgbClr val="23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7800" y="2651760"/>
            <a:ext cx="1737360" cy="146304"/>
          </a:xfrm>
          <a:prstGeom prst="rect">
            <a:avLst/>
          </a:prstGeom>
          <a:noFill/>
        </p:spPr>
        <p:txBody>
          <a:bodyPr wrap="square" lIns="0" rIns="0" tIns="0" bIns="0" anchor="t">
            <a:spAutoFit/>
          </a:bodyPr>
          <a:lstStyle/>
          <a:p>
            <a:pPr algn="l"/>
            <a:r>
              <a:rPr sz="800" b="1" i="0">
                <a:solidFill>
                  <a:srgbClr val="23A55A"/>
                </a:solidFill>
                <a:latin typeface="Arial"/>
              </a:rPr>
              <a:t>Carlo  </a:t>
            </a:r>
            <a:r>
              <a:rPr sz="600" b="0" i="0">
                <a:solidFill>
                  <a:srgbClr val="949BA4"/>
                </a:solidFill>
                <a:latin typeface="Arial"/>
              </a:rPr>
              <a:t>Today at 9:12 PM</a:t>
            </a:r>
          </a:p>
        </p:txBody>
      </p:sp>
      <p:sp>
        <p:nvSpPr>
          <p:cNvPr id="17" name="TextBox 16"/>
          <p:cNvSpPr txBox="1"/>
          <p:nvPr/>
        </p:nvSpPr>
        <p:spPr>
          <a:xfrm>
            <a:off x="5257800" y="2807208"/>
            <a:ext cx="1709927" cy="137160"/>
          </a:xfrm>
          <a:prstGeom prst="rect">
            <a:avLst/>
          </a:prstGeom>
          <a:noFill/>
        </p:spPr>
        <p:txBody>
          <a:bodyPr wrap="square" lIns="0" rIns="0" tIns="0" bIns="0" anchor="t">
            <a:spAutoFit/>
          </a:bodyPr>
          <a:lstStyle/>
          <a:p>
            <a:pPr algn="l"/>
            <a:r>
              <a:rPr sz="800" b="0" i="0">
                <a:solidFill>
                  <a:srgbClr val="DBDEE1"/>
                </a:solidFill>
                <a:latin typeface="Arial"/>
              </a:rPr>
              <a:t>anyone have the reviewer link?</a:t>
            </a:r>
          </a:p>
        </p:txBody>
      </p:sp>
      <p:sp>
        <p:nvSpPr>
          <p:cNvPr id="18" name="Oval 17"/>
          <p:cNvSpPr/>
          <p:nvPr/>
        </p:nvSpPr>
        <p:spPr>
          <a:xfrm>
            <a:off x="4892040" y="3127248"/>
            <a:ext cx="292608" cy="292608"/>
          </a:xfrm>
          <a:prstGeom prst="ellipse">
            <a:avLst/>
          </a:prstGeom>
          <a:solidFill>
            <a:srgbClr val="EB4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57800" y="3127248"/>
            <a:ext cx="1737360" cy="146304"/>
          </a:xfrm>
          <a:prstGeom prst="rect">
            <a:avLst/>
          </a:prstGeom>
          <a:noFill/>
        </p:spPr>
        <p:txBody>
          <a:bodyPr wrap="square" lIns="0" rIns="0" tIns="0" bIns="0" anchor="t">
            <a:spAutoFit/>
          </a:bodyPr>
          <a:lstStyle/>
          <a:p>
            <a:pPr algn="l"/>
            <a:r>
              <a:rPr sz="800" b="1" i="0">
                <a:solidFill>
                  <a:srgbClr val="EB459E"/>
                </a:solidFill>
                <a:latin typeface="Arial"/>
              </a:rPr>
              <a:t>Mika  </a:t>
            </a:r>
            <a:r>
              <a:rPr sz="600" b="0" i="0">
                <a:solidFill>
                  <a:srgbClr val="949BA4"/>
                </a:solidFill>
                <a:latin typeface="Arial"/>
              </a:rPr>
              <a:t>Today at 9:12 PM</a:t>
            </a:r>
          </a:p>
        </p:txBody>
      </p:sp>
      <p:sp>
        <p:nvSpPr>
          <p:cNvPr id="20" name="TextBox 19"/>
          <p:cNvSpPr txBox="1"/>
          <p:nvPr/>
        </p:nvSpPr>
        <p:spPr>
          <a:xfrm>
            <a:off x="5257800" y="3282696"/>
            <a:ext cx="1709927" cy="137160"/>
          </a:xfrm>
          <a:prstGeom prst="rect">
            <a:avLst/>
          </a:prstGeom>
          <a:noFill/>
        </p:spPr>
        <p:txBody>
          <a:bodyPr wrap="square" lIns="0" rIns="0" tIns="0" bIns="0" anchor="t">
            <a:spAutoFit/>
          </a:bodyPr>
          <a:lstStyle/>
          <a:p>
            <a:pPr algn="l"/>
            <a:r>
              <a:rPr sz="800" b="0" i="0">
                <a:solidFill>
                  <a:srgbClr val="DBDEE1"/>
                </a:solidFill>
                <a:latin typeface="Arial"/>
              </a:rPr>
              <a:t>sent it in #general</a:t>
            </a:r>
          </a:p>
        </p:txBody>
      </p:sp>
      <p:sp>
        <p:nvSpPr>
          <p:cNvPr id="21" name="Oval 20"/>
          <p:cNvSpPr/>
          <p:nvPr/>
        </p:nvSpPr>
        <p:spPr>
          <a:xfrm>
            <a:off x="4892040" y="3602736"/>
            <a:ext cx="292608" cy="292608"/>
          </a:xfrm>
          <a:prstGeom prst="ellipse">
            <a:avLst/>
          </a:prstGeom>
          <a:solidFill>
            <a:srgbClr val="23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57800" y="3602736"/>
            <a:ext cx="1737360" cy="146304"/>
          </a:xfrm>
          <a:prstGeom prst="rect">
            <a:avLst/>
          </a:prstGeom>
          <a:noFill/>
        </p:spPr>
        <p:txBody>
          <a:bodyPr wrap="square" lIns="0" rIns="0" tIns="0" bIns="0" anchor="t">
            <a:spAutoFit/>
          </a:bodyPr>
          <a:lstStyle/>
          <a:p>
            <a:pPr algn="l"/>
            <a:r>
              <a:rPr sz="800" b="1" i="0">
                <a:solidFill>
                  <a:srgbClr val="23A55A"/>
                </a:solidFill>
                <a:latin typeface="Arial"/>
              </a:rPr>
              <a:t>Carlo  </a:t>
            </a:r>
            <a:r>
              <a:rPr sz="600" b="0" i="0">
                <a:solidFill>
                  <a:srgbClr val="949BA4"/>
                </a:solidFill>
                <a:latin typeface="Arial"/>
              </a:rPr>
              <a:t>Today at 9:12 PM</a:t>
            </a:r>
          </a:p>
        </p:txBody>
      </p:sp>
      <p:sp>
        <p:nvSpPr>
          <p:cNvPr id="23" name="TextBox 22"/>
          <p:cNvSpPr txBox="1"/>
          <p:nvPr/>
        </p:nvSpPr>
        <p:spPr>
          <a:xfrm>
            <a:off x="5257800" y="3758184"/>
            <a:ext cx="1709927" cy="137160"/>
          </a:xfrm>
          <a:prstGeom prst="rect">
            <a:avLst/>
          </a:prstGeom>
          <a:noFill/>
        </p:spPr>
        <p:txBody>
          <a:bodyPr wrap="square" lIns="0" rIns="0" tIns="0" bIns="0" anchor="t">
            <a:spAutoFit/>
          </a:bodyPr>
          <a:lstStyle/>
          <a:p>
            <a:pPr algn="l"/>
            <a:r>
              <a:rPr sz="800" b="0" i="0">
                <a:solidFill>
                  <a:srgbClr val="DBDEE1"/>
                </a:solidFill>
                <a:latin typeface="Arial"/>
              </a:rPr>
              <a:t>thanks!!</a:t>
            </a:r>
          </a:p>
        </p:txBody>
      </p:sp>
      <p:cxnSp>
        <p:nvCxnSpPr>
          <p:cNvPr id="24" name="Connector 23"/>
          <p:cNvCxnSpPr/>
          <p:nvPr/>
        </p:nvCxnSpPr>
        <p:spPr>
          <a:xfrm flipV="1">
            <a:off x="5038344" y="4169663"/>
            <a:ext cx="0" cy="128016"/>
          </a:xfrm>
          <a:prstGeom prst="line">
            <a:avLst/>
          </a:prstGeom>
          <a:ln w="15875">
            <a:solidFill>
              <a:srgbClr val="80848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38344" y="4169663"/>
            <a:ext cx="182880" cy="0"/>
          </a:xfrm>
          <a:prstGeom prst="line">
            <a:avLst/>
          </a:prstGeom>
          <a:ln w="15875">
            <a:solidFill>
              <a:srgbClr val="80848E"/>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5257800" y="4096511"/>
            <a:ext cx="137160" cy="137160"/>
          </a:xfrm>
          <a:prstGeom prst="ellipse">
            <a:avLst/>
          </a:prstGeom>
          <a:solidFill>
            <a:srgbClr val="F0B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40680" y="4087368"/>
            <a:ext cx="1545335" cy="146304"/>
          </a:xfrm>
          <a:prstGeom prst="rect">
            <a:avLst/>
          </a:prstGeom>
          <a:noFill/>
        </p:spPr>
        <p:txBody>
          <a:bodyPr wrap="square" lIns="0" rIns="0" tIns="0" bIns="0" anchor="t">
            <a:spAutoFit/>
          </a:bodyPr>
          <a:lstStyle/>
          <a:p>
            <a:pPr algn="l"/>
            <a:r>
              <a:rPr sz="700" b="1" i="0">
                <a:solidFill>
                  <a:srgbClr val="F0B232"/>
                </a:solidFill>
                <a:latin typeface="Arial"/>
              </a:rPr>
              <a:t>@Bea </a:t>
            </a:r>
            <a:r>
              <a:rPr sz="700" b="0" i="0">
                <a:solidFill>
                  <a:srgbClr val="B5BAC1"/>
                </a:solidFill>
                <a:latin typeface="Arial"/>
              </a:rPr>
              <a:t>What time is the UX quiz…</a:t>
            </a:r>
          </a:p>
        </p:txBody>
      </p:sp>
      <p:sp>
        <p:nvSpPr>
          <p:cNvPr id="28" name="Rounded Rectangle 27"/>
          <p:cNvSpPr/>
          <p:nvPr/>
        </p:nvSpPr>
        <p:spPr>
          <a:xfrm>
            <a:off x="4837176" y="4032503"/>
            <a:ext cx="2167127" cy="246888"/>
          </a:xfrm>
          <a:prstGeom prst="roundRect">
            <a:avLst>
              <a:gd name="adj" fmla="val 30000"/>
            </a:avLst>
          </a:prstGeom>
          <a:noFill/>
          <a:ln w="25400">
            <a:solidFill>
              <a:srgbClr val="2EB8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892040" y="4325112"/>
            <a:ext cx="292608" cy="292608"/>
          </a:xfrm>
          <a:prstGeom prst="ellipse">
            <a:avLst/>
          </a:prstGeom>
          <a:solidFill>
            <a:srgbClr val="586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57800" y="4325112"/>
            <a:ext cx="1737360" cy="146304"/>
          </a:xfrm>
          <a:prstGeom prst="rect">
            <a:avLst/>
          </a:prstGeom>
          <a:noFill/>
        </p:spPr>
        <p:txBody>
          <a:bodyPr wrap="square" lIns="0" rIns="0" tIns="0" bIns="0" anchor="t">
            <a:spAutoFit/>
          </a:bodyPr>
          <a:lstStyle/>
          <a:p>
            <a:pPr algn="l"/>
            <a:r>
              <a:rPr sz="800" b="1" i="0">
                <a:solidFill>
                  <a:srgbClr val="5865F2"/>
                </a:solidFill>
                <a:latin typeface="Arial"/>
              </a:rPr>
              <a:t>You  </a:t>
            </a:r>
            <a:r>
              <a:rPr sz="600" b="0" i="0">
                <a:solidFill>
                  <a:srgbClr val="949BA4"/>
                </a:solidFill>
                <a:latin typeface="Arial"/>
              </a:rPr>
              <a:t>Today at 9:12 PM</a:t>
            </a:r>
          </a:p>
        </p:txBody>
      </p:sp>
      <p:sp>
        <p:nvSpPr>
          <p:cNvPr id="31" name="TextBox 30"/>
          <p:cNvSpPr txBox="1"/>
          <p:nvPr/>
        </p:nvSpPr>
        <p:spPr>
          <a:xfrm>
            <a:off x="5257800" y="4480559"/>
            <a:ext cx="1709927" cy="137160"/>
          </a:xfrm>
          <a:prstGeom prst="rect">
            <a:avLst/>
          </a:prstGeom>
          <a:noFill/>
        </p:spPr>
        <p:txBody>
          <a:bodyPr wrap="square" lIns="0" rIns="0" tIns="0" bIns="0" anchor="t">
            <a:spAutoFit/>
          </a:bodyPr>
          <a:lstStyle/>
          <a:p>
            <a:pPr algn="l"/>
            <a:r>
              <a:rPr sz="800" b="0" i="0">
                <a:solidFill>
                  <a:srgbClr val="DBDEE1"/>
                </a:solidFill>
                <a:latin typeface="Arial"/>
              </a:rPr>
              <a:t>10:30, same room as last week</a:t>
            </a:r>
          </a:p>
        </p:txBody>
      </p:sp>
      <p:sp>
        <p:nvSpPr>
          <p:cNvPr id="32" name="Rectangle 31"/>
          <p:cNvSpPr/>
          <p:nvPr/>
        </p:nvSpPr>
        <p:spPr>
          <a:xfrm>
            <a:off x="4892040" y="5522976"/>
            <a:ext cx="2057400" cy="237744"/>
          </a:xfrm>
          <a:prstGeom prst="rect">
            <a:avLst/>
          </a:prstGeom>
          <a:solidFill>
            <a:srgbClr val="2B2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0" tIns="0" bIns="0"/>
          <a:lstStyle/>
          <a:p>
            <a:pPr algn="l"/>
            <a:r>
              <a:rPr sz="700" b="0" i="0">
                <a:solidFill>
                  <a:srgbClr val="B5BAC1"/>
                </a:solidFill>
                <a:latin typeface="Arial"/>
              </a:rPr>
              <a:t>Replying to Bea</a:t>
            </a:r>
          </a:p>
        </p:txBody>
      </p:sp>
      <p:sp>
        <p:nvSpPr>
          <p:cNvPr id="33" name="Rounded Rectangle 32"/>
          <p:cNvSpPr/>
          <p:nvPr/>
        </p:nvSpPr>
        <p:spPr>
          <a:xfrm>
            <a:off x="4892040" y="5779008"/>
            <a:ext cx="2057400" cy="310896"/>
          </a:xfrm>
          <a:prstGeom prst="roundRect">
            <a:avLst>
              <a:gd name="adj" fmla="val 30000"/>
            </a:avLst>
          </a:prstGeom>
          <a:solidFill>
            <a:srgbClr val="383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0" tIns="0" bIns="0"/>
          <a:lstStyle/>
          <a:p>
            <a:pPr algn="l"/>
            <a:r>
              <a:rPr sz="800" b="0" i="0">
                <a:solidFill>
                  <a:srgbClr val="949BA4"/>
                </a:solidFill>
                <a:latin typeface="Arial"/>
              </a:rPr>
              <a:t>Message #ux-reviewer</a:t>
            </a:r>
          </a:p>
        </p:txBody>
      </p:sp>
      <p:sp>
        <p:nvSpPr>
          <p:cNvPr id="34" name="TextBox 33"/>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5865F2"/>
                </a:solidFill>
                <a:latin typeface="Arial"/>
              </a:rPr>
              <a:t>EVERYDAY EXAMPLE  ·  DISCORD</a:t>
            </a:r>
          </a:p>
        </p:txBody>
      </p:sp>
      <p:sp>
        <p:nvSpPr>
          <p:cNvPr id="35" name="TextBox 34"/>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Let the screen remember</a:t>
            </a:r>
          </a:p>
        </p:txBody>
      </p:sp>
      <p:sp>
        <p:nvSpPr>
          <p:cNvPr id="36" name="TextBox 35"/>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By the time you reply, the question may have scrolled away. Discord shows it right above your answer (green).</a:t>
            </a:r>
          </a:p>
          <a:p>
            <a:pPr algn="l">
              <a:spcAft>
                <a:spcPts val="900"/>
              </a:spcAft>
            </a:pPr>
            <a:r>
              <a:rPr sz="1400" b="0" i="0">
                <a:solidFill>
                  <a:srgbClr val="333333"/>
                </a:solidFill>
                <a:latin typeface="Arial"/>
              </a:rPr>
              <a:t>Working memory is small and fades in seconds, so show people what they need instead of making them recall it.</a:t>
            </a:r>
          </a:p>
        </p:txBody>
      </p:sp>
      <p:sp>
        <p:nvSpPr>
          <p:cNvPr id="37" name="TextBox 36"/>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16645888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EB196-4439-DE3D-58EF-41F4FAFCB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C4F40-BF0E-58EB-FE99-78F339FAF243}"/>
              </a:ext>
            </a:extLst>
          </p:cNvPr>
          <p:cNvSpPr>
            <a:spLocks noGrp="1"/>
          </p:cNvSpPr>
          <p:nvPr>
            <p:ph type="title"/>
          </p:nvPr>
        </p:nvSpPr>
        <p:spPr/>
        <p:txBody>
          <a:bodyPr anchor="ctr">
            <a:normAutofit/>
          </a:bodyPr>
          <a:lstStyle/>
          <a:p>
            <a:r>
              <a:rPr lang="en-PH" b="1" dirty="0">
                <a:solidFill>
                  <a:srgbClr val="002060"/>
                </a:solidFill>
                <a:latin typeface="Bebas Neue" panose="020B0606020202050201" pitchFamily="34" charset="0"/>
              </a:rPr>
              <a:t>Zeigarnik Effect</a:t>
            </a:r>
            <a:endParaRPr b="1" dirty="0">
              <a:solidFill>
                <a:srgbClr val="002060"/>
              </a:solidFill>
              <a:latin typeface="Bebas Neue" panose="020B0606020202050201" pitchFamily="34" charset="0"/>
            </a:endParaRPr>
          </a:p>
        </p:txBody>
      </p:sp>
      <p:pic>
        <p:nvPicPr>
          <p:cNvPr id="4" name="Picture 3" descr="A screenshot of a phone&#10;&#10;AI-generated content may be incorrect.">
            <a:extLst>
              <a:ext uri="{FF2B5EF4-FFF2-40B4-BE49-F238E27FC236}">
                <a16:creationId xmlns:a16="http://schemas.microsoft.com/office/drawing/2014/main" id="{1C7B1C87-EE8A-0001-23EA-ADAD7481A4BA}"/>
              </a:ext>
            </a:extLst>
          </p:cNvPr>
          <p:cNvPicPr preferRelativeResize="0">
            <a:picLocks/>
          </p:cNvPicPr>
          <p:nvPr/>
        </p:nvPicPr>
        <p:blipFill>
          <a:blip r:embed="rId3"/>
          <a:stretch>
            <a:fillRect/>
          </a:stretch>
        </p:blipFill>
        <p:spPr>
          <a:xfrm>
            <a:off x="609600" y="1600200"/>
            <a:ext cx="3628800" cy="47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ounded Rectangle 4"/>
          <p:cNvSpPr/>
          <p:nvPr/>
        </p:nvSpPr>
        <p:spPr>
          <a:xfrm>
            <a:off x="4709160" y="1371600"/>
            <a:ext cx="2423160" cy="4937760"/>
          </a:xfrm>
          <a:prstGeom prst="roundRect">
            <a:avLst>
              <a:gd name="adj" fmla="val 11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82312" y="1444752"/>
            <a:ext cx="2276856" cy="4791456"/>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46420" y="1508760"/>
            <a:ext cx="548640" cy="118872"/>
          </a:xfrm>
          <a:prstGeom prst="roundRect">
            <a:avLst>
              <a:gd name="adj" fmla="val 50000"/>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65192" y="1499616"/>
            <a:ext cx="548640" cy="146304"/>
          </a:xfrm>
          <a:prstGeom prst="rect">
            <a:avLst/>
          </a:prstGeom>
          <a:noFill/>
        </p:spPr>
        <p:txBody>
          <a:bodyPr wrap="square" lIns="0" rIns="0" tIns="0" bIns="0" anchor="t">
            <a:spAutoFit/>
          </a:bodyPr>
          <a:lstStyle/>
          <a:p>
            <a:pPr algn="l"/>
            <a:r>
              <a:rPr sz="700" b="1" i="0">
                <a:solidFill>
                  <a:srgbClr val="111111"/>
                </a:solidFill>
                <a:latin typeface="Arial"/>
              </a:rPr>
              <a:t>9:41</a:t>
            </a:r>
          </a:p>
        </p:txBody>
      </p:sp>
      <p:sp>
        <p:nvSpPr>
          <p:cNvPr id="9" name="TextBox 8"/>
          <p:cNvSpPr txBox="1"/>
          <p:nvPr/>
        </p:nvSpPr>
        <p:spPr>
          <a:xfrm>
            <a:off x="4919472" y="1719072"/>
            <a:ext cx="1371600" cy="228600"/>
          </a:xfrm>
          <a:prstGeom prst="rect">
            <a:avLst/>
          </a:prstGeom>
          <a:noFill/>
        </p:spPr>
        <p:txBody>
          <a:bodyPr wrap="square" lIns="0" rIns="0" tIns="0" bIns="0" anchor="t">
            <a:spAutoFit/>
          </a:bodyPr>
          <a:lstStyle/>
          <a:p>
            <a:pPr algn="l"/>
            <a:r>
              <a:rPr sz="1200" b="1" i="0">
                <a:solidFill>
                  <a:srgbClr val="222222"/>
                </a:solidFill>
                <a:latin typeface="Arial"/>
              </a:rPr>
              <a:t>Instagram</a:t>
            </a:r>
          </a:p>
        </p:txBody>
      </p:sp>
      <p:sp>
        <p:nvSpPr>
          <p:cNvPr id="10" name="Heart 9"/>
          <p:cNvSpPr/>
          <p:nvPr/>
        </p:nvSpPr>
        <p:spPr>
          <a:xfrm>
            <a:off x="6492240" y="1755648"/>
            <a:ext cx="164592" cy="148132"/>
          </a:xfrm>
          <a:prstGeom prst="heart">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sosceles Triangle 10"/>
          <p:cNvSpPr/>
          <p:nvPr/>
        </p:nvSpPr>
        <p:spPr>
          <a:xfrm rot="5400000">
            <a:off x="6766560" y="1754733"/>
            <a:ext cx="148132" cy="131673"/>
          </a:xfrm>
          <a:prstGeom prst="triangle">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892040" y="2066544"/>
            <a:ext cx="457200" cy="457200"/>
          </a:xfrm>
          <a:prstGeom prst="ellipse">
            <a:avLst/>
          </a:prstGeom>
          <a:noFill/>
          <a:ln w="25400">
            <a:solidFill>
              <a:srgbClr val="DBD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946904" y="2121408"/>
            <a:ext cx="347472" cy="347472"/>
          </a:xfrm>
          <a:prstGeom prst="ellipse">
            <a:avLst/>
          </a:prstGeom>
          <a:solidFill>
            <a:srgbClr val="C7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2560320"/>
            <a:ext cx="548640" cy="137160"/>
          </a:xfrm>
          <a:prstGeom prst="rect">
            <a:avLst/>
          </a:prstGeom>
          <a:noFill/>
        </p:spPr>
        <p:txBody>
          <a:bodyPr wrap="square" lIns="0" rIns="0" tIns="0" bIns="0" anchor="t">
            <a:spAutoFit/>
          </a:bodyPr>
          <a:lstStyle/>
          <a:p>
            <a:pPr algn="ctr"/>
            <a:r>
              <a:rPr sz="600" b="0" i="0">
                <a:solidFill>
                  <a:srgbClr val="222222"/>
                </a:solidFill>
                <a:latin typeface="Arial"/>
              </a:rPr>
              <a:t>Your story</a:t>
            </a:r>
          </a:p>
        </p:txBody>
      </p:sp>
      <p:sp>
        <p:nvSpPr>
          <p:cNvPr id="15" name="Oval 14"/>
          <p:cNvSpPr/>
          <p:nvPr/>
        </p:nvSpPr>
        <p:spPr>
          <a:xfrm>
            <a:off x="5440680" y="2066544"/>
            <a:ext cx="457200" cy="457200"/>
          </a:xfrm>
          <a:prstGeom prst="ellipse">
            <a:avLst/>
          </a:prstGeom>
          <a:noFill/>
          <a:ln w="25400">
            <a:solidFill>
              <a:srgbClr val="C135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495544" y="2121408"/>
            <a:ext cx="347472" cy="347472"/>
          </a:xfrm>
          <a:prstGeom prst="ellipse">
            <a:avLst/>
          </a:prstGeom>
          <a:solidFill>
            <a:srgbClr val="F4A2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0" y="2560320"/>
            <a:ext cx="548640" cy="137160"/>
          </a:xfrm>
          <a:prstGeom prst="rect">
            <a:avLst/>
          </a:prstGeom>
          <a:noFill/>
        </p:spPr>
        <p:txBody>
          <a:bodyPr wrap="square" lIns="0" rIns="0" tIns="0" bIns="0" anchor="t">
            <a:spAutoFit/>
          </a:bodyPr>
          <a:lstStyle/>
          <a:p>
            <a:pPr algn="ctr"/>
            <a:r>
              <a:rPr sz="600" b="0" i="0">
                <a:solidFill>
                  <a:srgbClr val="222222"/>
                </a:solidFill>
                <a:latin typeface="Arial"/>
              </a:rPr>
              <a:t>mika</a:t>
            </a:r>
          </a:p>
        </p:txBody>
      </p:sp>
      <p:sp>
        <p:nvSpPr>
          <p:cNvPr id="18" name="Oval 17"/>
          <p:cNvSpPr/>
          <p:nvPr/>
        </p:nvSpPr>
        <p:spPr>
          <a:xfrm>
            <a:off x="5989320" y="2066544"/>
            <a:ext cx="457200" cy="457200"/>
          </a:xfrm>
          <a:prstGeom prst="ellipse">
            <a:avLst/>
          </a:prstGeom>
          <a:noFill/>
          <a:ln w="25400">
            <a:solidFill>
              <a:srgbClr val="C135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044184" y="2121408"/>
            <a:ext cx="347472" cy="347472"/>
          </a:xfrm>
          <a:prstGeom prst="ellipse">
            <a:avLst/>
          </a:prstGeom>
          <a:solidFill>
            <a:srgbClr val="9C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0" y="2560320"/>
            <a:ext cx="548640" cy="137160"/>
          </a:xfrm>
          <a:prstGeom prst="rect">
            <a:avLst/>
          </a:prstGeom>
          <a:noFill/>
        </p:spPr>
        <p:txBody>
          <a:bodyPr wrap="square" lIns="0" rIns="0" tIns="0" bIns="0" anchor="t">
            <a:spAutoFit/>
          </a:bodyPr>
          <a:lstStyle/>
          <a:p>
            <a:pPr algn="ctr"/>
            <a:r>
              <a:rPr sz="600" b="0" i="0">
                <a:solidFill>
                  <a:srgbClr val="222222"/>
                </a:solidFill>
                <a:latin typeface="Arial"/>
              </a:rPr>
              <a:t>carlo</a:t>
            </a:r>
          </a:p>
        </p:txBody>
      </p:sp>
      <p:sp>
        <p:nvSpPr>
          <p:cNvPr id="21" name="Oval 20"/>
          <p:cNvSpPr/>
          <p:nvPr/>
        </p:nvSpPr>
        <p:spPr>
          <a:xfrm>
            <a:off x="6537960" y="2066544"/>
            <a:ext cx="457200" cy="457200"/>
          </a:xfrm>
          <a:prstGeom prst="ellipse">
            <a:avLst/>
          </a:prstGeom>
          <a:noFill/>
          <a:ln w="25400">
            <a:solidFill>
              <a:srgbClr val="C135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92824" y="2121408"/>
            <a:ext cx="347472" cy="347472"/>
          </a:xfrm>
          <a:prstGeom prst="ellipse">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560320"/>
            <a:ext cx="548640" cy="137160"/>
          </a:xfrm>
          <a:prstGeom prst="rect">
            <a:avLst/>
          </a:prstGeom>
          <a:noFill/>
        </p:spPr>
        <p:txBody>
          <a:bodyPr wrap="square" lIns="0" rIns="0" tIns="0" bIns="0" anchor="t">
            <a:spAutoFit/>
          </a:bodyPr>
          <a:lstStyle/>
          <a:p>
            <a:pPr algn="ctr"/>
            <a:r>
              <a:rPr sz="600" b="0" i="0">
                <a:solidFill>
                  <a:srgbClr val="222222"/>
                </a:solidFill>
                <a:latin typeface="Arial"/>
              </a:rPr>
              <a:t>bea</a:t>
            </a:r>
          </a:p>
        </p:txBody>
      </p:sp>
      <p:sp>
        <p:nvSpPr>
          <p:cNvPr id="24" name="Rounded Rectangle 23"/>
          <p:cNvSpPr/>
          <p:nvPr/>
        </p:nvSpPr>
        <p:spPr>
          <a:xfrm>
            <a:off x="4873752" y="2816352"/>
            <a:ext cx="2093975" cy="713232"/>
          </a:xfrm>
          <a:prstGeom prst="roundRect">
            <a:avLst>
              <a:gd name="adj" fmla="val 12000"/>
            </a:avLst>
          </a:prstGeom>
          <a:solidFill>
            <a:srgbClr val="FFFFFF"/>
          </a:solidFill>
          <a:ln w="12700">
            <a:solidFill>
              <a:srgbClr val="DBD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65192" y="2926080"/>
            <a:ext cx="493776" cy="493776"/>
          </a:xfrm>
          <a:prstGeom prst="rect">
            <a:avLst/>
          </a:prstGeom>
          <a:solidFill>
            <a:srgbClr val="F9D3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91084" y="3005084"/>
            <a:ext cx="79004" cy="79004"/>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975067" y="3133465"/>
            <a:ext cx="306141" cy="286390"/>
          </a:xfrm>
          <a:prstGeom prst="triangle">
            <a:avLst/>
          </a:prstGeom>
          <a:solidFill>
            <a:srgbClr val="7FB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5152826" y="3074212"/>
            <a:ext cx="306141" cy="345643"/>
          </a:xfrm>
          <a:prstGeom prst="triangle">
            <a:avLst/>
          </a:prstGeom>
          <a:solidFill>
            <a:srgbClr val="4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50408" y="2926080"/>
            <a:ext cx="1371600" cy="164592"/>
          </a:xfrm>
          <a:prstGeom prst="rect">
            <a:avLst/>
          </a:prstGeom>
          <a:noFill/>
        </p:spPr>
        <p:txBody>
          <a:bodyPr wrap="square" lIns="0" rIns="0" tIns="0" bIns="0" anchor="t">
            <a:spAutoFit/>
          </a:bodyPr>
          <a:lstStyle/>
          <a:p>
            <a:pPr algn="l"/>
            <a:r>
              <a:rPr sz="850" b="1" i="0">
                <a:solidFill>
                  <a:srgbClr val="222222"/>
                </a:solidFill>
                <a:latin typeface="Arial"/>
              </a:rPr>
              <a:t>Finish your post?</a:t>
            </a:r>
          </a:p>
        </p:txBody>
      </p:sp>
      <p:sp>
        <p:nvSpPr>
          <p:cNvPr id="30" name="TextBox 29"/>
          <p:cNvSpPr txBox="1"/>
          <p:nvPr/>
        </p:nvSpPr>
        <p:spPr>
          <a:xfrm>
            <a:off x="5550408" y="3090672"/>
            <a:ext cx="1371600" cy="146304"/>
          </a:xfrm>
          <a:prstGeom prst="rect">
            <a:avLst/>
          </a:prstGeom>
          <a:noFill/>
        </p:spPr>
        <p:txBody>
          <a:bodyPr wrap="square" lIns="0" rIns="0" tIns="0" bIns="0" anchor="t">
            <a:spAutoFit/>
          </a:bodyPr>
          <a:lstStyle/>
          <a:p>
            <a:pPr algn="l"/>
            <a:r>
              <a:rPr sz="700" b="0" i="0">
                <a:solidFill>
                  <a:srgbClr val="7F7F7F"/>
                </a:solidFill>
                <a:latin typeface="Arial"/>
              </a:rPr>
              <a:t>Your draft is saved</a:t>
            </a:r>
          </a:p>
        </p:txBody>
      </p:sp>
      <p:sp>
        <p:nvSpPr>
          <p:cNvPr id="31" name="TextBox 30"/>
          <p:cNvSpPr txBox="1"/>
          <p:nvPr/>
        </p:nvSpPr>
        <p:spPr>
          <a:xfrm>
            <a:off x="5550408" y="3255264"/>
            <a:ext cx="1371600" cy="164592"/>
          </a:xfrm>
          <a:prstGeom prst="rect">
            <a:avLst/>
          </a:prstGeom>
          <a:noFill/>
        </p:spPr>
        <p:txBody>
          <a:bodyPr wrap="square" lIns="0" rIns="0" tIns="0" bIns="0" anchor="t">
            <a:spAutoFit/>
          </a:bodyPr>
          <a:lstStyle/>
          <a:p>
            <a:pPr algn="l"/>
            <a:r>
              <a:rPr sz="800" b="1" i="0">
                <a:solidFill>
                  <a:srgbClr val="0095F6"/>
                </a:solidFill>
                <a:latin typeface="Arial"/>
              </a:rPr>
              <a:t>Continue editing</a:t>
            </a:r>
          </a:p>
        </p:txBody>
      </p:sp>
      <p:sp>
        <p:nvSpPr>
          <p:cNvPr id="32" name="Rounded Rectangle 31"/>
          <p:cNvSpPr/>
          <p:nvPr/>
        </p:nvSpPr>
        <p:spPr>
          <a:xfrm>
            <a:off x="4828032" y="2770632"/>
            <a:ext cx="2185415" cy="804672"/>
          </a:xfrm>
          <a:prstGeom prst="roundRect">
            <a:avLst>
              <a:gd name="adj" fmla="val 12000"/>
            </a:avLst>
          </a:prstGeom>
          <a:noFill/>
          <a:ln w="25400">
            <a:solidFill>
              <a:srgbClr val="2EB8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892040" y="3685032"/>
            <a:ext cx="274320" cy="274320"/>
          </a:xfrm>
          <a:prstGeom prst="ellipse">
            <a:avLst/>
          </a:prstGeom>
          <a:solidFill>
            <a:srgbClr val="9C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39512" y="3749040"/>
            <a:ext cx="1463040" cy="164592"/>
          </a:xfrm>
          <a:prstGeom prst="rect">
            <a:avLst/>
          </a:prstGeom>
          <a:noFill/>
        </p:spPr>
        <p:txBody>
          <a:bodyPr wrap="square" lIns="0" rIns="0" tIns="0" bIns="0" anchor="t">
            <a:spAutoFit/>
          </a:bodyPr>
          <a:lstStyle/>
          <a:p>
            <a:pPr algn="l"/>
            <a:r>
              <a:rPr sz="800" b="1" i="0">
                <a:solidFill>
                  <a:srgbClr val="222222"/>
                </a:solidFill>
                <a:latin typeface="Arial"/>
              </a:rPr>
              <a:t>carlo</a:t>
            </a:r>
          </a:p>
        </p:txBody>
      </p:sp>
      <p:sp>
        <p:nvSpPr>
          <p:cNvPr id="35" name="Rectangle 34"/>
          <p:cNvSpPr/>
          <p:nvPr/>
        </p:nvSpPr>
        <p:spPr>
          <a:xfrm>
            <a:off x="4782312" y="4050792"/>
            <a:ext cx="2276856" cy="1728215"/>
          </a:xfrm>
          <a:prstGeom prst="rect">
            <a:avLst/>
          </a:prstGeom>
          <a:solidFill>
            <a:srgbClr val="BFE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285036" y="4327306"/>
            <a:ext cx="364296" cy="364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4827849" y="4776642"/>
            <a:ext cx="1411650" cy="1002365"/>
          </a:xfrm>
          <a:prstGeom prst="triangle">
            <a:avLst/>
          </a:prstGeom>
          <a:solidFill>
            <a:srgbClr val="9CC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sosceles Triangle 37"/>
          <p:cNvSpPr/>
          <p:nvPr/>
        </p:nvSpPr>
        <p:spPr>
          <a:xfrm>
            <a:off x="5647517" y="4569256"/>
            <a:ext cx="1411650" cy="1209751"/>
          </a:xfrm>
          <a:prstGeom prst="triangle">
            <a:avLst/>
          </a:prstGeom>
          <a:solidFill>
            <a:srgbClr val="5E9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800600" y="5797296"/>
            <a:ext cx="2240279"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4800600" y="5797296"/>
            <a:ext cx="2240279" cy="0"/>
          </a:xfrm>
          <a:prstGeom prst="line">
            <a:avLst/>
          </a:prstGeom>
          <a:ln w="9525">
            <a:solidFill>
              <a:srgbClr val="DBDBDB"/>
            </a:solidFill>
          </a:ln>
        </p:spPr>
        <p:style>
          <a:lnRef idx="2">
            <a:schemeClr val="accent1"/>
          </a:lnRef>
          <a:fillRef idx="0">
            <a:schemeClr val="accent1"/>
          </a:fillRef>
          <a:effectRef idx="1">
            <a:schemeClr val="accent1"/>
          </a:effectRef>
          <a:fontRef idx="minor">
            <a:schemeClr val="tx1"/>
          </a:fontRef>
        </p:style>
      </p:cxnSp>
      <p:sp>
        <p:nvSpPr>
          <p:cNvPr id="41" name="Isosceles Triangle 40"/>
          <p:cNvSpPr/>
          <p:nvPr/>
        </p:nvSpPr>
        <p:spPr>
          <a:xfrm>
            <a:off x="4937760" y="5902452"/>
            <a:ext cx="173736" cy="86868"/>
          </a:xfrm>
          <a:prstGeom prst="triangl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967295" y="5982370"/>
            <a:ext cx="114665" cy="8686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385816" y="5902452"/>
            <a:ext cx="130302" cy="130302"/>
          </a:xfrm>
          <a:prstGeom prst="ellipse">
            <a:avLst/>
          </a:prstGeom>
          <a:noFill/>
          <a:ln w="1905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5493532" y="6010168"/>
            <a:ext cx="66020" cy="66020"/>
          </a:xfrm>
          <a:prstGeom prst="line">
            <a:avLst/>
          </a:prstGeom>
          <a:ln w="22225">
            <a:solidFill>
              <a:srgbClr val="262626"/>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833872" y="5902452"/>
            <a:ext cx="173736" cy="173736"/>
          </a:xfrm>
          <a:prstGeom prst="roundRect">
            <a:avLst>
              <a:gd name="adj" fmla="val 25000"/>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5920740" y="5945886"/>
            <a:ext cx="0" cy="86868"/>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877306" y="5989320"/>
            <a:ext cx="86868" cy="0"/>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281928" y="5902452"/>
            <a:ext cx="173736" cy="173736"/>
          </a:xfrm>
          <a:prstGeom prst="roundRect">
            <a:avLst>
              <a:gd name="adj" fmla="val 25000"/>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Isosceles Triangle 48"/>
          <p:cNvSpPr/>
          <p:nvPr/>
        </p:nvSpPr>
        <p:spPr>
          <a:xfrm rot="5400000">
            <a:off x="6339260" y="5954572"/>
            <a:ext cx="69494" cy="69494"/>
          </a:xfrm>
          <a:prstGeom prst="triangl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729984" y="5902452"/>
            <a:ext cx="173736" cy="173736"/>
          </a:xfrm>
          <a:prstGeom prst="ellipse">
            <a:avLst/>
          </a:prstGeom>
          <a:noFill/>
          <a:ln w="158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52360" y="1463040"/>
            <a:ext cx="4206240" cy="274320"/>
          </a:xfrm>
          <a:prstGeom prst="rect">
            <a:avLst/>
          </a:prstGeom>
          <a:noFill/>
        </p:spPr>
        <p:txBody>
          <a:bodyPr wrap="square" lIns="0" rIns="0" tIns="0" bIns="0" anchor="t">
            <a:spAutoFit/>
          </a:bodyPr>
          <a:lstStyle/>
          <a:p>
            <a:pPr algn="l"/>
            <a:r>
              <a:rPr sz="1100" b="1" i="0">
                <a:solidFill>
                  <a:srgbClr val="C13584"/>
                </a:solidFill>
                <a:latin typeface="Arial"/>
              </a:rPr>
              <a:t>EVERYDAY EXAMPLE  ·  INSTAGRAM</a:t>
            </a:r>
          </a:p>
        </p:txBody>
      </p:sp>
      <p:sp>
        <p:nvSpPr>
          <p:cNvPr id="52" name="TextBox 51"/>
          <p:cNvSpPr txBox="1"/>
          <p:nvPr/>
        </p:nvSpPr>
        <p:spPr>
          <a:xfrm>
            <a:off x="7452360" y="1792224"/>
            <a:ext cx="4206240" cy="777240"/>
          </a:xfrm>
          <a:prstGeom prst="rect">
            <a:avLst/>
          </a:prstGeom>
          <a:noFill/>
        </p:spPr>
        <p:txBody>
          <a:bodyPr wrap="square" lIns="0" rIns="0" tIns="0" bIns="0" anchor="t">
            <a:spAutoFit/>
          </a:bodyPr>
          <a:lstStyle/>
          <a:p>
            <a:pPr algn="l"/>
            <a:r>
              <a:rPr sz="2200" b="1" i="0">
                <a:solidFill>
                  <a:srgbClr val="002060"/>
                </a:solidFill>
                <a:latin typeface="Arial"/>
              </a:rPr>
              <a:t>Unfinished tasks stick with us</a:t>
            </a:r>
          </a:p>
        </p:txBody>
      </p:sp>
      <p:sp>
        <p:nvSpPr>
          <p:cNvPr id="53" name="TextBox 52"/>
          <p:cNvSpPr txBox="1"/>
          <p:nvPr/>
        </p:nvSpPr>
        <p:spPr>
          <a:xfrm>
            <a:off x="7452360" y="2377440"/>
            <a:ext cx="4206240" cy="2743200"/>
          </a:xfrm>
          <a:prstGeom prst="rect">
            <a:avLst/>
          </a:prstGeom>
          <a:noFill/>
        </p:spPr>
        <p:txBody>
          <a:bodyPr wrap="square" lIns="0" rIns="0" tIns="0" bIns="0" anchor="t">
            <a:spAutoFit/>
          </a:bodyPr>
          <a:lstStyle/>
          <a:p>
            <a:pPr algn="l">
              <a:spcAft>
                <a:spcPts val="900"/>
              </a:spcAft>
            </a:pPr>
            <a:r>
              <a:rPr sz="1400" b="0" i="0">
                <a:solidFill>
                  <a:srgbClr val="333333"/>
                </a:solidFill>
                <a:latin typeface="Arial"/>
              </a:rPr>
              <a:t>Leave a post halfway and Instagram keeps it as a draft, waiting for you.</a:t>
            </a:r>
          </a:p>
          <a:p>
            <a:pPr algn="l">
              <a:spcAft>
                <a:spcPts val="900"/>
              </a:spcAft>
            </a:pPr>
            <a:r>
              <a:rPr sz="1400" b="0" i="0">
                <a:solidFill>
                  <a:srgbClr val="333333"/>
                </a:solidFill>
                <a:latin typeface="Arial"/>
              </a:rPr>
              <a:t>An unfinished task nags at us more than a finished one, so people come back to complete it.</a:t>
            </a:r>
          </a:p>
        </p:txBody>
      </p:sp>
      <p:sp>
        <p:nvSpPr>
          <p:cNvPr id="54" name="TextBox 53"/>
          <p:cNvSpPr txBox="1"/>
          <p:nvPr/>
        </p:nvSpPr>
        <p:spPr>
          <a:xfrm>
            <a:off x="4709160" y="6473952"/>
            <a:ext cx="6949440" cy="228600"/>
          </a:xfrm>
          <a:prstGeom prst="rect">
            <a:avLst/>
          </a:prstGeom>
          <a:noFill/>
        </p:spPr>
        <p:txBody>
          <a:bodyPr wrap="square" lIns="0" rIns="0" tIns="0" bIns="0" anchor="t">
            <a:spAutoFit/>
          </a:bodyPr>
          <a:lstStyle/>
          <a:p>
            <a:pPr algn="l"/>
            <a:r>
              <a:rPr sz="900" b="0" i="1">
                <a:solidFill>
                  <a:srgbClr val="7F7F7F"/>
                </a:solidFill>
                <a:latin typeface="Arial"/>
              </a:rPr>
              <a:t>Simplified illustration of a familiar app screen, not an actual screenshot.</a:t>
            </a:r>
          </a:p>
        </p:txBody>
      </p:sp>
    </p:spTree>
    <p:extLst>
      <p:ext uri="{BB962C8B-B14F-4D97-AF65-F5344CB8AC3E}">
        <p14:creationId xmlns:p14="http://schemas.microsoft.com/office/powerpoint/2010/main" val="26367163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F24B7-37EF-3335-4AB7-BAFCDB83A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28EB0-6ABF-435D-724B-6750E5055A2B}"/>
              </a:ext>
            </a:extLst>
          </p:cNvPr>
          <p:cNvSpPr>
            <a:spLocks noGrp="1"/>
          </p:cNvSpPr>
          <p:nvPr>
            <p:ph type="title"/>
          </p:nvPr>
        </p:nvSpPr>
        <p:spPr/>
        <p:txBody>
          <a:bodyPr/>
          <a:lstStyle/>
          <a:p>
            <a:r>
              <a:rPr lang="en-PH" dirty="0"/>
              <a:t>SUMMARY</a:t>
            </a:r>
          </a:p>
        </p:txBody>
      </p:sp>
      <p:graphicFrame>
        <p:nvGraphicFramePr>
          <p:cNvPr id="4" name="Table 3">
            <a:extLst>
              <a:ext uri="{FF2B5EF4-FFF2-40B4-BE49-F238E27FC236}">
                <a16:creationId xmlns:a16="http://schemas.microsoft.com/office/drawing/2014/main" id="{DBAA2A07-B9BF-6B3C-B0E3-09A58AC2EEAB}"/>
              </a:ext>
            </a:extLst>
          </p:cNvPr>
          <p:cNvGraphicFramePr>
            <a:graphicFrameLocks noGrp="1"/>
          </p:cNvGraphicFramePr>
          <p:nvPr>
            <p:extLst>
              <p:ext uri="{D42A27DB-BD31-4B8C-83A1-F6EECF244321}">
                <p14:modId xmlns:p14="http://schemas.microsoft.com/office/powerpoint/2010/main" val="1954404411"/>
              </p:ext>
            </p:extLst>
          </p:nvPr>
        </p:nvGraphicFramePr>
        <p:xfrm>
          <a:off x="764770" y="1239547"/>
          <a:ext cx="10390908" cy="3977192"/>
        </p:xfrm>
        <a:graphic>
          <a:graphicData uri="http://schemas.openxmlformats.org/drawingml/2006/table">
            <a:tbl>
              <a:tblPr>
                <a:tableStyleId>{69CF1AB2-1976-4502-BF36-3FF5EA218861}</a:tableStyleId>
              </a:tblPr>
              <a:tblGrid>
                <a:gridCol w="2597727">
                  <a:extLst>
                    <a:ext uri="{9D8B030D-6E8A-4147-A177-3AD203B41FA5}">
                      <a16:colId xmlns:a16="http://schemas.microsoft.com/office/drawing/2014/main" val="970948522"/>
                    </a:ext>
                  </a:extLst>
                </a:gridCol>
                <a:gridCol w="2597727">
                  <a:extLst>
                    <a:ext uri="{9D8B030D-6E8A-4147-A177-3AD203B41FA5}">
                      <a16:colId xmlns:a16="http://schemas.microsoft.com/office/drawing/2014/main" val="2988539765"/>
                    </a:ext>
                  </a:extLst>
                </a:gridCol>
                <a:gridCol w="2597727">
                  <a:extLst>
                    <a:ext uri="{9D8B030D-6E8A-4147-A177-3AD203B41FA5}">
                      <a16:colId xmlns:a16="http://schemas.microsoft.com/office/drawing/2014/main" val="1758135421"/>
                    </a:ext>
                  </a:extLst>
                </a:gridCol>
                <a:gridCol w="2597727">
                  <a:extLst>
                    <a:ext uri="{9D8B030D-6E8A-4147-A177-3AD203B41FA5}">
                      <a16:colId xmlns:a16="http://schemas.microsoft.com/office/drawing/2014/main" val="52808"/>
                    </a:ext>
                  </a:extLst>
                </a:gridCol>
              </a:tblGrid>
              <a:tr h="102172">
                <a:tc>
                  <a:txBody>
                    <a:bodyPr/>
                    <a:lstStyle/>
                    <a:p>
                      <a:pPr algn="ctr">
                        <a:buNone/>
                      </a:pPr>
                      <a:r>
                        <a:rPr lang="en-PH" sz="2000" b="1" dirty="0">
                          <a:latin typeface="Century Gothic" panose="020B0502020202020204" pitchFamily="34" charset="0"/>
                        </a:rPr>
                        <a:t>Law</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Definition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Design Implication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Concrete Example (UI/UX)</a:t>
                      </a:r>
                      <a:endParaRPr lang="en-PH" sz="2000" dirty="0">
                        <a:latin typeface="Century Gothic" panose="020B0502020202020204" pitchFamily="34" charset="0"/>
                      </a:endParaRPr>
                    </a:p>
                  </a:txBody>
                  <a:tcPr marL="18937" marR="18937" marT="9469" marB="9469" anchor="ctr"/>
                </a:tc>
                <a:extLst>
                  <a:ext uri="{0D108BD9-81ED-4DB2-BD59-A6C34878D82A}">
                    <a16:rowId xmlns:a16="http://schemas.microsoft.com/office/drawing/2014/main" val="696663261"/>
                  </a:ext>
                </a:extLst>
              </a:tr>
              <a:tr h="314812">
                <a:tc>
                  <a:txBody>
                    <a:bodyPr/>
                    <a:lstStyle/>
                    <a:p>
                      <a:pPr>
                        <a:buNone/>
                      </a:pPr>
                      <a:r>
                        <a:rPr lang="en-PH" sz="2000" b="1" dirty="0">
                          <a:latin typeface="Century Gothic" panose="020B0502020202020204" pitchFamily="34" charset="0"/>
                        </a:rPr>
                        <a:t>Aesthetic-Usability Effect</a:t>
                      </a:r>
                      <a:endParaRPr lang="en-PH" sz="2000" dirty="0">
                        <a:latin typeface="Century Gothic" panose="020B0502020202020204" pitchFamily="34" charset="0"/>
                      </a:endParaRPr>
                    </a:p>
                  </a:txBody>
                  <a:tcPr marL="18937" marR="18937" marT="9469" marB="9469" anchor="ctr"/>
                </a:tc>
                <a:tc>
                  <a:txBody>
                    <a:bodyPr/>
                    <a:lstStyle/>
                    <a:p>
                      <a:pPr>
                        <a:buNone/>
                      </a:pPr>
                      <a:r>
                        <a:rPr lang="en-US" sz="1800" dirty="0">
                          <a:latin typeface="Libre Baskerville" panose="02000000000000000000" pitchFamily="2" charset="0"/>
                        </a:rPr>
                        <a:t>Users perceive attractive interfaces as easier to use.</a:t>
                      </a:r>
                    </a:p>
                  </a:txBody>
                  <a:tcPr marL="18937" marR="18937" marT="9469" marB="9469" anchor="ctr"/>
                </a:tc>
                <a:tc>
                  <a:txBody>
                    <a:bodyPr/>
                    <a:lstStyle/>
                    <a:p>
                      <a:pPr>
                        <a:buNone/>
                      </a:pPr>
                      <a:r>
                        <a:rPr lang="en-US" sz="1800" dirty="0">
                          <a:latin typeface="Libre Baskerville" panose="02000000000000000000" pitchFamily="2" charset="0"/>
                        </a:rPr>
                        <a:t>Make design visually appealing to build trust.</a:t>
                      </a:r>
                    </a:p>
                  </a:txBody>
                  <a:tcPr marL="18937" marR="18937" marT="9469" marB="9469" anchor="ctr"/>
                </a:tc>
                <a:tc>
                  <a:txBody>
                    <a:bodyPr/>
                    <a:lstStyle/>
                    <a:p>
                      <a:pPr>
                        <a:buNone/>
                      </a:pPr>
                      <a:r>
                        <a:rPr lang="en-US" sz="1800">
                          <a:latin typeface="Libre Baskerville" panose="02000000000000000000" pitchFamily="2" charset="0"/>
                        </a:rPr>
                        <a:t>Apple’s product pages: clean, beautiful layouts that feel “usable” even before interaction.</a:t>
                      </a:r>
                    </a:p>
                  </a:txBody>
                  <a:tcPr marL="18937" marR="18937" marT="9469" marB="9469" anchor="ctr"/>
                </a:tc>
                <a:extLst>
                  <a:ext uri="{0D108BD9-81ED-4DB2-BD59-A6C34878D82A}">
                    <a16:rowId xmlns:a16="http://schemas.microsoft.com/office/drawing/2014/main" val="78668094"/>
                  </a:ext>
                </a:extLst>
              </a:tr>
              <a:tr h="242164">
                <a:tc>
                  <a:txBody>
                    <a:bodyPr/>
                    <a:lstStyle/>
                    <a:p>
                      <a:pPr>
                        <a:buNone/>
                      </a:pPr>
                      <a:r>
                        <a:rPr lang="en-PH" sz="2000" b="1">
                          <a:latin typeface="Century Gothic" panose="020B0502020202020204" pitchFamily="34" charset="0"/>
                        </a:rPr>
                        <a:t>Doherty Threshold</a:t>
                      </a:r>
                      <a:endParaRPr lang="en-PH" sz="2000">
                        <a:latin typeface="Century Gothic" panose="020B0502020202020204" pitchFamily="34" charset="0"/>
                      </a:endParaRPr>
                    </a:p>
                  </a:txBody>
                  <a:tcPr marL="18937" marR="18937" marT="9469" marB="9469" anchor="ctr"/>
                </a:tc>
                <a:tc>
                  <a:txBody>
                    <a:bodyPr/>
                    <a:lstStyle/>
                    <a:p>
                      <a:pPr>
                        <a:buNone/>
                      </a:pPr>
                      <a:r>
                        <a:rPr lang="en-US" sz="1800" dirty="0">
                          <a:latin typeface="Libre Baskerville" panose="02000000000000000000" pitchFamily="2" charset="0"/>
                        </a:rPr>
                        <a:t>Productivity improves when system response time is under 400ms.</a:t>
                      </a:r>
                    </a:p>
                  </a:txBody>
                  <a:tcPr marL="18937" marR="18937" marT="9469" marB="9469" anchor="ctr"/>
                </a:tc>
                <a:tc>
                  <a:txBody>
                    <a:bodyPr/>
                    <a:lstStyle/>
                    <a:p>
                      <a:pPr>
                        <a:buNone/>
                      </a:pPr>
                      <a:r>
                        <a:rPr lang="en-US" sz="1800">
                          <a:latin typeface="Libre Baskerville" panose="02000000000000000000" pitchFamily="2" charset="0"/>
                        </a:rPr>
                        <a:t>Keep interactions snappy; show feedback if delay.</a:t>
                      </a:r>
                    </a:p>
                  </a:txBody>
                  <a:tcPr marL="18937" marR="18937" marT="9469" marB="9469" anchor="ctr"/>
                </a:tc>
                <a:tc>
                  <a:txBody>
                    <a:bodyPr/>
                    <a:lstStyle/>
                    <a:p>
                      <a:pPr>
                        <a:buNone/>
                      </a:pPr>
                      <a:r>
                        <a:rPr lang="en-US" sz="1800" dirty="0">
                          <a:latin typeface="Libre Baskerville" panose="02000000000000000000" pitchFamily="2" charset="0"/>
                        </a:rPr>
                        <a:t>Google search autocomplete updates instantly as you type.</a:t>
                      </a:r>
                    </a:p>
                  </a:txBody>
                  <a:tcPr marL="18937" marR="18937" marT="9469" marB="9469" anchor="ctr"/>
                </a:tc>
                <a:extLst>
                  <a:ext uri="{0D108BD9-81ED-4DB2-BD59-A6C34878D82A}">
                    <a16:rowId xmlns:a16="http://schemas.microsoft.com/office/drawing/2014/main" val="1452822223"/>
                  </a:ext>
                </a:extLst>
              </a:tr>
              <a:tr h="242164">
                <a:tc>
                  <a:txBody>
                    <a:bodyPr/>
                    <a:lstStyle/>
                    <a:p>
                      <a:pPr>
                        <a:buNone/>
                      </a:pPr>
                      <a:r>
                        <a:rPr lang="en-PH" sz="2000" b="1">
                          <a:latin typeface="Century Gothic" panose="020B0502020202020204" pitchFamily="34" charset="0"/>
                        </a:rPr>
                        <a:t>Fitts’s Law</a:t>
                      </a:r>
                      <a:endParaRPr lang="en-PH" sz="2000">
                        <a:latin typeface="Century Gothic" panose="020B0502020202020204" pitchFamily="34" charset="0"/>
                      </a:endParaRPr>
                    </a:p>
                  </a:txBody>
                  <a:tcPr marL="18937" marR="18937" marT="9469" marB="9469" anchor="ctr"/>
                </a:tc>
                <a:tc>
                  <a:txBody>
                    <a:bodyPr/>
                    <a:lstStyle/>
                    <a:p>
                      <a:pPr>
                        <a:buNone/>
                      </a:pPr>
                      <a:r>
                        <a:rPr lang="en-US" sz="1800" dirty="0">
                          <a:latin typeface="Libre Baskerville" panose="02000000000000000000" pitchFamily="2" charset="0"/>
                        </a:rPr>
                        <a:t>The time to reach a target depends on size and distance.</a:t>
                      </a:r>
                    </a:p>
                  </a:txBody>
                  <a:tcPr marL="18937" marR="18937" marT="9469" marB="9469" anchor="ctr"/>
                </a:tc>
                <a:tc>
                  <a:txBody>
                    <a:bodyPr/>
                    <a:lstStyle/>
                    <a:p>
                      <a:pPr>
                        <a:buNone/>
                      </a:pPr>
                      <a:r>
                        <a:rPr lang="en-US" sz="1800" dirty="0">
                          <a:latin typeface="Libre Baskerville" panose="02000000000000000000" pitchFamily="2" charset="0"/>
                        </a:rPr>
                        <a:t>Bigger, closer targets = easier interaction.</a:t>
                      </a:r>
                    </a:p>
                  </a:txBody>
                  <a:tcPr marL="18937" marR="18937" marT="9469" marB="9469" anchor="ctr"/>
                </a:tc>
                <a:tc>
                  <a:txBody>
                    <a:bodyPr/>
                    <a:lstStyle/>
                    <a:p>
                      <a:pPr>
                        <a:buNone/>
                      </a:pPr>
                      <a:r>
                        <a:rPr lang="en-US" sz="1800" dirty="0">
                          <a:latin typeface="Libre Baskerville" panose="02000000000000000000" pitchFamily="2" charset="0"/>
                        </a:rPr>
                        <a:t>Large “Send” button on mobile at thumb’s reach.</a:t>
                      </a:r>
                    </a:p>
                  </a:txBody>
                  <a:tcPr marL="18937" marR="18937" marT="9469" marB="9469" anchor="ctr"/>
                </a:tc>
                <a:extLst>
                  <a:ext uri="{0D108BD9-81ED-4DB2-BD59-A6C34878D82A}">
                    <a16:rowId xmlns:a16="http://schemas.microsoft.com/office/drawing/2014/main" val="3647380334"/>
                  </a:ext>
                </a:extLst>
              </a:tr>
            </a:tbl>
          </a:graphicData>
        </a:graphic>
      </p:graphicFrame>
    </p:spTree>
    <p:extLst>
      <p:ext uri="{BB962C8B-B14F-4D97-AF65-F5344CB8AC3E}">
        <p14:creationId xmlns:p14="http://schemas.microsoft.com/office/powerpoint/2010/main" val="35185409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8128B-3CE1-FDD3-43E6-AF3178DC8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6B2C4-E678-B8AF-C5EC-809AFC3B2309}"/>
              </a:ext>
            </a:extLst>
          </p:cNvPr>
          <p:cNvSpPr>
            <a:spLocks noGrp="1"/>
          </p:cNvSpPr>
          <p:nvPr>
            <p:ph type="title"/>
          </p:nvPr>
        </p:nvSpPr>
        <p:spPr/>
        <p:txBody>
          <a:bodyPr/>
          <a:lstStyle/>
          <a:p>
            <a:r>
              <a:rPr lang="en-PH" dirty="0"/>
              <a:t>SUMMARY</a:t>
            </a:r>
          </a:p>
        </p:txBody>
      </p:sp>
      <p:graphicFrame>
        <p:nvGraphicFramePr>
          <p:cNvPr id="4" name="Table 3">
            <a:extLst>
              <a:ext uri="{FF2B5EF4-FFF2-40B4-BE49-F238E27FC236}">
                <a16:creationId xmlns:a16="http://schemas.microsoft.com/office/drawing/2014/main" id="{349C6BFE-CA8B-68D0-F0B3-39F1227D683E}"/>
              </a:ext>
            </a:extLst>
          </p:cNvPr>
          <p:cNvGraphicFramePr>
            <a:graphicFrameLocks noGrp="1"/>
          </p:cNvGraphicFramePr>
          <p:nvPr>
            <p:extLst>
              <p:ext uri="{D42A27DB-BD31-4B8C-83A1-F6EECF244321}">
                <p14:modId xmlns:p14="http://schemas.microsoft.com/office/powerpoint/2010/main" val="1026102273"/>
              </p:ext>
            </p:extLst>
          </p:nvPr>
        </p:nvGraphicFramePr>
        <p:xfrm>
          <a:off x="764770" y="1239547"/>
          <a:ext cx="10390908" cy="4038152"/>
        </p:xfrm>
        <a:graphic>
          <a:graphicData uri="http://schemas.openxmlformats.org/drawingml/2006/table">
            <a:tbl>
              <a:tblPr>
                <a:tableStyleId>{69CF1AB2-1976-4502-BF36-3FF5EA218861}</a:tableStyleId>
              </a:tblPr>
              <a:tblGrid>
                <a:gridCol w="2597727">
                  <a:extLst>
                    <a:ext uri="{9D8B030D-6E8A-4147-A177-3AD203B41FA5}">
                      <a16:colId xmlns:a16="http://schemas.microsoft.com/office/drawing/2014/main" val="970948522"/>
                    </a:ext>
                  </a:extLst>
                </a:gridCol>
                <a:gridCol w="2597727">
                  <a:extLst>
                    <a:ext uri="{9D8B030D-6E8A-4147-A177-3AD203B41FA5}">
                      <a16:colId xmlns:a16="http://schemas.microsoft.com/office/drawing/2014/main" val="2988539765"/>
                    </a:ext>
                  </a:extLst>
                </a:gridCol>
                <a:gridCol w="2597727">
                  <a:extLst>
                    <a:ext uri="{9D8B030D-6E8A-4147-A177-3AD203B41FA5}">
                      <a16:colId xmlns:a16="http://schemas.microsoft.com/office/drawing/2014/main" val="1758135421"/>
                    </a:ext>
                  </a:extLst>
                </a:gridCol>
                <a:gridCol w="2597727">
                  <a:extLst>
                    <a:ext uri="{9D8B030D-6E8A-4147-A177-3AD203B41FA5}">
                      <a16:colId xmlns:a16="http://schemas.microsoft.com/office/drawing/2014/main" val="52808"/>
                    </a:ext>
                  </a:extLst>
                </a:gridCol>
              </a:tblGrid>
              <a:tr h="102172">
                <a:tc>
                  <a:txBody>
                    <a:bodyPr/>
                    <a:lstStyle/>
                    <a:p>
                      <a:pPr algn="ctr">
                        <a:buNone/>
                      </a:pPr>
                      <a:r>
                        <a:rPr lang="en-PH" sz="2000" b="1" dirty="0">
                          <a:latin typeface="Century Gothic" panose="020B0502020202020204" pitchFamily="34" charset="0"/>
                        </a:rPr>
                        <a:t>Law</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Definition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Design Implication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Concrete Example (UI/UX)</a:t>
                      </a:r>
                      <a:endParaRPr lang="en-PH" sz="2000" dirty="0">
                        <a:latin typeface="Century Gothic" panose="020B0502020202020204" pitchFamily="34" charset="0"/>
                      </a:endParaRPr>
                    </a:p>
                  </a:txBody>
                  <a:tcPr marL="18937" marR="18937" marT="9469" marB="9469" anchor="ctr"/>
                </a:tc>
                <a:extLst>
                  <a:ext uri="{0D108BD9-81ED-4DB2-BD59-A6C34878D82A}">
                    <a16:rowId xmlns:a16="http://schemas.microsoft.com/office/drawing/2014/main" val="696663261"/>
                  </a:ext>
                </a:extLst>
              </a:tr>
              <a:tr h="242164">
                <a:tc>
                  <a:txBody>
                    <a:bodyPr/>
                    <a:lstStyle/>
                    <a:p>
                      <a:pPr>
                        <a:buNone/>
                      </a:pPr>
                      <a:r>
                        <a:rPr lang="en-PH" sz="2000" b="1">
                          <a:latin typeface="Century Gothic" panose="020B0502020202020204" pitchFamily="34" charset="0"/>
                        </a:rPr>
                        <a:t>Goal-Gradient Effect</a:t>
                      </a:r>
                      <a:endParaRPr lang="en-PH" sz="200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Users work harder to complete a goal as they get closer.</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Use progress bars or completion trackers.</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Duolingo shows % progress toward daily streak goal.</a:t>
                      </a:r>
                    </a:p>
                  </a:txBody>
                  <a:tcPr marL="18937" marR="18937" marT="9469" marB="9469" anchor="ctr"/>
                </a:tc>
                <a:extLst>
                  <a:ext uri="{0D108BD9-81ED-4DB2-BD59-A6C34878D82A}">
                    <a16:rowId xmlns:a16="http://schemas.microsoft.com/office/drawing/2014/main" val="1729756690"/>
                  </a:ext>
                </a:extLst>
              </a:tr>
              <a:tr h="314812">
                <a:tc>
                  <a:txBody>
                    <a:bodyPr/>
                    <a:lstStyle/>
                    <a:p>
                      <a:pPr>
                        <a:buNone/>
                      </a:pPr>
                      <a:r>
                        <a:rPr lang="en-PH" sz="2000" b="1">
                          <a:latin typeface="Century Gothic" panose="020B0502020202020204" pitchFamily="34" charset="0"/>
                        </a:rPr>
                        <a:t>Hick’s Law</a:t>
                      </a:r>
                      <a:endParaRPr lang="en-PH" sz="200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a:solidFill>
                            <a:schemeClr val="dk1"/>
                          </a:solidFill>
                          <a:latin typeface="Libre Baskerville" panose="02000000000000000000" pitchFamily="2" charset="0"/>
                          <a:ea typeface="+mn-ea"/>
                          <a:cs typeface="+mn-cs"/>
                        </a:rPr>
                        <a:t>Decision time increases with number/complexity of choices.</a:t>
                      </a:r>
                    </a:p>
                  </a:txBody>
                  <a:tcPr marL="18937" marR="18937" marT="9469" marB="9469" anchor="ctr"/>
                </a:tc>
                <a:tc>
                  <a:txBody>
                    <a:bodyPr/>
                    <a:lstStyle/>
                    <a:p>
                      <a:pPr marL="0" algn="l" defTabSz="457200" rtl="0" eaLnBrk="1" latinLnBrk="0" hangingPunct="1">
                        <a:buNone/>
                      </a:pPr>
                      <a:r>
                        <a:rPr lang="en-US" sz="2000" kern="1200">
                          <a:solidFill>
                            <a:schemeClr val="dk1"/>
                          </a:solidFill>
                          <a:latin typeface="Libre Baskerville" panose="02000000000000000000" pitchFamily="2" charset="0"/>
                          <a:ea typeface="+mn-ea"/>
                          <a:cs typeface="+mn-cs"/>
                        </a:rPr>
                        <a:t>Reduce visible options; use categories.</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Netflix shows top categories (“Trending Now”) instead of dumping all movies.</a:t>
                      </a:r>
                    </a:p>
                  </a:txBody>
                  <a:tcPr marL="18937" marR="18937" marT="9469" marB="9469" anchor="ctr"/>
                </a:tc>
                <a:extLst>
                  <a:ext uri="{0D108BD9-81ED-4DB2-BD59-A6C34878D82A}">
                    <a16:rowId xmlns:a16="http://schemas.microsoft.com/office/drawing/2014/main" val="778734406"/>
                  </a:ext>
                </a:extLst>
              </a:tr>
              <a:tr h="242164">
                <a:tc>
                  <a:txBody>
                    <a:bodyPr/>
                    <a:lstStyle/>
                    <a:p>
                      <a:pPr>
                        <a:buNone/>
                      </a:pPr>
                      <a:r>
                        <a:rPr lang="en-PH" sz="2000" b="1" dirty="0">
                          <a:latin typeface="Century Gothic" panose="020B0502020202020204" pitchFamily="34" charset="0"/>
                        </a:rPr>
                        <a:t>Jakob’s Law</a:t>
                      </a:r>
                      <a:endParaRPr lang="en-PH" sz="2000" dirty="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a:solidFill>
                            <a:schemeClr val="dk1"/>
                          </a:solidFill>
                          <a:latin typeface="Libre Baskerville" panose="02000000000000000000" pitchFamily="2" charset="0"/>
                          <a:ea typeface="+mn-ea"/>
                          <a:cs typeface="+mn-cs"/>
                        </a:rPr>
                        <a:t>Users expect your design to work like familiar ones.</a:t>
                      </a:r>
                    </a:p>
                  </a:txBody>
                  <a:tcPr marL="18937" marR="18937" marT="9469" marB="9469" anchor="ctr"/>
                </a:tc>
                <a:tc>
                  <a:txBody>
                    <a:bodyPr/>
                    <a:lstStyle/>
                    <a:p>
                      <a:pPr marL="0" algn="l" defTabSz="457200" rtl="0" eaLnBrk="1" latinLnBrk="0" hangingPunct="1">
                        <a:buNone/>
                      </a:pPr>
                      <a:r>
                        <a:rPr lang="en-PH" sz="2000" kern="1200" dirty="0">
                          <a:solidFill>
                            <a:schemeClr val="dk1"/>
                          </a:solidFill>
                          <a:latin typeface="Libre Baskerville" panose="02000000000000000000" pitchFamily="2" charset="0"/>
                          <a:ea typeface="+mn-ea"/>
                          <a:cs typeface="+mn-cs"/>
                        </a:rPr>
                        <a:t>Follow common conventions.</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Shopping cart icon universally used for e-commerce.</a:t>
                      </a:r>
                    </a:p>
                  </a:txBody>
                  <a:tcPr marL="18937" marR="18937" marT="9469" marB="9469" anchor="ctr"/>
                </a:tc>
                <a:extLst>
                  <a:ext uri="{0D108BD9-81ED-4DB2-BD59-A6C34878D82A}">
                    <a16:rowId xmlns:a16="http://schemas.microsoft.com/office/drawing/2014/main" val="1182743171"/>
                  </a:ext>
                </a:extLst>
              </a:tr>
            </a:tbl>
          </a:graphicData>
        </a:graphic>
      </p:graphicFrame>
    </p:spTree>
    <p:extLst>
      <p:ext uri="{BB962C8B-B14F-4D97-AF65-F5344CB8AC3E}">
        <p14:creationId xmlns:p14="http://schemas.microsoft.com/office/powerpoint/2010/main" val="336521788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1B648-743A-BAEE-0B01-23E66734E0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0C55D-1561-DF58-4D25-F4DAD827C0A5}"/>
              </a:ext>
            </a:extLst>
          </p:cNvPr>
          <p:cNvSpPr>
            <a:spLocks noGrp="1"/>
          </p:cNvSpPr>
          <p:nvPr>
            <p:ph type="title"/>
          </p:nvPr>
        </p:nvSpPr>
        <p:spPr/>
        <p:txBody>
          <a:bodyPr/>
          <a:lstStyle/>
          <a:p>
            <a:r>
              <a:rPr lang="en-PH" dirty="0"/>
              <a:t>SUMMARY</a:t>
            </a:r>
          </a:p>
        </p:txBody>
      </p:sp>
      <p:graphicFrame>
        <p:nvGraphicFramePr>
          <p:cNvPr id="4" name="Table 3">
            <a:extLst>
              <a:ext uri="{FF2B5EF4-FFF2-40B4-BE49-F238E27FC236}">
                <a16:creationId xmlns:a16="http://schemas.microsoft.com/office/drawing/2014/main" id="{4B0D9EC0-B4A3-8B15-3FF7-816F14E9E57E}"/>
              </a:ext>
            </a:extLst>
          </p:cNvPr>
          <p:cNvGraphicFramePr>
            <a:graphicFrameLocks noGrp="1"/>
          </p:cNvGraphicFramePr>
          <p:nvPr>
            <p:extLst>
              <p:ext uri="{D42A27DB-BD31-4B8C-83A1-F6EECF244321}">
                <p14:modId xmlns:p14="http://schemas.microsoft.com/office/powerpoint/2010/main" val="517467248"/>
              </p:ext>
            </p:extLst>
          </p:nvPr>
        </p:nvGraphicFramePr>
        <p:xfrm>
          <a:off x="764770" y="1239547"/>
          <a:ext cx="10390908" cy="4342952"/>
        </p:xfrm>
        <a:graphic>
          <a:graphicData uri="http://schemas.openxmlformats.org/drawingml/2006/table">
            <a:tbl>
              <a:tblPr>
                <a:tableStyleId>{69CF1AB2-1976-4502-BF36-3FF5EA218861}</a:tableStyleId>
              </a:tblPr>
              <a:tblGrid>
                <a:gridCol w="2597727">
                  <a:extLst>
                    <a:ext uri="{9D8B030D-6E8A-4147-A177-3AD203B41FA5}">
                      <a16:colId xmlns:a16="http://schemas.microsoft.com/office/drawing/2014/main" val="970948522"/>
                    </a:ext>
                  </a:extLst>
                </a:gridCol>
                <a:gridCol w="2597727">
                  <a:extLst>
                    <a:ext uri="{9D8B030D-6E8A-4147-A177-3AD203B41FA5}">
                      <a16:colId xmlns:a16="http://schemas.microsoft.com/office/drawing/2014/main" val="2988539765"/>
                    </a:ext>
                  </a:extLst>
                </a:gridCol>
                <a:gridCol w="2597727">
                  <a:extLst>
                    <a:ext uri="{9D8B030D-6E8A-4147-A177-3AD203B41FA5}">
                      <a16:colId xmlns:a16="http://schemas.microsoft.com/office/drawing/2014/main" val="1758135421"/>
                    </a:ext>
                  </a:extLst>
                </a:gridCol>
                <a:gridCol w="2597727">
                  <a:extLst>
                    <a:ext uri="{9D8B030D-6E8A-4147-A177-3AD203B41FA5}">
                      <a16:colId xmlns:a16="http://schemas.microsoft.com/office/drawing/2014/main" val="52808"/>
                    </a:ext>
                  </a:extLst>
                </a:gridCol>
              </a:tblGrid>
              <a:tr h="102172">
                <a:tc>
                  <a:txBody>
                    <a:bodyPr/>
                    <a:lstStyle/>
                    <a:p>
                      <a:pPr algn="ctr">
                        <a:buNone/>
                      </a:pPr>
                      <a:r>
                        <a:rPr lang="en-PH" sz="2000" b="1" dirty="0">
                          <a:latin typeface="Century Gothic" panose="020B0502020202020204" pitchFamily="34" charset="0"/>
                        </a:rPr>
                        <a:t>Law</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Definition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Design Implication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Concrete Example (UI/UX)</a:t>
                      </a:r>
                      <a:endParaRPr lang="en-PH" sz="2000" dirty="0">
                        <a:latin typeface="Century Gothic" panose="020B0502020202020204" pitchFamily="34" charset="0"/>
                      </a:endParaRPr>
                    </a:p>
                  </a:txBody>
                  <a:tcPr marL="18937" marR="18937" marT="9469" marB="9469" anchor="ctr"/>
                </a:tc>
                <a:extLst>
                  <a:ext uri="{0D108BD9-81ED-4DB2-BD59-A6C34878D82A}">
                    <a16:rowId xmlns:a16="http://schemas.microsoft.com/office/drawing/2014/main" val="696663261"/>
                  </a:ext>
                </a:extLst>
              </a:tr>
              <a:tr h="242164">
                <a:tc>
                  <a:txBody>
                    <a:bodyPr/>
                    <a:lstStyle/>
                    <a:p>
                      <a:pPr>
                        <a:buNone/>
                      </a:pPr>
                      <a:r>
                        <a:rPr lang="en-PH" sz="2000" b="1" dirty="0">
                          <a:latin typeface="Century Gothic" panose="020B0502020202020204" pitchFamily="34" charset="0"/>
                        </a:rPr>
                        <a:t>Law of Common Region</a:t>
                      </a:r>
                      <a:endParaRPr lang="en-PH" sz="2000" dirty="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Elements within a boundary are perceived as related.</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Use cards, boxes, containers for grouping.</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Google Drive groups files within shaded cards.</a:t>
                      </a:r>
                    </a:p>
                  </a:txBody>
                  <a:tcPr marL="18937" marR="18937" marT="9469" marB="9469" anchor="ctr"/>
                </a:tc>
                <a:extLst>
                  <a:ext uri="{0D108BD9-81ED-4DB2-BD59-A6C34878D82A}">
                    <a16:rowId xmlns:a16="http://schemas.microsoft.com/office/drawing/2014/main" val="780432631"/>
                  </a:ext>
                </a:extLst>
              </a:tr>
              <a:tr h="242164">
                <a:tc>
                  <a:txBody>
                    <a:bodyPr/>
                    <a:lstStyle/>
                    <a:p>
                      <a:pPr>
                        <a:buNone/>
                      </a:pPr>
                      <a:r>
                        <a:rPr lang="en-PH" sz="2000" b="1" dirty="0">
                          <a:latin typeface="Century Gothic" panose="020B0502020202020204" pitchFamily="34" charset="0"/>
                        </a:rPr>
                        <a:t>Law of </a:t>
                      </a:r>
                      <a:r>
                        <a:rPr lang="en-PH" sz="2000" b="1" dirty="0" err="1">
                          <a:latin typeface="Century Gothic" panose="020B0502020202020204" pitchFamily="34" charset="0"/>
                        </a:rPr>
                        <a:t>Prägnanz</a:t>
                      </a:r>
                      <a:r>
                        <a:rPr lang="en-PH" sz="2000" b="1" dirty="0">
                          <a:latin typeface="Century Gothic" panose="020B0502020202020204" pitchFamily="34" charset="0"/>
                        </a:rPr>
                        <a:t> (Simplicity)</a:t>
                      </a:r>
                      <a:endParaRPr lang="en-PH" sz="2000" dirty="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a:solidFill>
                            <a:schemeClr val="dk1"/>
                          </a:solidFill>
                          <a:latin typeface="Libre Baskerville" panose="02000000000000000000" pitchFamily="2" charset="0"/>
                          <a:ea typeface="+mn-ea"/>
                          <a:cs typeface="+mn-cs"/>
                        </a:rPr>
                        <a:t>People perceive complex images in the simplest form possible.</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Use simple, clear visuals; avoid clutter.</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Logo designs like WWF panda — minimal yet recognizable.</a:t>
                      </a:r>
                    </a:p>
                  </a:txBody>
                  <a:tcPr marL="18937" marR="18937" marT="9469" marB="9469" anchor="ctr"/>
                </a:tc>
                <a:extLst>
                  <a:ext uri="{0D108BD9-81ED-4DB2-BD59-A6C34878D82A}">
                    <a16:rowId xmlns:a16="http://schemas.microsoft.com/office/drawing/2014/main" val="1952402768"/>
                  </a:ext>
                </a:extLst>
              </a:tr>
              <a:tr h="242164">
                <a:tc>
                  <a:txBody>
                    <a:bodyPr/>
                    <a:lstStyle/>
                    <a:p>
                      <a:pPr>
                        <a:buNone/>
                      </a:pPr>
                      <a:r>
                        <a:rPr lang="en-PH" sz="2000" b="1" dirty="0">
                          <a:latin typeface="Century Gothic" panose="020B0502020202020204" pitchFamily="34" charset="0"/>
                        </a:rPr>
                        <a:t>Law of Proximity</a:t>
                      </a:r>
                      <a:endParaRPr lang="en-PH" sz="2000" dirty="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a:solidFill>
                            <a:schemeClr val="dk1"/>
                          </a:solidFill>
                          <a:latin typeface="Libre Baskerville" panose="02000000000000000000" pitchFamily="2" charset="0"/>
                          <a:ea typeface="+mn-ea"/>
                          <a:cs typeface="+mn-cs"/>
                        </a:rPr>
                        <a:t>Objects close together are seen as related.</a:t>
                      </a:r>
                    </a:p>
                  </a:txBody>
                  <a:tcPr marL="18937" marR="18937" marT="9469" marB="9469" anchor="ctr"/>
                </a:tc>
                <a:tc>
                  <a:txBody>
                    <a:bodyPr/>
                    <a:lstStyle/>
                    <a:p>
                      <a:pPr marL="0" algn="l" defTabSz="457200" rtl="0" eaLnBrk="1" latinLnBrk="0" hangingPunct="1">
                        <a:buNone/>
                      </a:pPr>
                      <a:r>
                        <a:rPr lang="en-US" sz="2000" kern="1200">
                          <a:solidFill>
                            <a:schemeClr val="dk1"/>
                          </a:solidFill>
                          <a:latin typeface="Libre Baskerville" panose="02000000000000000000" pitchFamily="2" charset="0"/>
                          <a:ea typeface="+mn-ea"/>
                          <a:cs typeface="+mn-cs"/>
                        </a:rPr>
                        <a:t>Place related buttons and labels near each other.</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Form fields grouped with their labels right above them.</a:t>
                      </a:r>
                    </a:p>
                  </a:txBody>
                  <a:tcPr marL="18937" marR="18937" marT="9469" marB="9469" anchor="ctr"/>
                </a:tc>
                <a:extLst>
                  <a:ext uri="{0D108BD9-81ED-4DB2-BD59-A6C34878D82A}">
                    <a16:rowId xmlns:a16="http://schemas.microsoft.com/office/drawing/2014/main" val="1642910713"/>
                  </a:ext>
                </a:extLst>
              </a:tr>
            </a:tbl>
          </a:graphicData>
        </a:graphic>
      </p:graphicFrame>
    </p:spTree>
    <p:extLst>
      <p:ext uri="{BB962C8B-B14F-4D97-AF65-F5344CB8AC3E}">
        <p14:creationId xmlns:p14="http://schemas.microsoft.com/office/powerpoint/2010/main" val="14435613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6E2B4-BEAD-5AF6-D615-94294EA84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DFF50E-A2BD-F411-ED41-FB53C936B6CD}"/>
              </a:ext>
            </a:extLst>
          </p:cNvPr>
          <p:cNvSpPr>
            <a:spLocks noGrp="1"/>
          </p:cNvSpPr>
          <p:nvPr>
            <p:ph type="title"/>
          </p:nvPr>
        </p:nvSpPr>
        <p:spPr/>
        <p:txBody>
          <a:bodyPr/>
          <a:lstStyle/>
          <a:p>
            <a:r>
              <a:rPr lang="en-PH" dirty="0"/>
              <a:t>SUMMARY</a:t>
            </a:r>
          </a:p>
        </p:txBody>
      </p:sp>
      <p:graphicFrame>
        <p:nvGraphicFramePr>
          <p:cNvPr id="4" name="Table 3">
            <a:extLst>
              <a:ext uri="{FF2B5EF4-FFF2-40B4-BE49-F238E27FC236}">
                <a16:creationId xmlns:a16="http://schemas.microsoft.com/office/drawing/2014/main" id="{19EC39D5-36CC-B0BC-4897-CED0B8E33A99}"/>
              </a:ext>
            </a:extLst>
          </p:cNvPr>
          <p:cNvGraphicFramePr>
            <a:graphicFrameLocks noGrp="1"/>
          </p:cNvGraphicFramePr>
          <p:nvPr>
            <p:extLst>
              <p:ext uri="{D42A27DB-BD31-4B8C-83A1-F6EECF244321}">
                <p14:modId xmlns:p14="http://schemas.microsoft.com/office/powerpoint/2010/main" val="2741799"/>
              </p:ext>
            </p:extLst>
          </p:nvPr>
        </p:nvGraphicFramePr>
        <p:xfrm>
          <a:off x="764770" y="1239547"/>
          <a:ext cx="10390908" cy="4038152"/>
        </p:xfrm>
        <a:graphic>
          <a:graphicData uri="http://schemas.openxmlformats.org/drawingml/2006/table">
            <a:tbl>
              <a:tblPr>
                <a:tableStyleId>{69CF1AB2-1976-4502-BF36-3FF5EA218861}</a:tableStyleId>
              </a:tblPr>
              <a:tblGrid>
                <a:gridCol w="2597727">
                  <a:extLst>
                    <a:ext uri="{9D8B030D-6E8A-4147-A177-3AD203B41FA5}">
                      <a16:colId xmlns:a16="http://schemas.microsoft.com/office/drawing/2014/main" val="970948522"/>
                    </a:ext>
                  </a:extLst>
                </a:gridCol>
                <a:gridCol w="2597727">
                  <a:extLst>
                    <a:ext uri="{9D8B030D-6E8A-4147-A177-3AD203B41FA5}">
                      <a16:colId xmlns:a16="http://schemas.microsoft.com/office/drawing/2014/main" val="2988539765"/>
                    </a:ext>
                  </a:extLst>
                </a:gridCol>
                <a:gridCol w="2597727">
                  <a:extLst>
                    <a:ext uri="{9D8B030D-6E8A-4147-A177-3AD203B41FA5}">
                      <a16:colId xmlns:a16="http://schemas.microsoft.com/office/drawing/2014/main" val="1758135421"/>
                    </a:ext>
                  </a:extLst>
                </a:gridCol>
                <a:gridCol w="2597727">
                  <a:extLst>
                    <a:ext uri="{9D8B030D-6E8A-4147-A177-3AD203B41FA5}">
                      <a16:colId xmlns:a16="http://schemas.microsoft.com/office/drawing/2014/main" val="52808"/>
                    </a:ext>
                  </a:extLst>
                </a:gridCol>
              </a:tblGrid>
              <a:tr h="102172">
                <a:tc>
                  <a:txBody>
                    <a:bodyPr/>
                    <a:lstStyle/>
                    <a:p>
                      <a:pPr algn="ctr">
                        <a:buNone/>
                      </a:pPr>
                      <a:r>
                        <a:rPr lang="en-PH" sz="2000" b="1" dirty="0">
                          <a:latin typeface="Century Gothic" panose="020B0502020202020204" pitchFamily="34" charset="0"/>
                        </a:rPr>
                        <a:t>Law</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Definition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Design Implication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Concrete Example (UI/UX)</a:t>
                      </a:r>
                      <a:endParaRPr lang="en-PH" sz="2000" dirty="0">
                        <a:latin typeface="Century Gothic" panose="020B0502020202020204" pitchFamily="34" charset="0"/>
                      </a:endParaRPr>
                    </a:p>
                  </a:txBody>
                  <a:tcPr marL="18937" marR="18937" marT="9469" marB="9469" anchor="ctr"/>
                </a:tc>
                <a:extLst>
                  <a:ext uri="{0D108BD9-81ED-4DB2-BD59-A6C34878D82A}">
                    <a16:rowId xmlns:a16="http://schemas.microsoft.com/office/drawing/2014/main" val="696663261"/>
                  </a:ext>
                </a:extLst>
              </a:tr>
              <a:tr h="242164">
                <a:tc>
                  <a:txBody>
                    <a:bodyPr/>
                    <a:lstStyle/>
                    <a:p>
                      <a:pPr>
                        <a:buNone/>
                      </a:pPr>
                      <a:r>
                        <a:rPr lang="en-PH" sz="2000" b="1">
                          <a:latin typeface="Century Gothic" panose="020B0502020202020204" pitchFamily="34" charset="0"/>
                        </a:rPr>
                        <a:t>Law of Similarity</a:t>
                      </a:r>
                      <a:endParaRPr lang="en-PH" sz="200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Similar-looking items are perceived as related.</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Use consistent styles for categories.</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Spotify playlists use same card style, different images.</a:t>
                      </a:r>
                    </a:p>
                  </a:txBody>
                  <a:tcPr marL="18937" marR="18937" marT="9469" marB="9469" anchor="ctr"/>
                </a:tc>
                <a:extLst>
                  <a:ext uri="{0D108BD9-81ED-4DB2-BD59-A6C34878D82A}">
                    <a16:rowId xmlns:a16="http://schemas.microsoft.com/office/drawing/2014/main" val="1726808911"/>
                  </a:ext>
                </a:extLst>
              </a:tr>
              <a:tr h="169515">
                <a:tc>
                  <a:txBody>
                    <a:bodyPr/>
                    <a:lstStyle/>
                    <a:p>
                      <a:pPr>
                        <a:buNone/>
                      </a:pPr>
                      <a:r>
                        <a:rPr lang="en-PH" sz="2000" b="1">
                          <a:latin typeface="Century Gothic" panose="020B0502020202020204" pitchFamily="34" charset="0"/>
                        </a:rPr>
                        <a:t>Law of Uniform Connectedness</a:t>
                      </a:r>
                      <a:endParaRPr lang="en-PH" sz="200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a:solidFill>
                            <a:schemeClr val="dk1"/>
                          </a:solidFill>
                          <a:latin typeface="Libre Baskerville" panose="02000000000000000000" pitchFamily="2" charset="0"/>
                          <a:ea typeface="+mn-ea"/>
                          <a:cs typeface="+mn-cs"/>
                        </a:rPr>
                        <a:t>Elements connected by lines/visuals are related.</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Use connectors to guide relationships.</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Flowcharts in UI builders (Figma auto-connect lines).</a:t>
                      </a:r>
                    </a:p>
                  </a:txBody>
                  <a:tcPr marL="18937" marR="18937" marT="9469" marB="9469" anchor="ctr"/>
                </a:tc>
                <a:extLst>
                  <a:ext uri="{0D108BD9-81ED-4DB2-BD59-A6C34878D82A}">
                    <a16:rowId xmlns:a16="http://schemas.microsoft.com/office/drawing/2014/main" val="1101428561"/>
                  </a:ext>
                </a:extLst>
              </a:tr>
              <a:tr h="169515">
                <a:tc>
                  <a:txBody>
                    <a:bodyPr/>
                    <a:lstStyle/>
                    <a:p>
                      <a:pPr>
                        <a:buNone/>
                      </a:pPr>
                      <a:r>
                        <a:rPr lang="en-PH" sz="2000" b="1">
                          <a:latin typeface="Century Gothic" panose="020B0502020202020204" pitchFamily="34" charset="0"/>
                        </a:rPr>
                        <a:t>Miller’s Law</a:t>
                      </a:r>
                      <a:endParaRPr lang="en-PH" sz="200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People can hold ~7±2 items in working memory.</a:t>
                      </a:r>
                    </a:p>
                  </a:txBody>
                  <a:tcPr marL="18937" marR="18937" marT="9469" marB="9469" anchor="ctr"/>
                </a:tc>
                <a:tc>
                  <a:txBody>
                    <a:bodyPr/>
                    <a:lstStyle/>
                    <a:p>
                      <a:pPr marL="0" algn="l" defTabSz="457200" rtl="0" eaLnBrk="1" latinLnBrk="0" hangingPunct="1">
                        <a:buNone/>
                      </a:pPr>
                      <a:r>
                        <a:rPr lang="en-US" sz="2000" kern="1200">
                          <a:solidFill>
                            <a:schemeClr val="dk1"/>
                          </a:solidFill>
                          <a:latin typeface="Libre Baskerville" panose="02000000000000000000" pitchFamily="2" charset="0"/>
                          <a:ea typeface="+mn-ea"/>
                          <a:cs typeface="+mn-cs"/>
                        </a:rPr>
                        <a:t>Don’t overload with options; chunk info.</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Menu with 5–7 items max on navigation bar.</a:t>
                      </a:r>
                    </a:p>
                  </a:txBody>
                  <a:tcPr marL="18937" marR="18937" marT="9469" marB="9469" anchor="ctr"/>
                </a:tc>
                <a:extLst>
                  <a:ext uri="{0D108BD9-81ED-4DB2-BD59-A6C34878D82A}">
                    <a16:rowId xmlns:a16="http://schemas.microsoft.com/office/drawing/2014/main" val="2786646039"/>
                  </a:ext>
                </a:extLst>
              </a:tr>
            </a:tbl>
          </a:graphicData>
        </a:graphic>
      </p:graphicFrame>
    </p:spTree>
    <p:extLst>
      <p:ext uri="{BB962C8B-B14F-4D97-AF65-F5344CB8AC3E}">
        <p14:creationId xmlns:p14="http://schemas.microsoft.com/office/powerpoint/2010/main" val="14400255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5788E-390F-3422-054A-436FF429F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B5E55-49A9-0294-FAEB-43B6C5B2779D}"/>
              </a:ext>
            </a:extLst>
          </p:cNvPr>
          <p:cNvSpPr>
            <a:spLocks noGrp="1"/>
          </p:cNvSpPr>
          <p:nvPr>
            <p:ph type="title"/>
          </p:nvPr>
        </p:nvSpPr>
        <p:spPr/>
        <p:txBody>
          <a:bodyPr/>
          <a:lstStyle/>
          <a:p>
            <a:r>
              <a:rPr lang="en-PH" dirty="0"/>
              <a:t>SUMMARY</a:t>
            </a:r>
          </a:p>
        </p:txBody>
      </p:sp>
      <p:graphicFrame>
        <p:nvGraphicFramePr>
          <p:cNvPr id="4" name="Table 3">
            <a:extLst>
              <a:ext uri="{FF2B5EF4-FFF2-40B4-BE49-F238E27FC236}">
                <a16:creationId xmlns:a16="http://schemas.microsoft.com/office/drawing/2014/main" id="{A54AE05A-B99C-D649-2A5A-60C626B2CCB9}"/>
              </a:ext>
            </a:extLst>
          </p:cNvPr>
          <p:cNvGraphicFramePr>
            <a:graphicFrameLocks noGrp="1"/>
          </p:cNvGraphicFramePr>
          <p:nvPr>
            <p:extLst>
              <p:ext uri="{D42A27DB-BD31-4B8C-83A1-F6EECF244321}">
                <p14:modId xmlns:p14="http://schemas.microsoft.com/office/powerpoint/2010/main" val="3275900240"/>
              </p:ext>
            </p:extLst>
          </p:nvPr>
        </p:nvGraphicFramePr>
        <p:xfrm>
          <a:off x="764770" y="1239547"/>
          <a:ext cx="10390908" cy="3733352"/>
        </p:xfrm>
        <a:graphic>
          <a:graphicData uri="http://schemas.openxmlformats.org/drawingml/2006/table">
            <a:tbl>
              <a:tblPr>
                <a:tableStyleId>{69CF1AB2-1976-4502-BF36-3FF5EA218861}</a:tableStyleId>
              </a:tblPr>
              <a:tblGrid>
                <a:gridCol w="2597727">
                  <a:extLst>
                    <a:ext uri="{9D8B030D-6E8A-4147-A177-3AD203B41FA5}">
                      <a16:colId xmlns:a16="http://schemas.microsoft.com/office/drawing/2014/main" val="970948522"/>
                    </a:ext>
                  </a:extLst>
                </a:gridCol>
                <a:gridCol w="2597727">
                  <a:extLst>
                    <a:ext uri="{9D8B030D-6E8A-4147-A177-3AD203B41FA5}">
                      <a16:colId xmlns:a16="http://schemas.microsoft.com/office/drawing/2014/main" val="2988539765"/>
                    </a:ext>
                  </a:extLst>
                </a:gridCol>
                <a:gridCol w="2597727">
                  <a:extLst>
                    <a:ext uri="{9D8B030D-6E8A-4147-A177-3AD203B41FA5}">
                      <a16:colId xmlns:a16="http://schemas.microsoft.com/office/drawing/2014/main" val="1758135421"/>
                    </a:ext>
                  </a:extLst>
                </a:gridCol>
                <a:gridCol w="2597727">
                  <a:extLst>
                    <a:ext uri="{9D8B030D-6E8A-4147-A177-3AD203B41FA5}">
                      <a16:colId xmlns:a16="http://schemas.microsoft.com/office/drawing/2014/main" val="52808"/>
                    </a:ext>
                  </a:extLst>
                </a:gridCol>
              </a:tblGrid>
              <a:tr h="102172">
                <a:tc>
                  <a:txBody>
                    <a:bodyPr/>
                    <a:lstStyle/>
                    <a:p>
                      <a:pPr algn="ctr">
                        <a:buNone/>
                      </a:pPr>
                      <a:r>
                        <a:rPr lang="en-PH" sz="2000" b="1" dirty="0">
                          <a:latin typeface="Century Gothic" panose="020B0502020202020204" pitchFamily="34" charset="0"/>
                        </a:rPr>
                        <a:t>Law</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Definition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Design Implication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Example (UI/UX)</a:t>
                      </a:r>
                      <a:endParaRPr lang="en-PH" sz="2000" dirty="0">
                        <a:latin typeface="Century Gothic" panose="020B0502020202020204" pitchFamily="34" charset="0"/>
                      </a:endParaRPr>
                    </a:p>
                  </a:txBody>
                  <a:tcPr marL="18937" marR="18937" marT="9469" marB="9469" anchor="ctr"/>
                </a:tc>
                <a:extLst>
                  <a:ext uri="{0D108BD9-81ED-4DB2-BD59-A6C34878D82A}">
                    <a16:rowId xmlns:a16="http://schemas.microsoft.com/office/drawing/2014/main" val="696663261"/>
                  </a:ext>
                </a:extLst>
              </a:tr>
              <a:tr h="242164">
                <a:tc>
                  <a:txBody>
                    <a:bodyPr/>
                    <a:lstStyle/>
                    <a:p>
                      <a:pPr>
                        <a:buNone/>
                      </a:pPr>
                      <a:r>
                        <a:rPr lang="en-PH" sz="2000" b="1">
                          <a:latin typeface="Century Gothic" panose="020B0502020202020204" pitchFamily="34" charset="0"/>
                        </a:rPr>
                        <a:t>Occam’s Razor</a:t>
                      </a:r>
                      <a:endParaRPr lang="en-PH" sz="200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Simpler solutions are preferable to complex ones.</a:t>
                      </a:r>
                    </a:p>
                  </a:txBody>
                  <a:tcPr marL="18937" marR="18937" marT="9469" marB="9469" anchor="ctr"/>
                </a:tc>
                <a:tc>
                  <a:txBody>
                    <a:bodyPr/>
                    <a:lstStyle/>
                    <a:p>
                      <a:pPr marL="0" algn="l" defTabSz="457200" rtl="0" eaLnBrk="1" latinLnBrk="0" hangingPunct="1">
                        <a:buNone/>
                      </a:pPr>
                      <a:r>
                        <a:rPr lang="en-PH" sz="2000" kern="1200" dirty="0">
                          <a:solidFill>
                            <a:schemeClr val="dk1"/>
                          </a:solidFill>
                          <a:latin typeface="Libre Baskerville" panose="02000000000000000000" pitchFamily="2" charset="0"/>
                          <a:ea typeface="+mn-ea"/>
                          <a:cs typeface="+mn-cs"/>
                        </a:rPr>
                        <a:t>Don’t over-design features.</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Google homepage; one search box, nothing else.</a:t>
                      </a:r>
                    </a:p>
                  </a:txBody>
                  <a:tcPr marL="18937" marR="18937" marT="9469" marB="9469" anchor="ctr"/>
                </a:tc>
                <a:extLst>
                  <a:ext uri="{0D108BD9-81ED-4DB2-BD59-A6C34878D82A}">
                    <a16:rowId xmlns:a16="http://schemas.microsoft.com/office/drawing/2014/main" val="1910982417"/>
                  </a:ext>
                </a:extLst>
              </a:tr>
              <a:tr h="242164">
                <a:tc>
                  <a:txBody>
                    <a:bodyPr/>
                    <a:lstStyle/>
                    <a:p>
                      <a:pPr>
                        <a:buNone/>
                      </a:pPr>
                      <a:r>
                        <a:rPr lang="en-PH" sz="2000" b="1">
                          <a:latin typeface="Century Gothic" panose="020B0502020202020204" pitchFamily="34" charset="0"/>
                        </a:rPr>
                        <a:t>Pareto Principle (80/20 Rule)</a:t>
                      </a:r>
                      <a:endParaRPr lang="en-PH" sz="200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a:solidFill>
                            <a:schemeClr val="dk1"/>
                          </a:solidFill>
                          <a:latin typeface="Libre Baskerville" panose="02000000000000000000" pitchFamily="2" charset="0"/>
                          <a:ea typeface="+mn-ea"/>
                          <a:cs typeface="+mn-cs"/>
                        </a:rPr>
                        <a:t>80% of effects come from 20% of causes.</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Focus on key user tasks.</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Instagram emphasizes posting &amp; scrolling, not settings.</a:t>
                      </a:r>
                    </a:p>
                  </a:txBody>
                  <a:tcPr marL="18937" marR="18937" marT="9469" marB="9469" anchor="ctr"/>
                </a:tc>
                <a:extLst>
                  <a:ext uri="{0D108BD9-81ED-4DB2-BD59-A6C34878D82A}">
                    <a16:rowId xmlns:a16="http://schemas.microsoft.com/office/drawing/2014/main" val="2322894774"/>
                  </a:ext>
                </a:extLst>
              </a:tr>
              <a:tr h="242164">
                <a:tc>
                  <a:txBody>
                    <a:bodyPr/>
                    <a:lstStyle/>
                    <a:p>
                      <a:pPr>
                        <a:buNone/>
                      </a:pPr>
                      <a:r>
                        <a:rPr lang="en-PH" sz="2000" b="1">
                          <a:latin typeface="Century Gothic" panose="020B0502020202020204" pitchFamily="34" charset="0"/>
                        </a:rPr>
                        <a:t>Parkinson’s Law</a:t>
                      </a:r>
                      <a:endParaRPr lang="en-PH" sz="2000">
                        <a:latin typeface="Century Gothic" panose="020B0502020202020204" pitchFamily="34" charset="0"/>
                      </a:endParaRP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Work expands to fill time available.</a:t>
                      </a:r>
                    </a:p>
                  </a:txBody>
                  <a:tcPr marL="18937" marR="18937" marT="9469" marB="9469" anchor="ctr"/>
                </a:tc>
                <a:tc>
                  <a:txBody>
                    <a:bodyPr/>
                    <a:lstStyle/>
                    <a:p>
                      <a:pPr marL="0" algn="l" defTabSz="457200" rtl="0" eaLnBrk="1" latinLnBrk="0" hangingPunct="1">
                        <a:buNone/>
                      </a:pPr>
                      <a:r>
                        <a:rPr lang="en-US" sz="2000" kern="1200">
                          <a:solidFill>
                            <a:schemeClr val="dk1"/>
                          </a:solidFill>
                          <a:latin typeface="Libre Baskerville" panose="02000000000000000000" pitchFamily="2" charset="0"/>
                          <a:ea typeface="+mn-ea"/>
                          <a:cs typeface="+mn-cs"/>
                        </a:rPr>
                        <a:t>Give realistic deadlines/time limits.</a:t>
                      </a:r>
                    </a:p>
                  </a:txBody>
                  <a:tcPr marL="18937" marR="18937" marT="9469" marB="9469" anchor="ctr"/>
                </a:tc>
                <a:tc>
                  <a:txBody>
                    <a:bodyPr/>
                    <a:lstStyle/>
                    <a:p>
                      <a:pPr marL="0" algn="l" defTabSz="457200" rtl="0" eaLnBrk="1" latinLnBrk="0" hangingPunct="1">
                        <a:buNone/>
                      </a:pPr>
                      <a:r>
                        <a:rPr lang="en-US" sz="2000" kern="1200" dirty="0">
                          <a:solidFill>
                            <a:schemeClr val="dk1"/>
                          </a:solidFill>
                          <a:latin typeface="Libre Baskerville" panose="02000000000000000000" pitchFamily="2" charset="0"/>
                          <a:ea typeface="+mn-ea"/>
                          <a:cs typeface="+mn-cs"/>
                        </a:rPr>
                        <a:t>Time-limited promo banners on e-commerce (“Ends in 2h”).</a:t>
                      </a:r>
                    </a:p>
                  </a:txBody>
                  <a:tcPr marL="18937" marR="18937" marT="9469" marB="9469" anchor="ctr"/>
                </a:tc>
                <a:extLst>
                  <a:ext uri="{0D108BD9-81ED-4DB2-BD59-A6C34878D82A}">
                    <a16:rowId xmlns:a16="http://schemas.microsoft.com/office/drawing/2014/main" val="585268985"/>
                  </a:ext>
                </a:extLst>
              </a:tr>
            </a:tbl>
          </a:graphicData>
        </a:graphic>
      </p:graphicFrame>
    </p:spTree>
    <p:extLst>
      <p:ext uri="{BB962C8B-B14F-4D97-AF65-F5344CB8AC3E}">
        <p14:creationId xmlns:p14="http://schemas.microsoft.com/office/powerpoint/2010/main" val="191675720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9515E-4C1D-D2A6-E9B3-DEEDFD6E7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9F6F7-E63E-A6EA-5CF6-A6E33CB6C327}"/>
              </a:ext>
            </a:extLst>
          </p:cNvPr>
          <p:cNvSpPr>
            <a:spLocks noGrp="1"/>
          </p:cNvSpPr>
          <p:nvPr>
            <p:ph type="title"/>
          </p:nvPr>
        </p:nvSpPr>
        <p:spPr/>
        <p:txBody>
          <a:bodyPr/>
          <a:lstStyle/>
          <a:p>
            <a:r>
              <a:rPr lang="en-PH" dirty="0"/>
              <a:t>SUMMARY</a:t>
            </a:r>
          </a:p>
        </p:txBody>
      </p:sp>
      <p:graphicFrame>
        <p:nvGraphicFramePr>
          <p:cNvPr id="4" name="Table 3">
            <a:extLst>
              <a:ext uri="{FF2B5EF4-FFF2-40B4-BE49-F238E27FC236}">
                <a16:creationId xmlns:a16="http://schemas.microsoft.com/office/drawing/2014/main" id="{389A03BF-A729-B78C-6646-D741025E42DB}"/>
              </a:ext>
            </a:extLst>
          </p:cNvPr>
          <p:cNvGraphicFramePr>
            <a:graphicFrameLocks noGrp="1"/>
          </p:cNvGraphicFramePr>
          <p:nvPr>
            <p:extLst>
              <p:ext uri="{D42A27DB-BD31-4B8C-83A1-F6EECF244321}">
                <p14:modId xmlns:p14="http://schemas.microsoft.com/office/powerpoint/2010/main" val="3093413630"/>
              </p:ext>
            </p:extLst>
          </p:nvPr>
        </p:nvGraphicFramePr>
        <p:xfrm>
          <a:off x="764770" y="1239547"/>
          <a:ext cx="10390908" cy="3428552"/>
        </p:xfrm>
        <a:graphic>
          <a:graphicData uri="http://schemas.openxmlformats.org/drawingml/2006/table">
            <a:tbl>
              <a:tblPr>
                <a:tableStyleId>{69CF1AB2-1976-4502-BF36-3FF5EA218861}</a:tableStyleId>
              </a:tblPr>
              <a:tblGrid>
                <a:gridCol w="2597727">
                  <a:extLst>
                    <a:ext uri="{9D8B030D-6E8A-4147-A177-3AD203B41FA5}">
                      <a16:colId xmlns:a16="http://schemas.microsoft.com/office/drawing/2014/main" val="970948522"/>
                    </a:ext>
                  </a:extLst>
                </a:gridCol>
                <a:gridCol w="2597727">
                  <a:extLst>
                    <a:ext uri="{9D8B030D-6E8A-4147-A177-3AD203B41FA5}">
                      <a16:colId xmlns:a16="http://schemas.microsoft.com/office/drawing/2014/main" val="2988539765"/>
                    </a:ext>
                  </a:extLst>
                </a:gridCol>
                <a:gridCol w="2597727">
                  <a:extLst>
                    <a:ext uri="{9D8B030D-6E8A-4147-A177-3AD203B41FA5}">
                      <a16:colId xmlns:a16="http://schemas.microsoft.com/office/drawing/2014/main" val="1758135421"/>
                    </a:ext>
                  </a:extLst>
                </a:gridCol>
                <a:gridCol w="2597727">
                  <a:extLst>
                    <a:ext uri="{9D8B030D-6E8A-4147-A177-3AD203B41FA5}">
                      <a16:colId xmlns:a16="http://schemas.microsoft.com/office/drawing/2014/main" val="52808"/>
                    </a:ext>
                  </a:extLst>
                </a:gridCol>
              </a:tblGrid>
              <a:tr h="102172">
                <a:tc>
                  <a:txBody>
                    <a:bodyPr/>
                    <a:lstStyle/>
                    <a:p>
                      <a:pPr algn="ctr">
                        <a:buNone/>
                      </a:pPr>
                      <a:r>
                        <a:rPr lang="en-PH" sz="2000" b="1" dirty="0">
                          <a:latin typeface="Century Gothic" panose="020B0502020202020204" pitchFamily="34" charset="0"/>
                        </a:rPr>
                        <a:t>Law</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Definition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Design Implication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Example (UI/UX)</a:t>
                      </a:r>
                      <a:endParaRPr lang="en-PH" sz="2000" dirty="0">
                        <a:latin typeface="Century Gothic" panose="020B0502020202020204" pitchFamily="34" charset="0"/>
                      </a:endParaRPr>
                    </a:p>
                  </a:txBody>
                  <a:tcPr marL="18937" marR="18937" marT="9469" marB="9469" anchor="ctr"/>
                </a:tc>
                <a:extLst>
                  <a:ext uri="{0D108BD9-81ED-4DB2-BD59-A6C34878D82A}">
                    <a16:rowId xmlns:a16="http://schemas.microsoft.com/office/drawing/2014/main" val="696663261"/>
                  </a:ext>
                </a:extLst>
              </a:tr>
              <a:tr h="169515">
                <a:tc>
                  <a:txBody>
                    <a:bodyPr/>
                    <a:lstStyle/>
                    <a:p>
                      <a:pPr>
                        <a:buNone/>
                      </a:pPr>
                      <a:r>
                        <a:rPr lang="en-PH" sz="2000" b="1">
                          <a:latin typeface="Century Gothic" panose="020B0502020202020204" pitchFamily="34" charset="0"/>
                        </a:rPr>
                        <a:t>Peak-End Rule</a:t>
                      </a:r>
                      <a:endParaRPr lang="en-PH" sz="2000">
                        <a:latin typeface="Century Gothic" panose="020B0502020202020204" pitchFamily="34" charset="0"/>
                      </a:endParaRPr>
                    </a:p>
                  </a:txBody>
                  <a:tcPr marL="18937" marR="18937" marT="9469" marB="9469" anchor="ctr"/>
                </a:tc>
                <a:tc>
                  <a:txBody>
                    <a:bodyPr/>
                    <a:lstStyle/>
                    <a:p>
                      <a:pPr>
                        <a:buNone/>
                      </a:pPr>
                      <a:r>
                        <a:rPr lang="en-US" sz="2000">
                          <a:latin typeface="Century Gothic" panose="020B0502020202020204" pitchFamily="34" charset="0"/>
                        </a:rPr>
                        <a:t>People judge experiences by peak &amp; final moments.</a:t>
                      </a:r>
                    </a:p>
                  </a:txBody>
                  <a:tcPr marL="18937" marR="18937" marT="9469" marB="9469" anchor="ctr"/>
                </a:tc>
                <a:tc>
                  <a:txBody>
                    <a:bodyPr/>
                    <a:lstStyle/>
                    <a:p>
                      <a:pPr>
                        <a:buNone/>
                      </a:pPr>
                      <a:r>
                        <a:rPr lang="en-US" sz="2000">
                          <a:latin typeface="Century Gothic" panose="020B0502020202020204" pitchFamily="34" charset="0"/>
                        </a:rPr>
                        <a:t>Make last steps pleasant; reduce checkout friction.</a:t>
                      </a:r>
                    </a:p>
                  </a:txBody>
                  <a:tcPr marL="18937" marR="18937" marT="9469" marB="9469" anchor="ctr"/>
                </a:tc>
                <a:tc>
                  <a:txBody>
                    <a:bodyPr/>
                    <a:lstStyle/>
                    <a:p>
                      <a:pPr>
                        <a:buNone/>
                      </a:pPr>
                      <a:r>
                        <a:rPr lang="en-US" sz="2000" dirty="0">
                          <a:latin typeface="Century Gothic" panose="020B0502020202020204" pitchFamily="34" charset="0"/>
                        </a:rPr>
                        <a:t>Uber: smooth booking flow + positive “Thanks” screen.</a:t>
                      </a:r>
                    </a:p>
                  </a:txBody>
                  <a:tcPr marL="18937" marR="18937" marT="9469" marB="9469" anchor="ctr"/>
                </a:tc>
                <a:extLst>
                  <a:ext uri="{0D108BD9-81ED-4DB2-BD59-A6C34878D82A}">
                    <a16:rowId xmlns:a16="http://schemas.microsoft.com/office/drawing/2014/main" val="1733057604"/>
                  </a:ext>
                </a:extLst>
              </a:tr>
              <a:tr h="242164">
                <a:tc>
                  <a:txBody>
                    <a:bodyPr/>
                    <a:lstStyle/>
                    <a:p>
                      <a:pPr>
                        <a:buNone/>
                      </a:pPr>
                      <a:r>
                        <a:rPr lang="en-PH" sz="2000" b="1" dirty="0">
                          <a:latin typeface="Century Gothic" panose="020B0502020202020204" pitchFamily="34" charset="0"/>
                        </a:rPr>
                        <a:t>Postel’s Law (Robustness Principle)</a:t>
                      </a:r>
                      <a:endParaRPr lang="en-PH" sz="2000" dirty="0">
                        <a:latin typeface="Century Gothic" panose="020B0502020202020204" pitchFamily="34" charset="0"/>
                      </a:endParaRPr>
                    </a:p>
                  </a:txBody>
                  <a:tcPr marL="18937" marR="18937" marT="9469" marB="9469" anchor="ctr"/>
                </a:tc>
                <a:tc>
                  <a:txBody>
                    <a:bodyPr/>
                    <a:lstStyle/>
                    <a:p>
                      <a:pPr>
                        <a:buNone/>
                      </a:pPr>
                      <a:r>
                        <a:rPr lang="en-US" sz="2000">
                          <a:latin typeface="Century Gothic" panose="020B0502020202020204" pitchFamily="34" charset="0"/>
                        </a:rPr>
                        <a:t>Be liberal in what you accept, strict in what you send.</a:t>
                      </a:r>
                    </a:p>
                  </a:txBody>
                  <a:tcPr marL="18937" marR="18937" marT="9469" marB="9469" anchor="ctr"/>
                </a:tc>
                <a:tc>
                  <a:txBody>
                    <a:bodyPr/>
                    <a:lstStyle/>
                    <a:p>
                      <a:pPr>
                        <a:buNone/>
                      </a:pPr>
                      <a:r>
                        <a:rPr lang="en-US" sz="2000">
                          <a:latin typeface="Century Gothic" panose="020B0502020202020204" pitchFamily="34" charset="0"/>
                        </a:rPr>
                        <a:t>Accept varied user input, return clear output.</a:t>
                      </a:r>
                    </a:p>
                  </a:txBody>
                  <a:tcPr marL="18937" marR="18937" marT="9469" marB="9469" anchor="ctr"/>
                </a:tc>
                <a:tc>
                  <a:txBody>
                    <a:bodyPr/>
                    <a:lstStyle/>
                    <a:p>
                      <a:pPr>
                        <a:buNone/>
                      </a:pPr>
                      <a:r>
                        <a:rPr lang="en-US" sz="2000">
                          <a:latin typeface="Century Gothic" panose="020B0502020202020204" pitchFamily="34" charset="0"/>
                        </a:rPr>
                        <a:t>Search box allows typos (“iphon” → iPhone).</a:t>
                      </a:r>
                    </a:p>
                  </a:txBody>
                  <a:tcPr marL="18937" marR="18937" marT="9469" marB="9469" anchor="ctr"/>
                </a:tc>
                <a:extLst>
                  <a:ext uri="{0D108BD9-81ED-4DB2-BD59-A6C34878D82A}">
                    <a16:rowId xmlns:a16="http://schemas.microsoft.com/office/drawing/2014/main" val="3027994542"/>
                  </a:ext>
                </a:extLst>
              </a:tr>
              <a:tr h="169515">
                <a:tc>
                  <a:txBody>
                    <a:bodyPr/>
                    <a:lstStyle/>
                    <a:p>
                      <a:pPr>
                        <a:buNone/>
                      </a:pPr>
                      <a:r>
                        <a:rPr lang="en-PH" sz="2000" b="1" dirty="0">
                          <a:latin typeface="Century Gothic" panose="020B0502020202020204" pitchFamily="34" charset="0"/>
                        </a:rPr>
                        <a:t>Serial Position Effect</a:t>
                      </a:r>
                      <a:endParaRPr lang="en-PH" sz="2000" dirty="0">
                        <a:latin typeface="Century Gothic" panose="020B0502020202020204" pitchFamily="34" charset="0"/>
                      </a:endParaRPr>
                    </a:p>
                  </a:txBody>
                  <a:tcPr marL="18937" marR="18937" marT="9469" marB="9469" anchor="ctr"/>
                </a:tc>
                <a:tc>
                  <a:txBody>
                    <a:bodyPr/>
                    <a:lstStyle/>
                    <a:p>
                      <a:pPr>
                        <a:buNone/>
                      </a:pPr>
                      <a:r>
                        <a:rPr lang="en-US" sz="2000" dirty="0">
                          <a:latin typeface="Century Gothic" panose="020B0502020202020204" pitchFamily="34" charset="0"/>
                        </a:rPr>
                        <a:t>Users remember first &amp; last items best.</a:t>
                      </a:r>
                    </a:p>
                  </a:txBody>
                  <a:tcPr marL="18937" marR="18937" marT="9469" marB="9469" anchor="ctr"/>
                </a:tc>
                <a:tc>
                  <a:txBody>
                    <a:bodyPr/>
                    <a:lstStyle/>
                    <a:p>
                      <a:pPr>
                        <a:buNone/>
                      </a:pPr>
                      <a:r>
                        <a:rPr lang="en-US" sz="2000">
                          <a:latin typeface="Century Gothic" panose="020B0502020202020204" pitchFamily="34" charset="0"/>
                        </a:rPr>
                        <a:t>Place key options at start/end.</a:t>
                      </a:r>
                    </a:p>
                  </a:txBody>
                  <a:tcPr marL="18937" marR="18937" marT="9469" marB="9469" anchor="ctr"/>
                </a:tc>
                <a:tc>
                  <a:txBody>
                    <a:bodyPr/>
                    <a:lstStyle/>
                    <a:p>
                      <a:pPr>
                        <a:buNone/>
                      </a:pPr>
                      <a:r>
                        <a:rPr lang="en-US" sz="2000" dirty="0">
                          <a:latin typeface="Century Gothic" panose="020B0502020202020204" pitchFamily="34" charset="0"/>
                        </a:rPr>
                        <a:t>Amazon puts “Sign In” and “Cart” at edges of nav bar.</a:t>
                      </a:r>
                    </a:p>
                  </a:txBody>
                  <a:tcPr marL="18937" marR="18937" marT="9469" marB="9469" anchor="ctr"/>
                </a:tc>
                <a:extLst>
                  <a:ext uri="{0D108BD9-81ED-4DB2-BD59-A6C34878D82A}">
                    <a16:rowId xmlns:a16="http://schemas.microsoft.com/office/drawing/2014/main" val="2521581104"/>
                  </a:ext>
                </a:extLst>
              </a:tr>
            </a:tbl>
          </a:graphicData>
        </a:graphic>
      </p:graphicFrame>
    </p:spTree>
    <p:extLst>
      <p:ext uri="{BB962C8B-B14F-4D97-AF65-F5344CB8AC3E}">
        <p14:creationId xmlns:p14="http://schemas.microsoft.com/office/powerpoint/2010/main" val="19994723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6FA11-9733-6F82-C042-E8572C54C1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B10DB-CCC1-0368-DB5F-A3E27B1D6638}"/>
              </a:ext>
            </a:extLst>
          </p:cNvPr>
          <p:cNvSpPr>
            <a:spLocks noGrp="1"/>
          </p:cNvSpPr>
          <p:nvPr>
            <p:ph type="title"/>
          </p:nvPr>
        </p:nvSpPr>
        <p:spPr/>
        <p:txBody>
          <a:bodyPr/>
          <a:lstStyle/>
          <a:p>
            <a:r>
              <a:rPr lang="en-PH" dirty="0"/>
              <a:t>SUMMARY</a:t>
            </a:r>
          </a:p>
        </p:txBody>
      </p:sp>
      <p:graphicFrame>
        <p:nvGraphicFramePr>
          <p:cNvPr id="4" name="Table 3">
            <a:extLst>
              <a:ext uri="{FF2B5EF4-FFF2-40B4-BE49-F238E27FC236}">
                <a16:creationId xmlns:a16="http://schemas.microsoft.com/office/drawing/2014/main" id="{830B3D00-2060-ACB2-01CD-4C6AD1C52D96}"/>
              </a:ext>
            </a:extLst>
          </p:cNvPr>
          <p:cNvGraphicFramePr>
            <a:graphicFrameLocks noGrp="1"/>
          </p:cNvGraphicFramePr>
          <p:nvPr>
            <p:extLst>
              <p:ext uri="{D42A27DB-BD31-4B8C-83A1-F6EECF244321}">
                <p14:modId xmlns:p14="http://schemas.microsoft.com/office/powerpoint/2010/main" val="3945520852"/>
              </p:ext>
            </p:extLst>
          </p:nvPr>
        </p:nvGraphicFramePr>
        <p:xfrm>
          <a:off x="764770" y="1239547"/>
          <a:ext cx="10390908" cy="3733352"/>
        </p:xfrm>
        <a:graphic>
          <a:graphicData uri="http://schemas.openxmlformats.org/drawingml/2006/table">
            <a:tbl>
              <a:tblPr>
                <a:tableStyleId>{69CF1AB2-1976-4502-BF36-3FF5EA218861}</a:tableStyleId>
              </a:tblPr>
              <a:tblGrid>
                <a:gridCol w="2597727">
                  <a:extLst>
                    <a:ext uri="{9D8B030D-6E8A-4147-A177-3AD203B41FA5}">
                      <a16:colId xmlns:a16="http://schemas.microsoft.com/office/drawing/2014/main" val="970948522"/>
                    </a:ext>
                  </a:extLst>
                </a:gridCol>
                <a:gridCol w="2597727">
                  <a:extLst>
                    <a:ext uri="{9D8B030D-6E8A-4147-A177-3AD203B41FA5}">
                      <a16:colId xmlns:a16="http://schemas.microsoft.com/office/drawing/2014/main" val="2988539765"/>
                    </a:ext>
                  </a:extLst>
                </a:gridCol>
                <a:gridCol w="2597727">
                  <a:extLst>
                    <a:ext uri="{9D8B030D-6E8A-4147-A177-3AD203B41FA5}">
                      <a16:colId xmlns:a16="http://schemas.microsoft.com/office/drawing/2014/main" val="1758135421"/>
                    </a:ext>
                  </a:extLst>
                </a:gridCol>
                <a:gridCol w="2597727">
                  <a:extLst>
                    <a:ext uri="{9D8B030D-6E8A-4147-A177-3AD203B41FA5}">
                      <a16:colId xmlns:a16="http://schemas.microsoft.com/office/drawing/2014/main" val="52808"/>
                    </a:ext>
                  </a:extLst>
                </a:gridCol>
              </a:tblGrid>
              <a:tr h="102172">
                <a:tc>
                  <a:txBody>
                    <a:bodyPr/>
                    <a:lstStyle/>
                    <a:p>
                      <a:pPr algn="ctr">
                        <a:buNone/>
                      </a:pPr>
                      <a:r>
                        <a:rPr lang="en-PH" sz="2000" b="1" dirty="0">
                          <a:latin typeface="Century Gothic" panose="020B0502020202020204" pitchFamily="34" charset="0"/>
                        </a:rPr>
                        <a:t>Law</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Definition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Design Implication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Example (UI/UX)</a:t>
                      </a:r>
                      <a:endParaRPr lang="en-PH" sz="2000" dirty="0">
                        <a:latin typeface="Century Gothic" panose="020B0502020202020204" pitchFamily="34" charset="0"/>
                      </a:endParaRPr>
                    </a:p>
                  </a:txBody>
                  <a:tcPr marL="18937" marR="18937" marT="9469" marB="9469" anchor="ctr"/>
                </a:tc>
                <a:extLst>
                  <a:ext uri="{0D108BD9-81ED-4DB2-BD59-A6C34878D82A}">
                    <a16:rowId xmlns:a16="http://schemas.microsoft.com/office/drawing/2014/main" val="696663261"/>
                  </a:ext>
                </a:extLst>
              </a:tr>
              <a:tr h="242164">
                <a:tc>
                  <a:txBody>
                    <a:bodyPr/>
                    <a:lstStyle/>
                    <a:p>
                      <a:pPr>
                        <a:buNone/>
                      </a:pPr>
                      <a:r>
                        <a:rPr lang="en-US" sz="2000" b="1">
                          <a:latin typeface="Century Gothic" panose="020B0502020202020204" pitchFamily="34" charset="0"/>
                        </a:rPr>
                        <a:t>Tesler’s Law (Conservation of Complexity)</a:t>
                      </a:r>
                      <a:endParaRPr lang="en-US" sz="2000">
                        <a:latin typeface="Century Gothic" panose="020B0502020202020204" pitchFamily="34" charset="0"/>
                      </a:endParaRPr>
                    </a:p>
                  </a:txBody>
                  <a:tcPr marL="18937" marR="18937" marT="9469" marB="9469" anchor="ctr"/>
                </a:tc>
                <a:tc>
                  <a:txBody>
                    <a:bodyPr/>
                    <a:lstStyle/>
                    <a:p>
                      <a:pPr>
                        <a:buNone/>
                      </a:pPr>
                      <a:r>
                        <a:rPr lang="en-US" sz="2000">
                          <a:latin typeface="Century Gothic" panose="020B0502020202020204" pitchFamily="34" charset="0"/>
                        </a:rPr>
                        <a:t>Complexity can’t be eliminated, only shifted.</a:t>
                      </a:r>
                    </a:p>
                  </a:txBody>
                  <a:tcPr marL="18937" marR="18937" marT="9469" marB="9469" anchor="ctr"/>
                </a:tc>
                <a:tc>
                  <a:txBody>
                    <a:bodyPr/>
                    <a:lstStyle/>
                    <a:p>
                      <a:pPr>
                        <a:buNone/>
                      </a:pPr>
                      <a:r>
                        <a:rPr lang="en-US" sz="2000">
                          <a:latin typeface="Century Gothic" panose="020B0502020202020204" pitchFamily="34" charset="0"/>
                        </a:rPr>
                        <a:t>Hide unnecessary complexity from user.</a:t>
                      </a:r>
                    </a:p>
                  </a:txBody>
                  <a:tcPr marL="18937" marR="18937" marT="9469" marB="9469" anchor="ctr"/>
                </a:tc>
                <a:tc>
                  <a:txBody>
                    <a:bodyPr/>
                    <a:lstStyle/>
                    <a:p>
                      <a:pPr>
                        <a:buNone/>
                      </a:pPr>
                      <a:r>
                        <a:rPr lang="en-US" sz="2000" dirty="0">
                          <a:latin typeface="Century Gothic" panose="020B0502020202020204" pitchFamily="34" charset="0"/>
                        </a:rPr>
                        <a:t>Tax software hides calculations, just asks simple Q&amp;A.</a:t>
                      </a:r>
                    </a:p>
                  </a:txBody>
                  <a:tcPr marL="18937" marR="18937" marT="9469" marB="9469" anchor="ctr"/>
                </a:tc>
                <a:extLst>
                  <a:ext uri="{0D108BD9-81ED-4DB2-BD59-A6C34878D82A}">
                    <a16:rowId xmlns:a16="http://schemas.microsoft.com/office/drawing/2014/main" val="2476659989"/>
                  </a:ext>
                </a:extLst>
              </a:tr>
              <a:tr h="242164">
                <a:tc>
                  <a:txBody>
                    <a:bodyPr/>
                    <a:lstStyle/>
                    <a:p>
                      <a:pPr>
                        <a:buNone/>
                      </a:pPr>
                      <a:r>
                        <a:rPr lang="en-PH" sz="2000" b="1" dirty="0">
                          <a:latin typeface="Century Gothic" panose="020B0502020202020204" pitchFamily="34" charset="0"/>
                        </a:rPr>
                        <a:t>Von Restorff Effect (Isolation Effect)</a:t>
                      </a:r>
                      <a:endParaRPr lang="en-PH" sz="2000" dirty="0">
                        <a:latin typeface="Century Gothic" panose="020B0502020202020204" pitchFamily="34" charset="0"/>
                      </a:endParaRPr>
                    </a:p>
                  </a:txBody>
                  <a:tcPr marL="18937" marR="18937" marT="9469" marB="9469" anchor="ctr"/>
                </a:tc>
                <a:tc>
                  <a:txBody>
                    <a:bodyPr/>
                    <a:lstStyle/>
                    <a:p>
                      <a:pPr>
                        <a:buNone/>
                      </a:pPr>
                      <a:r>
                        <a:rPr lang="en-US" sz="2000">
                          <a:latin typeface="Century Gothic" panose="020B0502020202020204" pitchFamily="34" charset="0"/>
                        </a:rPr>
                        <a:t>Unique items stand out &amp; are remembered.</a:t>
                      </a:r>
                    </a:p>
                  </a:txBody>
                  <a:tcPr marL="18937" marR="18937" marT="9469" marB="9469" anchor="ctr"/>
                </a:tc>
                <a:tc>
                  <a:txBody>
                    <a:bodyPr/>
                    <a:lstStyle/>
                    <a:p>
                      <a:pPr>
                        <a:buNone/>
                      </a:pPr>
                      <a:r>
                        <a:rPr lang="en-PH" sz="2000">
                          <a:latin typeface="Century Gothic" panose="020B0502020202020204" pitchFamily="34" charset="0"/>
                        </a:rPr>
                        <a:t>Highlight key actions.</a:t>
                      </a:r>
                    </a:p>
                  </a:txBody>
                  <a:tcPr marL="18937" marR="18937" marT="9469" marB="9469" anchor="ctr"/>
                </a:tc>
                <a:tc>
                  <a:txBody>
                    <a:bodyPr/>
                    <a:lstStyle/>
                    <a:p>
                      <a:pPr>
                        <a:buNone/>
                      </a:pPr>
                      <a:r>
                        <a:rPr lang="en-US" sz="2000">
                          <a:latin typeface="Century Gothic" panose="020B0502020202020204" pitchFamily="34" charset="0"/>
                        </a:rPr>
                        <a:t>Red “Delete Account” button stands out from grey options.</a:t>
                      </a:r>
                    </a:p>
                  </a:txBody>
                  <a:tcPr marL="18937" marR="18937" marT="9469" marB="9469" anchor="ctr"/>
                </a:tc>
                <a:extLst>
                  <a:ext uri="{0D108BD9-81ED-4DB2-BD59-A6C34878D82A}">
                    <a16:rowId xmlns:a16="http://schemas.microsoft.com/office/drawing/2014/main" val="2284710723"/>
                  </a:ext>
                </a:extLst>
              </a:tr>
              <a:tr h="169515">
                <a:tc>
                  <a:txBody>
                    <a:bodyPr/>
                    <a:lstStyle/>
                    <a:p>
                      <a:pPr>
                        <a:buNone/>
                      </a:pPr>
                      <a:r>
                        <a:rPr lang="en-PH" sz="2000" b="1" dirty="0">
                          <a:latin typeface="Century Gothic" panose="020B0502020202020204" pitchFamily="34" charset="0"/>
                        </a:rPr>
                        <a:t>Zeigarnik Effect</a:t>
                      </a:r>
                      <a:endParaRPr lang="en-PH" sz="2000" dirty="0">
                        <a:latin typeface="Century Gothic" panose="020B0502020202020204" pitchFamily="34" charset="0"/>
                      </a:endParaRPr>
                    </a:p>
                  </a:txBody>
                  <a:tcPr marL="18937" marR="18937" marT="9469" marB="9469" anchor="ctr"/>
                </a:tc>
                <a:tc>
                  <a:txBody>
                    <a:bodyPr/>
                    <a:lstStyle/>
                    <a:p>
                      <a:pPr>
                        <a:buNone/>
                      </a:pPr>
                      <a:r>
                        <a:rPr lang="en-US" sz="2000">
                          <a:latin typeface="Century Gothic" panose="020B0502020202020204" pitchFamily="34" charset="0"/>
                        </a:rPr>
                        <a:t>People remember incomplete tasks better.</a:t>
                      </a:r>
                    </a:p>
                  </a:txBody>
                  <a:tcPr marL="18937" marR="18937" marT="9469" marB="9469" anchor="ctr"/>
                </a:tc>
                <a:tc>
                  <a:txBody>
                    <a:bodyPr/>
                    <a:lstStyle/>
                    <a:p>
                      <a:pPr>
                        <a:buNone/>
                      </a:pPr>
                      <a:r>
                        <a:rPr lang="en-US" sz="2000">
                          <a:latin typeface="Century Gothic" panose="020B0502020202020204" pitchFamily="34" charset="0"/>
                        </a:rPr>
                        <a:t>Show progress to encourage return.</a:t>
                      </a:r>
                    </a:p>
                  </a:txBody>
                  <a:tcPr marL="18937" marR="18937" marT="9469" marB="9469" anchor="ctr"/>
                </a:tc>
                <a:tc>
                  <a:txBody>
                    <a:bodyPr/>
                    <a:lstStyle/>
                    <a:p>
                      <a:pPr>
                        <a:buNone/>
                      </a:pPr>
                      <a:r>
                        <a:rPr lang="en-US" sz="2000" dirty="0">
                          <a:latin typeface="Century Gothic" panose="020B0502020202020204" pitchFamily="34" charset="0"/>
                        </a:rPr>
                        <a:t>LinkedIn profile “You’re 80% complete; add skills!”</a:t>
                      </a:r>
                    </a:p>
                  </a:txBody>
                  <a:tcPr marL="18937" marR="18937" marT="9469" marB="9469" anchor="ctr"/>
                </a:tc>
                <a:extLst>
                  <a:ext uri="{0D108BD9-81ED-4DB2-BD59-A6C34878D82A}">
                    <a16:rowId xmlns:a16="http://schemas.microsoft.com/office/drawing/2014/main" val="1962496191"/>
                  </a:ext>
                </a:extLst>
              </a:tr>
            </a:tbl>
          </a:graphicData>
        </a:graphic>
      </p:graphicFrame>
    </p:spTree>
    <p:extLst>
      <p:ext uri="{BB962C8B-B14F-4D97-AF65-F5344CB8AC3E}">
        <p14:creationId xmlns:p14="http://schemas.microsoft.com/office/powerpoint/2010/main" val="143056944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69555-C288-5827-A354-0F7ACA08D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B8C36-F447-431D-0BE2-2E60EEA414AB}"/>
              </a:ext>
            </a:extLst>
          </p:cNvPr>
          <p:cNvSpPr>
            <a:spLocks noGrp="1"/>
          </p:cNvSpPr>
          <p:nvPr>
            <p:ph type="title"/>
          </p:nvPr>
        </p:nvSpPr>
        <p:spPr/>
        <p:txBody>
          <a:bodyPr/>
          <a:lstStyle/>
          <a:p>
            <a:r>
              <a:rPr lang="en-PH" dirty="0"/>
              <a:t>SUMMARY</a:t>
            </a:r>
          </a:p>
        </p:txBody>
      </p:sp>
      <p:graphicFrame>
        <p:nvGraphicFramePr>
          <p:cNvPr id="4" name="Table 3">
            <a:extLst>
              <a:ext uri="{FF2B5EF4-FFF2-40B4-BE49-F238E27FC236}">
                <a16:creationId xmlns:a16="http://schemas.microsoft.com/office/drawing/2014/main" id="{7E0C8BD6-7E42-201C-3F1A-04CA7B9CDB3F}"/>
              </a:ext>
            </a:extLst>
          </p:cNvPr>
          <p:cNvGraphicFramePr>
            <a:graphicFrameLocks noGrp="1"/>
          </p:cNvGraphicFramePr>
          <p:nvPr>
            <p:extLst>
              <p:ext uri="{D42A27DB-BD31-4B8C-83A1-F6EECF244321}">
                <p14:modId xmlns:p14="http://schemas.microsoft.com/office/powerpoint/2010/main" val="2990614605"/>
              </p:ext>
            </p:extLst>
          </p:nvPr>
        </p:nvGraphicFramePr>
        <p:xfrm>
          <a:off x="764770" y="1239547"/>
          <a:ext cx="10390908" cy="4666690"/>
        </p:xfrm>
        <a:graphic>
          <a:graphicData uri="http://schemas.openxmlformats.org/drawingml/2006/table">
            <a:tbl>
              <a:tblPr>
                <a:tableStyleId>{69CF1AB2-1976-4502-BF36-3FF5EA218861}</a:tableStyleId>
              </a:tblPr>
              <a:tblGrid>
                <a:gridCol w="2597727">
                  <a:extLst>
                    <a:ext uri="{9D8B030D-6E8A-4147-A177-3AD203B41FA5}">
                      <a16:colId xmlns:a16="http://schemas.microsoft.com/office/drawing/2014/main" val="970948522"/>
                    </a:ext>
                  </a:extLst>
                </a:gridCol>
                <a:gridCol w="2597727">
                  <a:extLst>
                    <a:ext uri="{9D8B030D-6E8A-4147-A177-3AD203B41FA5}">
                      <a16:colId xmlns:a16="http://schemas.microsoft.com/office/drawing/2014/main" val="2988539765"/>
                    </a:ext>
                  </a:extLst>
                </a:gridCol>
                <a:gridCol w="2597727">
                  <a:extLst>
                    <a:ext uri="{9D8B030D-6E8A-4147-A177-3AD203B41FA5}">
                      <a16:colId xmlns:a16="http://schemas.microsoft.com/office/drawing/2014/main" val="1758135421"/>
                    </a:ext>
                  </a:extLst>
                </a:gridCol>
                <a:gridCol w="2597727">
                  <a:extLst>
                    <a:ext uri="{9D8B030D-6E8A-4147-A177-3AD203B41FA5}">
                      <a16:colId xmlns:a16="http://schemas.microsoft.com/office/drawing/2014/main" val="52808"/>
                    </a:ext>
                  </a:extLst>
                </a:gridCol>
              </a:tblGrid>
              <a:tr h="102172">
                <a:tc>
                  <a:txBody>
                    <a:bodyPr/>
                    <a:lstStyle/>
                    <a:p>
                      <a:pPr algn="ctr">
                        <a:buNone/>
                      </a:pPr>
                      <a:r>
                        <a:rPr lang="en-PH" sz="2000" b="1" dirty="0">
                          <a:latin typeface="Century Gothic" panose="020B0502020202020204" pitchFamily="34" charset="0"/>
                        </a:rPr>
                        <a:t>Law</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Definition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Design Implication</a:t>
                      </a:r>
                      <a:endParaRPr lang="en-PH" sz="2000" dirty="0">
                        <a:latin typeface="Century Gothic" panose="020B0502020202020204" pitchFamily="34" charset="0"/>
                      </a:endParaRPr>
                    </a:p>
                  </a:txBody>
                  <a:tcPr marL="18937" marR="18937" marT="9469" marB="9469" anchor="ctr"/>
                </a:tc>
                <a:tc>
                  <a:txBody>
                    <a:bodyPr/>
                    <a:lstStyle/>
                    <a:p>
                      <a:pPr algn="ctr">
                        <a:buNone/>
                      </a:pPr>
                      <a:r>
                        <a:rPr lang="en-PH" sz="2000" b="1" dirty="0">
                          <a:latin typeface="Century Gothic" panose="020B0502020202020204" pitchFamily="34" charset="0"/>
                        </a:rPr>
                        <a:t>Example (UI/UX)</a:t>
                      </a:r>
                      <a:endParaRPr lang="en-PH" sz="2000" dirty="0">
                        <a:latin typeface="Century Gothic" panose="020B0502020202020204" pitchFamily="34" charset="0"/>
                      </a:endParaRPr>
                    </a:p>
                  </a:txBody>
                  <a:tcPr marL="18937" marR="18937" marT="9469" marB="9469" anchor="ctr"/>
                </a:tc>
                <a:extLst>
                  <a:ext uri="{0D108BD9-81ED-4DB2-BD59-A6C34878D82A}">
                    <a16:rowId xmlns:a16="http://schemas.microsoft.com/office/drawing/2014/main" val="696663261"/>
                  </a:ext>
                </a:extLst>
              </a:tr>
              <a:tr h="169515">
                <a:tc>
                  <a:txBody>
                    <a:bodyPr/>
                    <a:lstStyle/>
                    <a:p>
                      <a:pPr>
                        <a:buNone/>
                      </a:pPr>
                      <a:r>
                        <a:rPr lang="en-PH" sz="2000" b="1">
                          <a:latin typeface="Century Gothic" panose="020B0502020202020204" pitchFamily="34" charset="0"/>
                        </a:rPr>
                        <a:t>Cognitive Load</a:t>
                      </a:r>
                      <a:endParaRPr lang="en-PH" sz="2000">
                        <a:latin typeface="Century Gothic" panose="020B0502020202020204" pitchFamily="34" charset="0"/>
                      </a:endParaRPr>
                    </a:p>
                  </a:txBody>
                  <a:tcPr marL="18937" marR="18937" marT="9469" marB="9469" anchor="ctr"/>
                </a:tc>
                <a:tc>
                  <a:txBody>
                    <a:bodyPr/>
                    <a:lstStyle/>
                    <a:p>
                      <a:pPr marL="0" indent="0" algn="l" defTabSz="457200" rtl="0" eaLnBrk="1" latinLnBrk="0" hangingPunct="1">
                        <a:spcBef>
                          <a:spcPct val="20000"/>
                        </a:spcBef>
                        <a:buFont typeface="Arial"/>
                        <a:buNone/>
                      </a:pPr>
                      <a:r>
                        <a:rPr lang="en-US" sz="2000" kern="1200" dirty="0">
                          <a:solidFill>
                            <a:srgbClr val="002060"/>
                          </a:solidFill>
                          <a:latin typeface="Libre Baskerville" panose="02000000000000000000" pitchFamily="2" charset="0"/>
                          <a:ea typeface="+mn-ea"/>
                          <a:cs typeface="+mn-cs"/>
                        </a:rPr>
                        <a:t>Too much info strains user processing.</a:t>
                      </a:r>
                    </a:p>
                  </a:txBody>
                  <a:tcPr marL="18937" marR="18937" marT="9469" marB="9469" anchor="ctr"/>
                </a:tc>
                <a:tc>
                  <a:txBody>
                    <a:bodyPr/>
                    <a:lstStyle/>
                    <a:p>
                      <a:pPr marL="0" indent="0" algn="l" defTabSz="457200" rtl="0" eaLnBrk="1" latinLnBrk="0" hangingPunct="1">
                        <a:spcBef>
                          <a:spcPct val="20000"/>
                        </a:spcBef>
                        <a:buFont typeface="Arial"/>
                        <a:buNone/>
                      </a:pPr>
                      <a:r>
                        <a:rPr lang="en-US" sz="2000" kern="1200">
                          <a:solidFill>
                            <a:srgbClr val="002060"/>
                          </a:solidFill>
                          <a:latin typeface="Libre Baskerville" panose="02000000000000000000" pitchFamily="2" charset="0"/>
                          <a:ea typeface="+mn-ea"/>
                          <a:cs typeface="+mn-cs"/>
                        </a:rPr>
                        <a:t>Keep tasks simple, reduce steps.</a:t>
                      </a:r>
                    </a:p>
                  </a:txBody>
                  <a:tcPr marL="18937" marR="18937" marT="9469" marB="9469" anchor="ctr"/>
                </a:tc>
                <a:tc>
                  <a:txBody>
                    <a:bodyPr/>
                    <a:lstStyle/>
                    <a:p>
                      <a:pPr marL="0" indent="0" algn="l" defTabSz="457200" rtl="0" eaLnBrk="1" latinLnBrk="0" hangingPunct="1">
                        <a:spcBef>
                          <a:spcPct val="20000"/>
                        </a:spcBef>
                        <a:buFont typeface="Arial"/>
                        <a:buNone/>
                      </a:pPr>
                      <a:r>
                        <a:rPr lang="en-US" sz="2000" kern="1200" dirty="0">
                          <a:solidFill>
                            <a:srgbClr val="002060"/>
                          </a:solidFill>
                          <a:latin typeface="Libre Baskerville" panose="02000000000000000000" pitchFamily="2" charset="0"/>
                          <a:ea typeface="+mn-ea"/>
                          <a:cs typeface="+mn-cs"/>
                        </a:rPr>
                        <a:t>Auto-fill address forms in checkout.</a:t>
                      </a:r>
                    </a:p>
                  </a:txBody>
                  <a:tcPr marL="18937" marR="18937" marT="9469" marB="9469" anchor="ctr"/>
                </a:tc>
                <a:extLst>
                  <a:ext uri="{0D108BD9-81ED-4DB2-BD59-A6C34878D82A}">
                    <a16:rowId xmlns:a16="http://schemas.microsoft.com/office/drawing/2014/main" val="1689816952"/>
                  </a:ext>
                </a:extLst>
              </a:tr>
              <a:tr h="169515">
                <a:tc>
                  <a:txBody>
                    <a:bodyPr/>
                    <a:lstStyle/>
                    <a:p>
                      <a:pPr>
                        <a:buNone/>
                      </a:pPr>
                      <a:r>
                        <a:rPr lang="en-PH" sz="2000" b="1">
                          <a:latin typeface="Century Gothic" panose="020B0502020202020204" pitchFamily="34" charset="0"/>
                        </a:rPr>
                        <a:t>Chunking</a:t>
                      </a:r>
                      <a:endParaRPr lang="en-PH" sz="2000">
                        <a:latin typeface="Century Gothic" panose="020B0502020202020204" pitchFamily="34" charset="0"/>
                      </a:endParaRPr>
                    </a:p>
                  </a:txBody>
                  <a:tcPr marL="18937" marR="18937" marT="9469" marB="9469" anchor="ctr"/>
                </a:tc>
                <a:tc>
                  <a:txBody>
                    <a:bodyPr/>
                    <a:lstStyle/>
                    <a:p>
                      <a:pPr marL="0" indent="0" algn="l" defTabSz="457200" rtl="0" eaLnBrk="1" latinLnBrk="0" hangingPunct="1">
                        <a:spcBef>
                          <a:spcPct val="20000"/>
                        </a:spcBef>
                        <a:buFont typeface="Arial"/>
                        <a:buNone/>
                      </a:pPr>
                      <a:r>
                        <a:rPr lang="en-US" sz="2000" kern="1200">
                          <a:solidFill>
                            <a:srgbClr val="002060"/>
                          </a:solidFill>
                          <a:latin typeface="Libre Baskerville" panose="02000000000000000000" pitchFamily="2" charset="0"/>
                          <a:ea typeface="+mn-ea"/>
                          <a:cs typeface="+mn-cs"/>
                        </a:rPr>
                        <a:t>Break down info into smaller units.</a:t>
                      </a:r>
                    </a:p>
                  </a:txBody>
                  <a:tcPr marL="18937" marR="18937" marT="9469" marB="9469" anchor="ctr"/>
                </a:tc>
                <a:tc>
                  <a:txBody>
                    <a:bodyPr/>
                    <a:lstStyle/>
                    <a:p>
                      <a:pPr marL="0" indent="0" algn="l" defTabSz="457200" rtl="0" eaLnBrk="1" latinLnBrk="0" hangingPunct="1">
                        <a:spcBef>
                          <a:spcPct val="20000"/>
                        </a:spcBef>
                        <a:buFont typeface="Arial"/>
                        <a:buNone/>
                      </a:pPr>
                      <a:r>
                        <a:rPr lang="en-PH" sz="2000" kern="1200" dirty="0">
                          <a:solidFill>
                            <a:srgbClr val="002060"/>
                          </a:solidFill>
                          <a:latin typeface="Libre Baskerville" panose="02000000000000000000" pitchFamily="2" charset="0"/>
                          <a:ea typeface="+mn-ea"/>
                          <a:cs typeface="+mn-cs"/>
                        </a:rPr>
                        <a:t>Easier comprehension &amp; memory.</a:t>
                      </a:r>
                    </a:p>
                  </a:txBody>
                  <a:tcPr marL="18937" marR="18937" marT="9469" marB="9469" anchor="ctr"/>
                </a:tc>
                <a:tc>
                  <a:txBody>
                    <a:bodyPr/>
                    <a:lstStyle/>
                    <a:p>
                      <a:pPr marL="0" indent="0" algn="l" defTabSz="457200" rtl="0" eaLnBrk="1" latinLnBrk="0" hangingPunct="1">
                        <a:spcBef>
                          <a:spcPct val="20000"/>
                        </a:spcBef>
                        <a:buFont typeface="Arial"/>
                        <a:buNone/>
                      </a:pPr>
                      <a:r>
                        <a:rPr lang="en-US" sz="2000" kern="1200">
                          <a:solidFill>
                            <a:srgbClr val="002060"/>
                          </a:solidFill>
                          <a:latin typeface="Libre Baskerville" panose="02000000000000000000" pitchFamily="2" charset="0"/>
                          <a:ea typeface="+mn-ea"/>
                          <a:cs typeface="+mn-cs"/>
                        </a:rPr>
                        <a:t>Credit card numbers grouped into 4-digit blocks.</a:t>
                      </a:r>
                    </a:p>
                  </a:txBody>
                  <a:tcPr marL="18937" marR="18937" marT="9469" marB="9469" anchor="ctr"/>
                </a:tc>
                <a:extLst>
                  <a:ext uri="{0D108BD9-81ED-4DB2-BD59-A6C34878D82A}">
                    <a16:rowId xmlns:a16="http://schemas.microsoft.com/office/drawing/2014/main" val="2010517905"/>
                  </a:ext>
                </a:extLst>
              </a:tr>
              <a:tr h="242164">
                <a:tc>
                  <a:txBody>
                    <a:bodyPr/>
                    <a:lstStyle/>
                    <a:p>
                      <a:pPr>
                        <a:buNone/>
                      </a:pPr>
                      <a:r>
                        <a:rPr lang="en-PH" sz="2000" b="1">
                          <a:latin typeface="Century Gothic" panose="020B0502020202020204" pitchFamily="34" charset="0"/>
                        </a:rPr>
                        <a:t>Cognitive Bias</a:t>
                      </a:r>
                      <a:endParaRPr lang="en-PH" sz="2000">
                        <a:latin typeface="Century Gothic" panose="020B0502020202020204" pitchFamily="34" charset="0"/>
                      </a:endParaRPr>
                    </a:p>
                  </a:txBody>
                  <a:tcPr marL="18937" marR="18937" marT="9469" marB="9469" anchor="ctr"/>
                </a:tc>
                <a:tc>
                  <a:txBody>
                    <a:bodyPr/>
                    <a:lstStyle/>
                    <a:p>
                      <a:pPr marL="0" indent="0" algn="l" defTabSz="457200" rtl="0" eaLnBrk="1" latinLnBrk="0" hangingPunct="1">
                        <a:spcBef>
                          <a:spcPct val="20000"/>
                        </a:spcBef>
                        <a:buFont typeface="Arial"/>
                        <a:buNone/>
                      </a:pPr>
                      <a:r>
                        <a:rPr lang="en-US" sz="2000" kern="1200">
                          <a:solidFill>
                            <a:srgbClr val="002060"/>
                          </a:solidFill>
                          <a:latin typeface="Libre Baskerville" panose="02000000000000000000" pitchFamily="2" charset="0"/>
                          <a:ea typeface="+mn-ea"/>
                          <a:cs typeface="+mn-cs"/>
                        </a:rPr>
                        <a:t>Users’ judgments are skewed by biases.</a:t>
                      </a:r>
                    </a:p>
                  </a:txBody>
                  <a:tcPr marL="18937" marR="18937" marT="9469" marB="9469" anchor="ctr"/>
                </a:tc>
                <a:tc>
                  <a:txBody>
                    <a:bodyPr/>
                    <a:lstStyle/>
                    <a:p>
                      <a:pPr marL="0" indent="0" algn="l" defTabSz="457200" rtl="0" eaLnBrk="1" latinLnBrk="0" hangingPunct="1">
                        <a:spcBef>
                          <a:spcPct val="20000"/>
                        </a:spcBef>
                        <a:buFont typeface="Arial"/>
                        <a:buNone/>
                      </a:pPr>
                      <a:r>
                        <a:rPr lang="en-US" sz="2000" kern="1200" dirty="0">
                          <a:solidFill>
                            <a:srgbClr val="002060"/>
                          </a:solidFill>
                          <a:latin typeface="Libre Baskerville" panose="02000000000000000000" pitchFamily="2" charset="0"/>
                          <a:ea typeface="+mn-ea"/>
                          <a:cs typeface="+mn-cs"/>
                        </a:rPr>
                        <a:t>Design ethically, avoid manipulative tactics.</a:t>
                      </a:r>
                    </a:p>
                  </a:txBody>
                  <a:tcPr marL="18937" marR="18937" marT="9469" marB="9469" anchor="ctr"/>
                </a:tc>
                <a:tc>
                  <a:txBody>
                    <a:bodyPr/>
                    <a:lstStyle/>
                    <a:p>
                      <a:pPr marL="0" indent="0" algn="l" defTabSz="457200" rtl="0" eaLnBrk="1" latinLnBrk="0" hangingPunct="1">
                        <a:spcBef>
                          <a:spcPct val="20000"/>
                        </a:spcBef>
                        <a:buFont typeface="Arial"/>
                        <a:buNone/>
                      </a:pPr>
                      <a:r>
                        <a:rPr lang="en-US" sz="2000" kern="1200" dirty="0">
                          <a:solidFill>
                            <a:srgbClr val="002060"/>
                          </a:solidFill>
                          <a:latin typeface="Libre Baskerville" panose="02000000000000000000" pitchFamily="2" charset="0"/>
                          <a:ea typeface="+mn-ea"/>
                          <a:cs typeface="+mn-cs"/>
                        </a:rPr>
                        <a:t>Social proof (“1,000+ bought today”) affects perception.</a:t>
                      </a:r>
                    </a:p>
                  </a:txBody>
                  <a:tcPr marL="18937" marR="18937" marT="9469" marB="9469" anchor="ctr"/>
                </a:tc>
                <a:extLst>
                  <a:ext uri="{0D108BD9-81ED-4DB2-BD59-A6C34878D82A}">
                    <a16:rowId xmlns:a16="http://schemas.microsoft.com/office/drawing/2014/main" val="2122790134"/>
                  </a:ext>
                </a:extLst>
              </a:tr>
              <a:tr h="242164">
                <a:tc>
                  <a:txBody>
                    <a:bodyPr/>
                    <a:lstStyle/>
                    <a:p>
                      <a:pPr>
                        <a:buNone/>
                      </a:pPr>
                      <a:r>
                        <a:rPr lang="en-PH" sz="2000" b="1">
                          <a:latin typeface="Century Gothic" panose="020B0502020202020204" pitchFamily="34" charset="0"/>
                        </a:rPr>
                        <a:t>Flow</a:t>
                      </a:r>
                      <a:endParaRPr lang="en-PH" sz="2000">
                        <a:latin typeface="Century Gothic" panose="020B0502020202020204" pitchFamily="34" charset="0"/>
                      </a:endParaRPr>
                    </a:p>
                  </a:txBody>
                  <a:tcPr marL="18937" marR="18937" marT="9469" marB="9469" anchor="ctr"/>
                </a:tc>
                <a:tc>
                  <a:txBody>
                    <a:bodyPr/>
                    <a:lstStyle/>
                    <a:p>
                      <a:pPr marL="0" indent="0" algn="l" defTabSz="457200" rtl="0" eaLnBrk="1" latinLnBrk="0" hangingPunct="1">
                        <a:spcBef>
                          <a:spcPct val="20000"/>
                        </a:spcBef>
                        <a:buFont typeface="Arial"/>
                        <a:buNone/>
                      </a:pPr>
                      <a:r>
                        <a:rPr lang="en-US" sz="2000" kern="1200" dirty="0">
                          <a:solidFill>
                            <a:srgbClr val="002060"/>
                          </a:solidFill>
                          <a:latin typeface="Libre Baskerville" panose="02000000000000000000" pitchFamily="2" charset="0"/>
                          <a:ea typeface="+mn-ea"/>
                          <a:cs typeface="+mn-cs"/>
                        </a:rPr>
                        <a:t>Users enjoy uninterrupted immersion in tasks.</a:t>
                      </a:r>
                    </a:p>
                  </a:txBody>
                  <a:tcPr marL="18937" marR="18937" marT="9469" marB="9469" anchor="ctr"/>
                </a:tc>
                <a:tc>
                  <a:txBody>
                    <a:bodyPr/>
                    <a:lstStyle/>
                    <a:p>
                      <a:pPr marL="0" indent="0" algn="l" defTabSz="457200" rtl="0" eaLnBrk="1" latinLnBrk="0" hangingPunct="1">
                        <a:spcBef>
                          <a:spcPct val="20000"/>
                        </a:spcBef>
                        <a:buFont typeface="Arial"/>
                        <a:buNone/>
                      </a:pPr>
                      <a:r>
                        <a:rPr lang="en-PH" sz="2000" kern="1200">
                          <a:solidFill>
                            <a:srgbClr val="002060"/>
                          </a:solidFill>
                          <a:latin typeface="Libre Baskerville" panose="02000000000000000000" pitchFamily="2" charset="0"/>
                          <a:ea typeface="+mn-ea"/>
                          <a:cs typeface="+mn-cs"/>
                        </a:rPr>
                        <a:t>Reduce friction, distractions.</a:t>
                      </a:r>
                    </a:p>
                  </a:txBody>
                  <a:tcPr marL="18937" marR="18937" marT="9469" marB="9469" anchor="ctr"/>
                </a:tc>
                <a:tc>
                  <a:txBody>
                    <a:bodyPr/>
                    <a:lstStyle/>
                    <a:p>
                      <a:pPr marL="0" indent="0" algn="l" defTabSz="457200" rtl="0" eaLnBrk="1" latinLnBrk="0" hangingPunct="1">
                        <a:spcBef>
                          <a:spcPct val="20000"/>
                        </a:spcBef>
                        <a:buFont typeface="Arial"/>
                        <a:buNone/>
                      </a:pPr>
                      <a:r>
                        <a:rPr lang="en-US" sz="2000" kern="1200" dirty="0">
                          <a:solidFill>
                            <a:srgbClr val="002060"/>
                          </a:solidFill>
                          <a:latin typeface="Libre Baskerville" panose="02000000000000000000" pitchFamily="2" charset="0"/>
                          <a:ea typeface="+mn-ea"/>
                          <a:cs typeface="+mn-cs"/>
                        </a:rPr>
                        <a:t>Medium’s reading mode hides UI clutter while reading.</a:t>
                      </a:r>
                    </a:p>
                  </a:txBody>
                  <a:tcPr marL="18937" marR="18937" marT="9469" marB="9469" anchor="ctr"/>
                </a:tc>
                <a:extLst>
                  <a:ext uri="{0D108BD9-81ED-4DB2-BD59-A6C34878D82A}">
                    <a16:rowId xmlns:a16="http://schemas.microsoft.com/office/drawing/2014/main" val="107241138"/>
                  </a:ext>
                </a:extLst>
              </a:tr>
            </a:tbl>
          </a:graphicData>
        </a:graphic>
      </p:graphicFrame>
    </p:spTree>
    <p:extLst>
      <p:ext uri="{BB962C8B-B14F-4D97-AF65-F5344CB8AC3E}">
        <p14:creationId xmlns:p14="http://schemas.microsoft.com/office/powerpoint/2010/main" val="314786060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Applying UX Laws</a:t>
            </a:r>
          </a:p>
        </p:txBody>
      </p:sp>
      <p:sp>
        <p:nvSpPr>
          <p:cNvPr id="3" name="Content Placeholder 2"/>
          <p:cNvSpPr>
            <a:spLocks noGrp="1"/>
          </p:cNvSpPr>
          <p:nvPr>
            <p:ph idx="1"/>
          </p:nvPr>
        </p:nvSpPr>
        <p:spPr/>
        <p:txBody>
          <a:bodyPr/>
          <a:lstStyle/>
          <a:p>
            <a:r>
              <a:rPr dirty="0">
                <a:latin typeface="Libre Baskerville" panose="02000000000000000000" pitchFamily="2" charset="0"/>
              </a:rPr>
              <a:t>Use these laws to evaluate and improve interfaces.</a:t>
            </a:r>
          </a:p>
          <a:p>
            <a:r>
              <a:rPr dirty="0">
                <a:latin typeface="Libre Baskerville" panose="02000000000000000000" pitchFamily="2" charset="0"/>
              </a:rPr>
              <a:t>Checklist: Reduce choices, group items, ensure visual clarity.</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Interactive Activity</a:t>
            </a:r>
          </a:p>
        </p:txBody>
      </p:sp>
      <p:sp>
        <p:nvSpPr>
          <p:cNvPr id="3" name="Content Placeholder 2"/>
          <p:cNvSpPr>
            <a:spLocks noGrp="1"/>
          </p:cNvSpPr>
          <p:nvPr>
            <p:ph idx="1"/>
          </p:nvPr>
        </p:nvSpPr>
        <p:spPr/>
        <p:txBody>
          <a:bodyPr/>
          <a:lstStyle/>
          <a:p>
            <a:r>
              <a:rPr dirty="0">
                <a:latin typeface="Libre Baskerville" panose="02000000000000000000" pitchFamily="2" charset="0"/>
              </a:rPr>
              <a:t>Analyze an app you use every day (e.g., GCash, Instagram, Facebook, Discord) and identify at least 5 UX laws in action.</a:t>
            </a:r>
          </a:p>
          <a:p>
            <a:r>
              <a:rPr dirty="0">
                <a:latin typeface="Libre Baskerville" panose="02000000000000000000" pitchFamily="2" charset="0"/>
              </a:rPr>
              <a:t>Suggest improvements.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 Questions</a:t>
            </a:r>
          </a:p>
        </p:txBody>
      </p:sp>
      <p:sp>
        <p:nvSpPr>
          <p:cNvPr id="3" name="Content Placeholder 2"/>
          <p:cNvSpPr>
            <a:spLocks noGrp="1"/>
          </p:cNvSpPr>
          <p:nvPr>
            <p:ph idx="1"/>
          </p:nvPr>
        </p:nvSpPr>
        <p:spPr/>
        <p:txBody>
          <a:bodyPr/>
          <a:lstStyle/>
          <a:p>
            <a:pPr marL="0" indent="0">
              <a:buNone/>
            </a:pPr>
            <a:r>
              <a:rPr dirty="0">
                <a:latin typeface="Libre Baskerville" panose="02000000000000000000" pitchFamily="2" charset="0"/>
              </a:rPr>
              <a:t>- Which UX law surprised you most?</a:t>
            </a:r>
          </a:p>
          <a:p>
            <a:pPr marL="0" indent="0">
              <a:buNone/>
            </a:pPr>
            <a:r>
              <a:rPr dirty="0">
                <a:latin typeface="Libre Baskerville" panose="02000000000000000000" pitchFamily="2" charset="0"/>
              </a:rPr>
              <a:t>- How can these laws be applied to our university portal or e-commerce apps?</a:t>
            </a:r>
          </a:p>
          <a:p>
            <a:pPr marL="0" indent="0">
              <a:buNone/>
            </a:pPr>
            <a:r>
              <a:rPr dirty="0">
                <a:latin typeface="Libre Baskerville" panose="02000000000000000000" pitchFamily="2" charset="0"/>
              </a:rPr>
              <a:t>- Can aesthetics sometimes compromise usability</a:t>
            </a:r>
            <a:r>
              <a:rPr dirty="0">
                <a:latin typeface="Century Gothic" panose="020B0502020202020204" pitchFamily="34" charset="0"/>
              </a:rPr>
              <a: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 / Further Reading</a:t>
            </a:r>
          </a:p>
        </p:txBody>
      </p:sp>
      <p:sp>
        <p:nvSpPr>
          <p:cNvPr id="3" name="Content Placeholder 2"/>
          <p:cNvSpPr>
            <a:spLocks noGrp="1"/>
          </p:cNvSpPr>
          <p:nvPr>
            <p:ph idx="1"/>
          </p:nvPr>
        </p:nvSpPr>
        <p:spPr/>
        <p:txBody>
          <a:bodyPr/>
          <a:lstStyle/>
          <a:p>
            <a:pPr marL="0" indent="0">
              <a:buNone/>
            </a:pPr>
            <a:r>
              <a:rPr dirty="0">
                <a:latin typeface="Libre Baskerville" panose="02000000000000000000" pitchFamily="2" charset="0"/>
              </a:rPr>
              <a:t>- https://lawsofux.com/</a:t>
            </a:r>
          </a:p>
          <a:p>
            <a:pPr marL="0" indent="0">
              <a:buNone/>
            </a:pPr>
            <a:r>
              <a:rPr dirty="0">
                <a:latin typeface="Libre Baskerville" panose="02000000000000000000" pitchFamily="2" charset="0"/>
              </a:rPr>
              <a:t>- Jon Yablonski, Laws of UX Book</a:t>
            </a:r>
          </a:p>
          <a:p>
            <a:pPr marL="0" indent="0">
              <a:buNone/>
            </a:pPr>
            <a:r>
              <a:rPr dirty="0">
                <a:latin typeface="Libre Baskerville" panose="02000000000000000000" pitchFamily="2" charset="0"/>
              </a:rPr>
              <a:t>- UX design blogs and research articles</a:t>
            </a:r>
          </a:p>
        </p:txBody>
      </p:sp>
    </p:spTree>
  </p:cSld>
  <p:clrMapOvr>
    <a:masterClrMapping/>
  </p:clrMapOvr>
</p:sld>
</file>

<file path=ppt/theme/theme1.xml><?xml version="1.0" encoding="utf-8"?>
<a:theme xmlns:a="http://schemas.openxmlformats.org/drawingml/2006/main" name="SAMCIS">
  <a:themeElements>
    <a:clrScheme name="SAMCIS">
      <a:dk1>
        <a:srgbClr val="00206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AMCIS" id="{3FB2D415-1EA7-48AB-9997-6DF269369EA0}" vid="{ADA427D0-92C1-4D31-91E7-2CA7AF043E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SAMCIS</Template>
  <TotalTime>6063</TotalTime>
  <Words>10974</Words>
  <Application>Microsoft Office PowerPoint</Application>
  <PresentationFormat>Widescreen</PresentationFormat>
  <Paragraphs>1041</Paragraphs>
  <Slides>101</Slides>
  <Notes>77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101</vt:i4>
      </vt:variant>
    </vt:vector>
  </HeadingPairs>
  <TitlesOfParts>
    <vt:vector size="110" baseType="lpstr">
      <vt:lpstr>Aptos</vt:lpstr>
      <vt:lpstr>Arial</vt:lpstr>
      <vt:lpstr>Bebas Neue</vt:lpstr>
      <vt:lpstr>Candara</vt:lpstr>
      <vt:lpstr>Century Gothic</vt:lpstr>
      <vt:lpstr>Inter</vt:lpstr>
      <vt:lpstr>Libre Baskerville</vt:lpstr>
      <vt:lpstr>Source Sans Variable</vt:lpstr>
      <vt:lpstr>SAMCIS</vt:lpstr>
      <vt:lpstr>Human Factors and Cognitive Psychology</vt:lpstr>
      <vt:lpstr>Learning Objectives</vt:lpstr>
      <vt:lpstr>Why Psychology matters in HCI</vt:lpstr>
      <vt:lpstr>What are Human Factors</vt:lpstr>
      <vt:lpstr>Cognitive Psychology</vt:lpstr>
      <vt:lpstr>Human Memory</vt:lpstr>
      <vt:lpstr>Golden Rule</vt:lpstr>
      <vt:lpstr>Cognitive Load</vt:lpstr>
      <vt:lpstr>PowerPoint Presentation</vt:lpstr>
      <vt:lpstr>PowerPoint Presentation</vt:lpstr>
      <vt:lpstr>Google in 1998</vt:lpstr>
      <vt:lpstr>Attention &amp; Distraction</vt:lpstr>
      <vt:lpstr>Mental Models</vt:lpstr>
      <vt:lpstr>Human Error</vt:lpstr>
      <vt:lpstr>Laws of UX Designing for Human Behavior</vt:lpstr>
      <vt:lpstr>Fitts’s Law (Movement Time)</vt:lpstr>
      <vt:lpstr>Laws of UX</vt:lpstr>
      <vt:lpstr>PowerPoint Presentation</vt:lpstr>
      <vt:lpstr>PowerPoint Presentation</vt:lpstr>
      <vt:lpstr>PowerPoint Presentation</vt:lpstr>
      <vt:lpstr>PowerPoint Presentation</vt:lpstr>
      <vt:lpstr>Lesson Objectives</vt:lpstr>
      <vt:lpstr>Introduction</vt:lpstr>
      <vt:lpstr>The Laws of UX</vt:lpstr>
      <vt:lpstr>The Laws of UX</vt:lpstr>
      <vt:lpstr>Why Laws of UX Matter</vt:lpstr>
      <vt:lpstr>Why Laws of UX Matter</vt:lpstr>
      <vt:lpstr>Why Laws of UX Matter</vt:lpstr>
      <vt:lpstr>Why Laws of UX Matter</vt:lpstr>
      <vt:lpstr>Aesthetic-Usability Effect</vt:lpstr>
      <vt:lpstr>Aesthetic-Usability Effect</vt:lpstr>
      <vt:lpstr>Aesthetic-Usability Effect</vt:lpstr>
      <vt:lpstr>Choice Overload</vt:lpstr>
      <vt:lpstr>Choice Overload</vt:lpstr>
      <vt:lpstr>Choice Overload</vt:lpstr>
      <vt:lpstr>Choice Overload</vt:lpstr>
      <vt:lpstr>Cognitive bias</vt:lpstr>
      <vt:lpstr>PowerPoint Presentation</vt:lpstr>
      <vt:lpstr>PowerPoint Presentation</vt:lpstr>
      <vt:lpstr>Cognitive bias</vt:lpstr>
      <vt:lpstr>COGNITIVE BIAS</vt:lpstr>
      <vt:lpstr>Cognitive load</vt:lpstr>
      <vt:lpstr>WHAT TO DO</vt:lpstr>
      <vt:lpstr>Cognitive load</vt:lpstr>
      <vt:lpstr>Doherty threshold</vt:lpstr>
      <vt:lpstr>Doherty threshold</vt:lpstr>
      <vt:lpstr>Doherty threshold</vt:lpstr>
      <vt:lpstr>Doherty threshold</vt:lpstr>
      <vt:lpstr>Doherty threshold</vt:lpstr>
      <vt:lpstr>Fitts’ law</vt:lpstr>
      <vt:lpstr>Fitts’ law</vt:lpstr>
      <vt:lpstr>Fitts’ law</vt:lpstr>
      <vt:lpstr>PowerPoint Presentation</vt:lpstr>
      <vt:lpstr>PowerPoint Presentation</vt:lpstr>
      <vt:lpstr>Flow</vt:lpstr>
      <vt:lpstr>Flow</vt:lpstr>
      <vt:lpstr>Goal- gradient effect</vt:lpstr>
      <vt:lpstr>Goal- gradient effect</vt:lpstr>
      <vt:lpstr>Hick’s law</vt:lpstr>
      <vt:lpstr>Hick’s law</vt:lpstr>
      <vt:lpstr>Hick’s Law (Decision Time)</vt:lpstr>
      <vt:lpstr>PowerPoint Presentation</vt:lpstr>
      <vt:lpstr>Jakob’s law</vt:lpstr>
      <vt:lpstr>PowerPoint Presentation</vt:lpstr>
      <vt:lpstr>xxxxxx</vt:lpstr>
      <vt:lpstr>Law of common region</vt:lpstr>
      <vt:lpstr>Law of proximity</vt:lpstr>
      <vt:lpstr>Law of Pragnanz</vt:lpstr>
      <vt:lpstr>Law of Pragnanz</vt:lpstr>
      <vt:lpstr>The Four Principles of Prägnanz: </vt:lpstr>
      <vt:lpstr>xxxx</vt:lpstr>
      <vt:lpstr>Law of similarity</vt:lpstr>
      <vt:lpstr>Law of similarity</vt:lpstr>
      <vt:lpstr>Law of similarity</vt:lpstr>
      <vt:lpstr>Law of Uniform Connectedness</vt:lpstr>
      <vt:lpstr>Mental Model</vt:lpstr>
      <vt:lpstr>Miller’s Law</vt:lpstr>
      <vt:lpstr>Occam’s Razor</vt:lpstr>
      <vt:lpstr>Paradox of the Active User</vt:lpstr>
      <vt:lpstr>Pareto Principle</vt:lpstr>
      <vt:lpstr>Parkinson’s Law</vt:lpstr>
      <vt:lpstr>Peak-End Rule</vt:lpstr>
      <vt:lpstr>Postel’s Law</vt:lpstr>
      <vt:lpstr>Selective Attention</vt:lpstr>
      <vt:lpstr>Serial Position Effect</vt:lpstr>
      <vt:lpstr>Tesler’s Law</vt:lpstr>
      <vt:lpstr>Von Restorff Effect</vt:lpstr>
      <vt:lpstr>Working Memory</vt:lpstr>
      <vt:lpstr>Zeigarnik Effect</vt:lpstr>
      <vt:lpstr>SUMMARY</vt:lpstr>
      <vt:lpstr>SUMMARY</vt:lpstr>
      <vt:lpstr>SUMMARY</vt:lpstr>
      <vt:lpstr>SUMMARY</vt:lpstr>
      <vt:lpstr>SUMMARY</vt:lpstr>
      <vt:lpstr>SUMMARY</vt:lpstr>
      <vt:lpstr>SUMMARY</vt:lpstr>
      <vt:lpstr>SUMMARY</vt:lpstr>
      <vt:lpstr>Applying UX Laws</vt:lpstr>
      <vt:lpstr>Interactive Activity</vt:lpstr>
      <vt:lpstr>Discussion Questions</vt:lpstr>
      <vt:lpstr>References / Further Reading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Rona</dc:creator>
  <cp:keywords/>
  <dc:description>generated using python-pptx</dc:description>
  <cp:lastModifiedBy>office</cp:lastModifiedBy>
  <cp:revision>18</cp:revision>
  <dcterms:created xsi:type="dcterms:W3CDTF">2013-01-27T09:14:16Z</dcterms:created>
  <dcterms:modified xsi:type="dcterms:W3CDTF">2026-10-13T15:12:49Z</dcterms:modified>
  <cp:category/>
</cp:coreProperties>
</file>